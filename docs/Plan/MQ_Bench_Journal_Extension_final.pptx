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0" r:id="rId1"/>
  </p:sldMasterIdLst>
  <p:notesMasterIdLst>
    <p:notesMasterId r:id="rId63"/>
  </p:notesMasterIdLst>
  <p:sldIdLst>
    <p:sldId id="303" r:id="rId2"/>
    <p:sldId id="257" r:id="rId3"/>
    <p:sldId id="258" r:id="rId4"/>
    <p:sldId id="259" r:id="rId5"/>
    <p:sldId id="275" r:id="rId6"/>
    <p:sldId id="260" r:id="rId7"/>
    <p:sldId id="262" r:id="rId8"/>
    <p:sldId id="279" r:id="rId9"/>
    <p:sldId id="328" r:id="rId10"/>
    <p:sldId id="280" r:id="rId11"/>
    <p:sldId id="273" r:id="rId12"/>
    <p:sldId id="261" r:id="rId13"/>
    <p:sldId id="281" r:id="rId14"/>
    <p:sldId id="263" r:id="rId15"/>
    <p:sldId id="274" r:id="rId16"/>
    <p:sldId id="264" r:id="rId17"/>
    <p:sldId id="265" r:id="rId18"/>
    <p:sldId id="266" r:id="rId19"/>
    <p:sldId id="282" r:id="rId20"/>
    <p:sldId id="276" r:id="rId21"/>
    <p:sldId id="267" r:id="rId22"/>
    <p:sldId id="271" r:id="rId23"/>
    <p:sldId id="272" r:id="rId24"/>
    <p:sldId id="278" r:id="rId25"/>
    <p:sldId id="309" r:id="rId26"/>
    <p:sldId id="322" r:id="rId27"/>
    <p:sldId id="312" r:id="rId28"/>
    <p:sldId id="314" r:id="rId29"/>
    <p:sldId id="313" r:id="rId30"/>
    <p:sldId id="315" r:id="rId31"/>
    <p:sldId id="316" r:id="rId32"/>
    <p:sldId id="317" r:id="rId33"/>
    <p:sldId id="319" r:id="rId34"/>
    <p:sldId id="320" r:id="rId35"/>
    <p:sldId id="344" r:id="rId36"/>
    <p:sldId id="341" r:id="rId37"/>
    <p:sldId id="345" r:id="rId38"/>
    <p:sldId id="346" r:id="rId39"/>
    <p:sldId id="343" r:id="rId40"/>
    <p:sldId id="347" r:id="rId41"/>
    <p:sldId id="348" r:id="rId42"/>
    <p:sldId id="349" r:id="rId43"/>
    <p:sldId id="350" r:id="rId44"/>
    <p:sldId id="351" r:id="rId45"/>
    <p:sldId id="342" r:id="rId46"/>
    <p:sldId id="338" r:id="rId47"/>
    <p:sldId id="323" r:id="rId48"/>
    <p:sldId id="324" r:id="rId49"/>
    <p:sldId id="325" r:id="rId50"/>
    <p:sldId id="326" r:id="rId51"/>
    <p:sldId id="327" r:id="rId52"/>
    <p:sldId id="329" r:id="rId53"/>
    <p:sldId id="330" r:id="rId54"/>
    <p:sldId id="331" r:id="rId55"/>
    <p:sldId id="340" r:id="rId56"/>
    <p:sldId id="332" r:id="rId57"/>
    <p:sldId id="333" r:id="rId58"/>
    <p:sldId id="334" r:id="rId59"/>
    <p:sldId id="335" r:id="rId60"/>
    <p:sldId id="336" r:id="rId61"/>
    <p:sldId id="337" r:id="rId6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24303609-D2F8-4C4D-B3C0-95C8B174F989}">
          <p14:sldIdLst>
            <p14:sldId id="303"/>
          </p14:sldIdLst>
        </p14:section>
        <p14:section name="Experiment 1: FanOut" id="{20AA1DDD-8042-5C49-8798-644BA5DB59B4}">
          <p14:sldIdLst>
            <p14:sldId id="257"/>
            <p14:sldId id="258"/>
            <p14:sldId id="259"/>
            <p14:sldId id="275"/>
            <p14:sldId id="260"/>
            <p14:sldId id="262"/>
            <p14:sldId id="279"/>
            <p14:sldId id="328"/>
            <p14:sldId id="280"/>
            <p14:sldId id="273"/>
            <p14:sldId id="261"/>
            <p14:sldId id="281"/>
          </p14:sldIdLst>
        </p14:section>
        <p14:section name="Exp 2: Fan In" id="{6CA5F45A-FB97-B24C-81B2-3819FAB1E9AE}">
          <p14:sldIdLst>
            <p14:sldId id="263"/>
            <p14:sldId id="274"/>
            <p14:sldId id="264"/>
            <p14:sldId id="265"/>
          </p14:sldIdLst>
        </p14:section>
        <p14:section name="Exp 3: Bursty FanOut" id="{AE00F5D6-BF85-F545-A55E-D244A1D1E1E9}">
          <p14:sldIdLst>
            <p14:sldId id="266"/>
            <p14:sldId id="282"/>
            <p14:sldId id="276"/>
            <p14:sldId id="267"/>
            <p14:sldId id="271"/>
            <p14:sldId id="272"/>
            <p14:sldId id="278"/>
            <p14:sldId id="309"/>
            <p14:sldId id="322"/>
            <p14:sldId id="312"/>
            <p14:sldId id="314"/>
            <p14:sldId id="313"/>
            <p14:sldId id="315"/>
            <p14:sldId id="316"/>
            <p14:sldId id="317"/>
            <p14:sldId id="319"/>
          </p14:sldIdLst>
        </p14:section>
        <p14:section name="Experiment 4" id="{0221663D-09B1-6B4B-B2CD-40DDB2253E6B}">
          <p14:sldIdLst>
            <p14:sldId id="320"/>
            <p14:sldId id="344"/>
            <p14:sldId id="341"/>
            <p14:sldId id="345"/>
            <p14:sldId id="346"/>
            <p14:sldId id="343"/>
            <p14:sldId id="347"/>
            <p14:sldId id="348"/>
            <p14:sldId id="349"/>
            <p14:sldId id="350"/>
            <p14:sldId id="351"/>
            <p14:sldId id="342"/>
            <p14:sldId id="338"/>
          </p14:sldIdLst>
        </p14:section>
        <p14:section name="Exp 5: Old" id="{90C505D2-AA90-BA41-B0B3-9614911BF821}">
          <p14:sldIdLst>
            <p14:sldId id="323"/>
            <p14:sldId id="324"/>
            <p14:sldId id="325"/>
            <p14:sldId id="326"/>
            <p14:sldId id="327"/>
            <p14:sldId id="329"/>
            <p14:sldId id="330"/>
            <p14:sldId id="331"/>
            <p14:sldId id="340"/>
            <p14:sldId id="332"/>
            <p14:sldId id="333"/>
            <p14:sldId id="334"/>
            <p14:sldId id="335"/>
            <p14:sldId id="336"/>
            <p14:sldId id="33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43"/>
    <p:restoredTop sz="83750" autoAdjust="0"/>
  </p:normalViewPr>
  <p:slideViewPr>
    <p:cSldViewPr snapToGrid="0">
      <p:cViewPr varScale="1">
        <p:scale>
          <a:sx n="129" d="100"/>
          <a:sy n="129" d="100"/>
        </p:scale>
        <p:origin x="3248" y="184"/>
      </p:cViewPr>
      <p:guideLst>
        <p:guide orient="horz" pos="2160"/>
        <p:guide pos="2880"/>
      </p:guideLst>
    </p:cSldViewPr>
  </p:slid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Tapajit Chandra" userId="97e8319b-cb0c-45e6-91ef-d077bc5dfcb0" providerId="ADAL" clId="{AEAE7281-8389-5254-A616-9AB2DEA09714}"/>
    <pc:docChg chg="delSld">
      <pc:chgData name="Paul, Tapajit Chandra" userId="97e8319b-cb0c-45e6-91ef-d077bc5dfcb0" providerId="ADAL" clId="{AEAE7281-8389-5254-A616-9AB2DEA09714}" dt="2026-09-07T20:29:50.025" v="0" actId="2696"/>
      <pc:docMkLst>
        <pc:docMk/>
      </pc:docMkLst>
      <pc:sldChg chg="del">
        <pc:chgData name="Paul, Tapajit Chandra" userId="97e8319b-cb0c-45e6-91ef-d077bc5dfcb0" providerId="ADAL" clId="{AEAE7281-8389-5254-A616-9AB2DEA09714}" dt="2026-09-07T20:29:50.025" v="0" actId="2696"/>
        <pc:sldMkLst>
          <pc:docMk/>
          <pc:sldMk cId="773763882" sldId="33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396e322a99f_0_4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 </a:t>
            </a:r>
            <a:endParaRPr dirty="0"/>
          </a:p>
        </p:txBody>
      </p:sp>
      <p:sp>
        <p:nvSpPr>
          <p:cNvPr id="49" name="Google Shape;49;g396e322a99f_0_4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 name="Google Shape;38;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 name="Google Shape;39;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3d820a6afd3_0_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3d820a6afd3_0_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 name="Google Shape;47;g3d820a6afd3_0_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d71cb83b42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3d71cb83b42_0_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Feedback needed: Is 1:100 the right primary ratio, or should we also test 1:10 and 1:20?</a:t>
            </a:r>
            <a:endParaRPr dirty="0"/>
          </a:p>
        </p:txBody>
      </p:sp>
      <p:sp>
        <p:nvSpPr>
          <p:cNvPr id="55" name="Google Shape;55;g3d71cb83b42_0_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d71cb83b42_0_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d71cb83b42_0_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 name="Google Shape;63;g3d71cb83b42_0_14: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d71cb83b42_0_1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d71cb83b42_0_1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 name="Google Shape;79;g3d71cb83b42_0_111: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d71cb83b42_0_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d71cb83b42_0_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 name="Google Shape;71;g3d71cb83b42_0_4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d71cb83b42_0_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d71cb83b42_0_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The problem is not correctness; the problem is that it mixes aggregation with replication, so the results become harder to explain. For the main paper, 1 subscriber gives the cleanest fan-in result. A few subscribers are better as a secondary sensitivity study.</a:t>
            </a:r>
          </a:p>
          <a:p>
            <a:pPr marL="0" lvl="0" indent="0" algn="l" rtl="0">
              <a:spcBef>
                <a:spcPts val="0"/>
              </a:spcBef>
              <a:spcAft>
                <a:spcPts val="0"/>
              </a:spcAft>
              <a:buNone/>
            </a:pPr>
            <a:endParaRPr lang="en-US" dirty="0"/>
          </a:p>
          <a:p>
            <a:pPr marL="457200" lvl="0" indent="-360759" algn="l" rtl="0">
              <a:spcBef>
                <a:spcPts val="360"/>
              </a:spcBef>
              <a:spcAft>
                <a:spcPts val="0"/>
              </a:spcAft>
              <a:buSzPct val="66176"/>
              <a:buChar char="❖"/>
            </a:pPr>
            <a:r>
              <a:rPr lang="en-US" dirty="0"/>
              <a:t>Topology</a:t>
            </a:r>
          </a:p>
          <a:p>
            <a:pPr marL="914400" lvl="1" indent="-334328" algn="l" rtl="0">
              <a:spcBef>
                <a:spcPts val="0"/>
              </a:spcBef>
              <a:spcAft>
                <a:spcPts val="0"/>
              </a:spcAft>
              <a:buSzPct val="64286"/>
              <a:buChar char="➢"/>
            </a:pPr>
            <a:r>
              <a:rPr lang="en-US" dirty="0"/>
              <a:t>N publishers → 1 subscriber</a:t>
            </a:r>
          </a:p>
          <a:p>
            <a:pPr marL="914400" lvl="1" indent="-334328" algn="l" rtl="0">
              <a:spcBef>
                <a:spcPts val="0"/>
              </a:spcBef>
              <a:spcAft>
                <a:spcPts val="0"/>
              </a:spcAft>
              <a:buSzPct val="64286"/>
              <a:buChar char="➢"/>
            </a:pPr>
            <a:r>
              <a:rPr lang="en-US" dirty="0"/>
              <a:t>All publishers publish to the </a:t>
            </a:r>
            <a:r>
              <a:rPr lang="en-US" b="1" dirty="0"/>
              <a:t>same topic</a:t>
            </a:r>
          </a:p>
          <a:p>
            <a:pPr marL="0" lvl="0" indent="0" algn="l" rtl="0">
              <a:spcBef>
                <a:spcPts val="0"/>
              </a:spcBef>
              <a:spcAft>
                <a:spcPts val="0"/>
              </a:spcAft>
              <a:buNone/>
            </a:pPr>
            <a:endParaRPr dirty="0"/>
          </a:p>
        </p:txBody>
      </p:sp>
      <p:sp>
        <p:nvSpPr>
          <p:cNvPr id="87" name="Google Shape;87;g3d71cb83b42_0_31: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d71cb83b42_0_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d71cb83b42_0_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g3d71cb83b42_0_3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d71cb83b42_0_1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d71cb83b42_0_1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4" name="Google Shape;104;g3d71cb83b42_0_119: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d71cb83b42_0_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d71cb83b42_0_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g3d71cb83b42_0_57: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D22C9592-8CB3-B3EA-7605-3F9B2D4263CB}"/>
            </a:ext>
          </a:extLst>
        </p:cNvPr>
        <p:cNvGrpSpPr/>
        <p:nvPr/>
      </p:nvGrpSpPr>
      <p:grpSpPr>
        <a:xfrm>
          <a:off x="0" y="0"/>
          <a:ext cx="0" cy="0"/>
          <a:chOff x="0" y="0"/>
          <a:chExt cx="0" cy="0"/>
        </a:xfrm>
      </p:grpSpPr>
      <p:sp>
        <p:nvSpPr>
          <p:cNvPr id="110" name="Google Shape;110;g3d71cb83b42_0_57:notes">
            <a:extLst>
              <a:ext uri="{FF2B5EF4-FFF2-40B4-BE49-F238E27FC236}">
                <a16:creationId xmlns:a16="http://schemas.microsoft.com/office/drawing/2014/main" id="{17319F6D-B680-4D30-FEA6-EE1C9616627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d71cb83b42_0_57:notes">
            <a:extLst>
              <a:ext uri="{FF2B5EF4-FFF2-40B4-BE49-F238E27FC236}">
                <a16:creationId xmlns:a16="http://schemas.microsoft.com/office/drawing/2014/main" id="{99D801E9-E8FA-5030-CDD2-4FCC274786A0}"/>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g3d71cb83b42_0_57:notes">
            <a:extLst>
              <a:ext uri="{FF2B5EF4-FFF2-40B4-BE49-F238E27FC236}">
                <a16:creationId xmlns:a16="http://schemas.microsoft.com/office/drawing/2014/main" id="{A5E048D9-96A3-64B4-54BC-D3C4D7B8679C}"/>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3438811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d71cb83b42_0_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d71cb83b42_0_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rPr lang="en-US" dirty="0"/>
              <a:t>For experiment 3: Bursty Traffic Profile, we want to have multiple burst or multiple of each phases,</a:t>
            </a:r>
          </a:p>
          <a:p>
            <a:r>
              <a:rPr lang="en-US" dirty="0" err="1"/>
              <a:t>warmpu</a:t>
            </a:r>
            <a:r>
              <a:rPr lang="en-US" dirty="0"/>
              <a:t>-&gt; Loll -&gt; Burst -&gt; Recovery -&gt; Burst -&gt; Recovery -&gt; Burst</a:t>
            </a:r>
          </a:p>
          <a:p>
            <a:pPr marL="0" lvl="0" indent="0" algn="l" rtl="0">
              <a:spcBef>
                <a:spcPts val="0"/>
              </a:spcBef>
              <a:spcAft>
                <a:spcPts val="0"/>
              </a:spcAft>
              <a:buNone/>
            </a:pPr>
            <a:endParaRPr dirty="0"/>
          </a:p>
        </p:txBody>
      </p:sp>
      <p:sp>
        <p:nvSpPr>
          <p:cNvPr id="120" name="Google Shape;120;g3d71cb83b42_0_64: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Char char="-"/>
            </a:pPr>
            <a:r>
              <a:rPr lang="en-US" dirty="0"/>
              <a:t>Make length a little bigger</a:t>
            </a:r>
          </a:p>
          <a:p>
            <a:pPr>
              <a:buFontTx/>
              <a:buChar char="-"/>
            </a:pPr>
            <a:r>
              <a:rPr lang="en-US" dirty="0"/>
              <a:t>Instead of time, ignore messages (first 100)</a:t>
            </a:r>
          </a:p>
          <a:p>
            <a:pPr>
              <a:buFontTx/>
              <a:buChar char="-"/>
            </a:pPr>
            <a:r>
              <a:rPr lang="en-US" dirty="0"/>
              <a:t>Make Message based </a:t>
            </a:r>
          </a:p>
          <a:p>
            <a:pPr>
              <a:buFontTx/>
              <a:buChar char="-"/>
            </a:pPr>
            <a:r>
              <a:rPr lang="en-US" dirty="0"/>
              <a:t>First 10 message for every pub</a:t>
            </a:r>
          </a:p>
          <a:p>
            <a:pPr>
              <a:buFontTx/>
              <a:buChar char="-"/>
            </a:pPr>
            <a:r>
              <a:rPr lang="en-US" dirty="0"/>
              <a:t>Don’t stop the subscribers -&gt; to make stop the message loss</a:t>
            </a:r>
          </a:p>
          <a:p>
            <a:pPr>
              <a:buFontTx/>
              <a:buChar char="-"/>
            </a:pPr>
            <a:r>
              <a:rPr lang="en-US" dirty="0"/>
              <a:t>Try various/different ratio: 1:10, 1:20</a:t>
            </a:r>
          </a:p>
          <a:p>
            <a:pPr>
              <a:buFontTx/>
              <a:buChar char="-"/>
            </a:pPr>
            <a:r>
              <a:rPr lang="en-US" dirty="0"/>
              <a:t>Why RabbitMQ is consuming </a:t>
            </a:r>
          </a:p>
          <a:p>
            <a:pPr>
              <a:buFontTx/>
              <a:buChar char="-"/>
            </a:pPr>
            <a:r>
              <a:rPr lang="en-US" dirty="0"/>
              <a:t>Connect the hypothesis to number/evidence</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820569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FAEA3-8DFF-EED6-FC89-901BB67064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6FCE54-3723-7F2A-EC36-686BE4A89F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5274D6-8021-58D7-5604-B1B19BB5E1EE}"/>
              </a:ext>
            </a:extLst>
          </p:cNvPr>
          <p:cNvSpPr>
            <a:spLocks noGrp="1"/>
          </p:cNvSpPr>
          <p:nvPr>
            <p:ph type="body" idx="1"/>
          </p:nvPr>
        </p:nvSpPr>
        <p:spPr/>
        <p:txBody>
          <a:bodyPr/>
          <a:lstStyle/>
          <a:p>
            <a:pPr>
              <a:buFontTx/>
              <a:buChar char="-"/>
            </a:pPr>
            <a:r>
              <a:rPr lang="en-US" dirty="0"/>
              <a:t>If we plot all the brokers in the same graph, is it going to be </a:t>
            </a:r>
            <a:r>
              <a:rPr lang="en-US" dirty="0" err="1"/>
              <a:t>convulated</a:t>
            </a:r>
            <a:r>
              <a:rPr lang="en-US" dirty="0"/>
              <a:t>?</a:t>
            </a:r>
          </a:p>
          <a:p>
            <a:pPr>
              <a:buFontTx/>
              <a:buChar char="-"/>
            </a:pPr>
            <a:endParaRPr lang="en-US" dirty="0"/>
          </a:p>
          <a:p>
            <a:pPr>
              <a:buFontTx/>
              <a:buChar char="-"/>
            </a:pPr>
            <a:r>
              <a:rPr lang="en-US" dirty="0"/>
              <a:t>--rate-profile "warmup:60:5,baseline:60:5,burst:120:25,recovery:60:5, ,burst:60:25"</a:t>
            </a:r>
          </a:p>
        </p:txBody>
      </p:sp>
      <p:sp>
        <p:nvSpPr>
          <p:cNvPr id="4" name="Slide Number Placeholder 3">
            <a:extLst>
              <a:ext uri="{FF2B5EF4-FFF2-40B4-BE49-F238E27FC236}">
                <a16:creationId xmlns:a16="http://schemas.microsoft.com/office/drawing/2014/main" id="{76DB827F-F9B4-2395-5DAF-ABAFCA6B46F7}"/>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323555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AEB47-31F3-7CB5-7F2B-DA5155048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498ADC-BC39-916F-A9D6-0F8DCC56D5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5F1C10-1074-2826-16BE-3078FDE3615D}"/>
              </a:ext>
            </a:extLst>
          </p:cNvPr>
          <p:cNvSpPr>
            <a:spLocks noGrp="1"/>
          </p:cNvSpPr>
          <p:nvPr>
            <p:ph type="body" idx="1"/>
          </p:nvPr>
        </p:nvSpPr>
        <p:spPr/>
        <p:txBody>
          <a:bodyPr/>
          <a:lstStyle/>
          <a:p>
            <a:pPr>
              <a:buFontTx/>
              <a:buChar char="-"/>
            </a:pPr>
            <a:r>
              <a:rPr lang="en-US" dirty="0"/>
              <a:t>If we plot all the brokers in the same graph, is it going to be </a:t>
            </a:r>
            <a:r>
              <a:rPr lang="en-US" dirty="0" err="1"/>
              <a:t>convulated</a:t>
            </a:r>
            <a:r>
              <a:rPr lang="en-US" dirty="0"/>
              <a:t>?</a:t>
            </a:r>
          </a:p>
          <a:p>
            <a:pPr>
              <a:buFontTx/>
              <a:buChar char="-"/>
            </a:pPr>
            <a:endParaRPr lang="en-US" dirty="0"/>
          </a:p>
          <a:p>
            <a:pPr>
              <a:buFontTx/>
              <a:buChar char="-"/>
            </a:pPr>
            <a:r>
              <a:rPr lang="en-US" dirty="0"/>
              <a:t>--rate-profile "warmup:60:5,baseline:60:5,burst:120:25,recovery:60:5, ,burst:60:25"</a:t>
            </a:r>
          </a:p>
        </p:txBody>
      </p:sp>
      <p:sp>
        <p:nvSpPr>
          <p:cNvPr id="4" name="Slide Number Placeholder 3">
            <a:extLst>
              <a:ext uri="{FF2B5EF4-FFF2-40B4-BE49-F238E27FC236}">
                <a16:creationId xmlns:a16="http://schemas.microsoft.com/office/drawing/2014/main" id="{C6F96A9B-1D60-AC81-B799-33F3244009DA}"/>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30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868098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A216DEBB-20FE-55C2-E253-BDC987129B0D}"/>
            </a:ext>
          </a:extLst>
        </p:cNvPr>
        <p:cNvGrpSpPr/>
        <p:nvPr/>
      </p:nvGrpSpPr>
      <p:grpSpPr>
        <a:xfrm>
          <a:off x="0" y="0"/>
          <a:ext cx="0" cy="0"/>
          <a:chOff x="0" y="0"/>
          <a:chExt cx="0" cy="0"/>
        </a:xfrm>
      </p:grpSpPr>
      <p:sp>
        <p:nvSpPr>
          <p:cNvPr id="110" name="Google Shape;110;g3d71cb83b42_0_57:notes">
            <a:extLst>
              <a:ext uri="{FF2B5EF4-FFF2-40B4-BE49-F238E27FC236}">
                <a16:creationId xmlns:a16="http://schemas.microsoft.com/office/drawing/2014/main" id="{A7092248-9C5F-027F-C1E5-E182446F0A2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d71cb83b42_0_57:notes">
            <a:extLst>
              <a:ext uri="{FF2B5EF4-FFF2-40B4-BE49-F238E27FC236}">
                <a16:creationId xmlns:a16="http://schemas.microsoft.com/office/drawing/2014/main" id="{628E868B-4FE2-D6E3-8C45-008C4E82DC9D}"/>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g3d71cb83b42_0_57:notes">
            <a:extLst>
              <a:ext uri="{FF2B5EF4-FFF2-40B4-BE49-F238E27FC236}">
                <a16:creationId xmlns:a16="http://schemas.microsoft.com/office/drawing/2014/main" id="{ECA2A64A-E8A7-6B01-5BF7-05B8FBC6CB9C}"/>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4777726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Char char="-"/>
            </a:pPr>
            <a:r>
              <a:rPr lang="en-US" dirty="0"/>
              <a:t>Fix ON and OFF duration</a:t>
            </a:r>
          </a:p>
          <a:p>
            <a:pPr marL="457200" marR="0" lvl="0" indent="-228600" algn="l" defTabSz="914400" rtl="0" eaLnBrk="1" fontAlgn="auto" latinLnBrk="0" hangingPunct="1">
              <a:lnSpc>
                <a:spcPct val="100000"/>
              </a:lnSpc>
              <a:spcBef>
                <a:spcPts val="0"/>
              </a:spcBef>
              <a:spcAft>
                <a:spcPts val="0"/>
              </a:spcAft>
              <a:buClr>
                <a:srgbClr val="000000"/>
              </a:buClr>
              <a:buSzPts val="1400"/>
              <a:buFontTx/>
              <a:buChar char="-"/>
              <a:tabLst/>
              <a:defRPr/>
            </a:pPr>
            <a:r>
              <a:rPr lang="en-US" dirty="0"/>
              <a:t>Start with the uniform one</a:t>
            </a:r>
          </a:p>
          <a:p>
            <a:pPr>
              <a:buFontTx/>
              <a:buChar char="-"/>
            </a:pPr>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39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856848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43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831303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92AC526C-6562-4098-EF73-616081AAA9CD}"/>
            </a:ext>
          </a:extLst>
        </p:cNvPr>
        <p:cNvGrpSpPr/>
        <p:nvPr/>
      </p:nvGrpSpPr>
      <p:grpSpPr>
        <a:xfrm>
          <a:off x="0" y="0"/>
          <a:ext cx="0" cy="0"/>
          <a:chOff x="0" y="0"/>
          <a:chExt cx="0" cy="0"/>
        </a:xfrm>
      </p:grpSpPr>
      <p:sp>
        <p:nvSpPr>
          <p:cNvPr id="118" name="Google Shape;118;g3d71cb83b42_0_64:notes">
            <a:extLst>
              <a:ext uri="{FF2B5EF4-FFF2-40B4-BE49-F238E27FC236}">
                <a16:creationId xmlns:a16="http://schemas.microsoft.com/office/drawing/2014/main" id="{9F23AA0F-7EE7-5823-BF3E-3DBA2440A9E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d71cb83b42_0_64:notes">
            <a:extLst>
              <a:ext uri="{FF2B5EF4-FFF2-40B4-BE49-F238E27FC236}">
                <a16:creationId xmlns:a16="http://schemas.microsoft.com/office/drawing/2014/main" id="{FEC7A25A-4D17-58AA-ED12-0AA6A091FEA1}"/>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rPr lang="en-US" dirty="0"/>
              <a:t>For experiment 3: Bursty Traffic Profile, we want to have multiple burst or multiple of each phases,</a:t>
            </a:r>
          </a:p>
          <a:p>
            <a:r>
              <a:rPr lang="en-US" dirty="0" err="1"/>
              <a:t>warmpu</a:t>
            </a:r>
            <a:r>
              <a:rPr lang="en-US" dirty="0"/>
              <a:t>-&gt; Loll -&gt; Burst -&gt; Recovery -&gt; Burst -&gt; Recovery -&gt; Burst</a:t>
            </a:r>
          </a:p>
          <a:p>
            <a:pPr marL="0" lvl="0" indent="0" algn="l" rtl="0">
              <a:spcBef>
                <a:spcPts val="0"/>
              </a:spcBef>
              <a:spcAft>
                <a:spcPts val="0"/>
              </a:spcAft>
              <a:buNone/>
            </a:pPr>
            <a:endParaRPr dirty="0"/>
          </a:p>
        </p:txBody>
      </p:sp>
      <p:sp>
        <p:nvSpPr>
          <p:cNvPr id="120" name="Google Shape;120;g3d71cb83b42_0_64:notes">
            <a:extLst>
              <a:ext uri="{FF2B5EF4-FFF2-40B4-BE49-F238E27FC236}">
                <a16:creationId xmlns:a16="http://schemas.microsoft.com/office/drawing/2014/main" id="{3F3FD109-2379-6BA8-ADAC-1359AD1D2A72}"/>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a:p>
        </p:txBody>
      </p:sp>
    </p:spTree>
    <p:extLst>
      <p:ext uri="{BB962C8B-B14F-4D97-AF65-F5344CB8AC3E}">
        <p14:creationId xmlns:p14="http://schemas.microsoft.com/office/powerpoint/2010/main" val="37408688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F85EC0BD-F0CE-05DE-58E6-B6A3FEEC56B9}"/>
            </a:ext>
          </a:extLst>
        </p:cNvPr>
        <p:cNvGrpSpPr/>
        <p:nvPr/>
      </p:nvGrpSpPr>
      <p:grpSpPr>
        <a:xfrm>
          <a:off x="0" y="0"/>
          <a:ext cx="0" cy="0"/>
          <a:chOff x="0" y="0"/>
          <a:chExt cx="0" cy="0"/>
        </a:xfrm>
      </p:grpSpPr>
      <p:sp>
        <p:nvSpPr>
          <p:cNvPr id="118" name="Google Shape;118;g3d71cb83b42_0_64:notes">
            <a:extLst>
              <a:ext uri="{FF2B5EF4-FFF2-40B4-BE49-F238E27FC236}">
                <a16:creationId xmlns:a16="http://schemas.microsoft.com/office/drawing/2014/main" id="{77B88EFB-8142-45E1-D506-D14D31BB51F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d71cb83b42_0_64:notes">
            <a:extLst>
              <a:ext uri="{FF2B5EF4-FFF2-40B4-BE49-F238E27FC236}">
                <a16:creationId xmlns:a16="http://schemas.microsoft.com/office/drawing/2014/main" id="{BACF219B-F323-326F-F253-FD6BA262ADB6}"/>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rPr lang="en-US" dirty="0"/>
              <a:t>For experiment 3: Bursty Traffic Profile, we want to have multiple burst or multiple of each phases,</a:t>
            </a:r>
          </a:p>
          <a:p>
            <a:r>
              <a:rPr lang="en-US" dirty="0" err="1"/>
              <a:t>warmpu</a:t>
            </a:r>
            <a:r>
              <a:rPr lang="en-US" dirty="0"/>
              <a:t>-&gt; Loll -&gt; Burst -&gt; Recovery -&gt; Burst -&gt; Recovery -&gt; Burst</a:t>
            </a:r>
          </a:p>
          <a:p>
            <a:pPr marL="0" lvl="0" indent="0" algn="l" rtl="0">
              <a:spcBef>
                <a:spcPts val="0"/>
              </a:spcBef>
              <a:spcAft>
                <a:spcPts val="0"/>
              </a:spcAft>
              <a:buNone/>
            </a:pPr>
            <a:endParaRPr dirty="0"/>
          </a:p>
        </p:txBody>
      </p:sp>
      <p:sp>
        <p:nvSpPr>
          <p:cNvPr id="120" name="Google Shape;120;g3d71cb83b42_0_64:notes">
            <a:extLst>
              <a:ext uri="{FF2B5EF4-FFF2-40B4-BE49-F238E27FC236}">
                <a16:creationId xmlns:a16="http://schemas.microsoft.com/office/drawing/2014/main" id="{F7AE088F-84B8-562D-7B5E-7333C3996294}"/>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48</a:t>
            </a:fld>
            <a:endParaRPr/>
          </a:p>
        </p:txBody>
      </p:sp>
    </p:spTree>
    <p:extLst>
      <p:ext uri="{BB962C8B-B14F-4D97-AF65-F5344CB8AC3E}">
        <p14:creationId xmlns:p14="http://schemas.microsoft.com/office/powerpoint/2010/main" val="29672958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B4850967-8EB3-350F-99E0-DFE2F5EAF270}"/>
            </a:ext>
          </a:extLst>
        </p:cNvPr>
        <p:cNvGrpSpPr/>
        <p:nvPr/>
      </p:nvGrpSpPr>
      <p:grpSpPr>
        <a:xfrm>
          <a:off x="0" y="0"/>
          <a:ext cx="0" cy="0"/>
          <a:chOff x="0" y="0"/>
          <a:chExt cx="0" cy="0"/>
        </a:xfrm>
      </p:grpSpPr>
      <p:sp>
        <p:nvSpPr>
          <p:cNvPr id="118" name="Google Shape;118;g3d71cb83b42_0_64:notes">
            <a:extLst>
              <a:ext uri="{FF2B5EF4-FFF2-40B4-BE49-F238E27FC236}">
                <a16:creationId xmlns:a16="http://schemas.microsoft.com/office/drawing/2014/main" id="{E5234374-8C56-9EAB-65EB-C726142A2A3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d71cb83b42_0_64:notes">
            <a:extLst>
              <a:ext uri="{FF2B5EF4-FFF2-40B4-BE49-F238E27FC236}">
                <a16:creationId xmlns:a16="http://schemas.microsoft.com/office/drawing/2014/main" id="{B202D876-9CFE-4689-1B35-5FF6E64F23C9}"/>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r>
              <a:rPr lang="en-US" dirty="0"/>
              <a:t>For experiment 3: Bursty Traffic Profile, we want to have multiple burst or multiple of each phases,</a:t>
            </a:r>
          </a:p>
          <a:p>
            <a:r>
              <a:rPr lang="en-US" dirty="0" err="1"/>
              <a:t>warmpu</a:t>
            </a:r>
            <a:r>
              <a:rPr lang="en-US" dirty="0"/>
              <a:t>-&gt; Loll -&gt; Burst -&gt; Recovery -&gt; Burst -&gt; Recovery -&gt; Burst</a:t>
            </a:r>
          </a:p>
          <a:p>
            <a:pPr marL="0" lvl="0" indent="0" algn="l" rtl="0">
              <a:spcBef>
                <a:spcPts val="0"/>
              </a:spcBef>
              <a:spcAft>
                <a:spcPts val="0"/>
              </a:spcAft>
              <a:buNone/>
            </a:pPr>
            <a:endParaRPr dirty="0"/>
          </a:p>
        </p:txBody>
      </p:sp>
      <p:sp>
        <p:nvSpPr>
          <p:cNvPr id="120" name="Google Shape;120;g3d71cb83b42_0_64:notes">
            <a:extLst>
              <a:ext uri="{FF2B5EF4-FFF2-40B4-BE49-F238E27FC236}">
                <a16:creationId xmlns:a16="http://schemas.microsoft.com/office/drawing/2014/main" id="{9F08A60B-64EC-64D2-A159-4959E2A02660}"/>
              </a:ext>
            </a:extLst>
          </p:cNvPr>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49</a:t>
            </a:fld>
            <a:endParaRPr/>
          </a:p>
        </p:txBody>
      </p:sp>
    </p:spTree>
    <p:extLst>
      <p:ext uri="{BB962C8B-B14F-4D97-AF65-F5344CB8AC3E}">
        <p14:creationId xmlns:p14="http://schemas.microsoft.com/office/powerpoint/2010/main" val="9591795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MQTT's value appears in intermittent-connectivity scenarios, where persistent sessions allow disconnected clients to recover missed </a:t>
            </a:r>
            <a:r>
              <a:rPr lang="en-US"/>
              <a:t>messages, although </a:t>
            </a:r>
            <a:r>
              <a:rPr lang="en-US" dirty="0"/>
              <a:t>that reliability comes with recovery-time, CPU, and memory costs.</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50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239603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intermittently powered </a:t>
            </a:r>
            <a:r>
              <a:rPr lang="en-US" dirty="0" err="1"/>
              <a:t>batteryless</a:t>
            </a:r>
            <a:r>
              <a:rPr lang="en-US" dirty="0"/>
              <a:t> IoT actuator/sensing node receives configuration updates, commands, application state, or control information from an edge application. While the node is powered off, the broker continues receiving messages destined for it. When harvested energy becomes available and the device reconnects, MQTT persistent sessions may allow those messages to be recovered.</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54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826559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Hpcclab title">
  <p:cSld name="Hpcclab 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685800" y="2130425"/>
            <a:ext cx="7772400" cy="1470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a:spLocks noGrp="1"/>
          </p:cNvSpPr>
          <p:nvPr>
            <p:ph type="pic" idx="2"/>
          </p:nvPr>
        </p:nvSpPr>
        <p:spPr>
          <a:xfrm>
            <a:off x="-1" y="5369442"/>
            <a:ext cx="1658700" cy="1464600"/>
          </a:xfrm>
          <a:prstGeom prst="rect">
            <a:avLst/>
          </a:prstGeom>
          <a:noFill/>
          <a:ln>
            <a:noFill/>
          </a:ln>
        </p:spPr>
        <p:txBody>
          <a:bodyPr/>
          <a:lstStyle/>
          <a:p>
            <a:endParaRPr lang="en-US"/>
          </a:p>
        </p:txBody>
      </p:sp>
      <p:pic>
        <p:nvPicPr>
          <p:cNvPr id="18" name="Google Shape;18;p2" descr="title2.jpg"/>
          <p:cNvPicPr preferRelativeResize="0"/>
          <p:nvPr/>
        </p:nvPicPr>
        <p:blipFill rotWithShape="1">
          <a:blip r:embed="rId2">
            <a:alphaModFix/>
          </a:blip>
          <a:srcRect l="11812" r="15094"/>
          <a:stretch/>
        </p:blipFill>
        <p:spPr>
          <a:xfrm>
            <a:off x="7286920" y="5369442"/>
            <a:ext cx="1679809" cy="1464548"/>
          </a:xfrm>
          <a:prstGeom prst="rect">
            <a:avLst/>
          </a:prstGeom>
          <a:noFill/>
          <a:ln>
            <a:noFill/>
          </a:ln>
        </p:spPr>
      </p:pic>
      <p:sp>
        <p:nvSpPr>
          <p:cNvPr id="19" name="Google Shape;19;p2" descr="UNT University of North Texas Logo PNG vector in SVG, PDF ..."/>
          <p:cNvSpPr/>
          <p:nvPr/>
        </p:nvSpPr>
        <p:spPr>
          <a:xfrm>
            <a:off x="4419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0" name="Google Shape;20;p2" descr="A green logo with a bird&#10;&#10;Description automatically generated"/>
          <p:cNvPicPr preferRelativeResize="0"/>
          <p:nvPr/>
        </p:nvPicPr>
        <p:blipFill rotWithShape="1">
          <a:blip r:embed="rId3">
            <a:alphaModFix/>
          </a:blip>
          <a:srcRect/>
          <a:stretch/>
        </p:blipFill>
        <p:spPr>
          <a:xfrm>
            <a:off x="-1" y="5192276"/>
            <a:ext cx="1951230" cy="1464547"/>
          </a:xfrm>
          <a:prstGeom prst="rect">
            <a:avLst/>
          </a:prstGeom>
          <a:noFill/>
          <a:ln>
            <a:noFill/>
          </a:ln>
        </p:spPr>
      </p:pic>
      <p:sp>
        <p:nvSpPr>
          <p:cNvPr id="21" name="Google Shape;21;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80"/>
              </a:spcBef>
              <a:spcAft>
                <a:spcPts val="0"/>
              </a:spcAft>
              <a:buClr>
                <a:srgbClr val="888888"/>
              </a:buClr>
              <a:buSzPts val="4250"/>
              <a:buNone/>
              <a:defRPr>
                <a:solidFill>
                  <a:srgbClr val="888888"/>
                </a:solidFill>
              </a:defRPr>
            </a:lvl1pPr>
            <a:lvl2pPr lvl="1" algn="ctr">
              <a:lnSpc>
                <a:spcPct val="100000"/>
              </a:lnSpc>
              <a:spcBef>
                <a:spcPts val="560"/>
              </a:spcBef>
              <a:spcAft>
                <a:spcPts val="0"/>
              </a:spcAft>
              <a:buSzPts val="2800"/>
              <a:buNone/>
              <a:defRPr>
                <a:solidFill>
                  <a:srgbClr val="888888"/>
                </a:solidFill>
              </a:defRPr>
            </a:lvl2pPr>
            <a:lvl3pPr lvl="2" algn="ctr">
              <a:lnSpc>
                <a:spcPct val="100000"/>
              </a:lnSpc>
              <a:spcBef>
                <a:spcPts val="480"/>
              </a:spcBef>
              <a:spcAft>
                <a:spcPts val="0"/>
              </a:spcAft>
              <a:buSzPts val="2400"/>
              <a:buNone/>
              <a:defRPr>
                <a:solidFill>
                  <a:srgbClr val="888888"/>
                </a:solidFill>
              </a:defRPr>
            </a:lvl3pPr>
            <a:lvl4pPr lvl="3" algn="ctr">
              <a:lnSpc>
                <a:spcPct val="100000"/>
              </a:lnSpc>
              <a:spcBef>
                <a:spcPts val="400"/>
              </a:spcBef>
              <a:spcAft>
                <a:spcPts val="0"/>
              </a:spcAft>
              <a:buSzPts val="2000"/>
              <a:buNone/>
              <a:defRPr>
                <a:solidFill>
                  <a:srgbClr val="888888"/>
                </a:solidFill>
              </a:defRPr>
            </a:lvl4pPr>
            <a:lvl5pPr lvl="4" algn="ctr">
              <a:lnSpc>
                <a:spcPct val="100000"/>
              </a:lnSpc>
              <a:spcBef>
                <a:spcPts val="400"/>
              </a:spcBef>
              <a:spcAft>
                <a:spcPts val="0"/>
              </a:spcAft>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Hpcclab content">
  <p:cSld name="Hpcclab content">
    <p:spTree>
      <p:nvGrpSpPr>
        <p:cNvPr id="1" name="Shape 22"/>
        <p:cNvGrpSpPr/>
        <p:nvPr/>
      </p:nvGrpSpPr>
      <p:grpSpPr>
        <a:xfrm>
          <a:off x="0" y="0"/>
          <a:ext cx="0" cy="0"/>
          <a:chOff x="0" y="0"/>
          <a:chExt cx="0" cy="0"/>
        </a:xfrm>
      </p:grpSpPr>
      <p:sp>
        <p:nvSpPr>
          <p:cNvPr id="23" name="Google Shape;23;p3"/>
          <p:cNvSpPr txBox="1">
            <a:spLocks noGrp="1"/>
          </p:cNvSpPr>
          <p:nvPr>
            <p:ph type="title"/>
          </p:nvPr>
        </p:nvSpPr>
        <p:spPr>
          <a:xfrm>
            <a:off x="457200" y="152400"/>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lvl1pPr marL="457200" lvl="0" indent="-371475" algn="l">
              <a:lnSpc>
                <a:spcPct val="100000"/>
              </a:lnSpc>
              <a:spcBef>
                <a:spcPts val="360"/>
              </a:spcBef>
              <a:spcAft>
                <a:spcPts val="0"/>
              </a:spcAft>
              <a:buClr>
                <a:schemeClr val="dk1"/>
              </a:buClr>
              <a:buSzPts val="225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o"/>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5" name="Google Shape;25;p3"/>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3498112" y="6356350"/>
            <a:ext cx="21336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pic>
        <p:nvPicPr>
          <p:cNvPr id="27" name="Google Shape;27;p3" descr="title2.jpg"/>
          <p:cNvPicPr preferRelativeResize="0"/>
          <p:nvPr/>
        </p:nvPicPr>
        <p:blipFill rotWithShape="1">
          <a:blip r:embed="rId2">
            <a:alphaModFix/>
          </a:blip>
          <a:srcRect l="9554" t="24998" r="14683" b="4782"/>
          <a:stretch/>
        </p:blipFill>
        <p:spPr>
          <a:xfrm>
            <a:off x="7984503" y="6196488"/>
            <a:ext cx="1159497" cy="68484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0" y="0"/>
            <a:ext cx="9144000" cy="1447800"/>
          </a:xfrm>
          <a:prstGeom prst="rect">
            <a:avLst/>
          </a:prstGeom>
          <a:solidFill>
            <a:srgbClr val="004080"/>
          </a:solidFill>
          <a:ln>
            <a:noFill/>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 name="Google Shape;11;p1"/>
          <p:cNvSpPr txBox="1">
            <a:spLocks noGrp="1"/>
          </p:cNvSpPr>
          <p:nvPr>
            <p:ph type="title"/>
          </p:nvPr>
        </p:nvSpPr>
        <p:spPr>
          <a:xfrm>
            <a:off x="457200" y="152400"/>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lt1"/>
              </a:buClr>
              <a:buSzPts val="4400"/>
              <a:buFont typeface="Arial"/>
              <a:buNone/>
              <a:defRPr sz="44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 name="Google Shape;12;p1"/>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lvl1pPr marL="457200" marR="0" lvl="0" indent="-498475" algn="l" rtl="0">
              <a:lnSpc>
                <a:spcPct val="100000"/>
              </a:lnSpc>
              <a:spcBef>
                <a:spcPts val="680"/>
              </a:spcBef>
              <a:spcAft>
                <a:spcPts val="0"/>
              </a:spcAft>
              <a:buClr>
                <a:schemeClr val="dk1"/>
              </a:buClr>
              <a:buSzPts val="4250"/>
              <a:buFont typeface="Arial"/>
              <a:buChar char="•"/>
              <a:defRPr sz="34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8000"/>
              </a:buClr>
              <a:buSzPts val="2800"/>
              <a:buFont typeface="Noto Sans Symbols"/>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rgbClr val="008000"/>
              </a:buClr>
              <a:buSzPts val="2400"/>
              <a:buFont typeface="Courier New"/>
              <a:buChar char="o"/>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rgbClr val="008000"/>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rgbClr val="008000"/>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92800" y="6309320"/>
            <a:ext cx="21336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6.emf"/></Relationships>
</file>

<file path=ppt/slides/_rels/slide2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6.emf"/></Relationships>
</file>

<file path=ppt/slides/_rels/slide31.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7"/>
          <p:cNvSpPr txBox="1">
            <a:spLocks noGrp="1"/>
          </p:cNvSpPr>
          <p:nvPr>
            <p:ph type="ctrTitle"/>
          </p:nvPr>
        </p:nvSpPr>
        <p:spPr>
          <a:xfrm>
            <a:off x="510750" y="2281881"/>
            <a:ext cx="8122500" cy="115546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1100"/>
              <a:buFont typeface="Arial"/>
              <a:buNone/>
            </a:pPr>
            <a:r>
              <a:rPr lang="en-US" sz="2560" b="1" dirty="0">
                <a:solidFill>
                  <a:schemeClr val="dk1"/>
                </a:solidFill>
              </a:rPr>
              <a:t>Benchmarking Message Brokers for IoT-Edge</a:t>
            </a:r>
            <a:endParaRPr sz="2560" b="1" dirty="0">
              <a:solidFill>
                <a:schemeClr val="dk1"/>
              </a:solidFill>
            </a:endParaRPr>
          </a:p>
          <a:p>
            <a:pPr>
              <a:buClr>
                <a:schemeClr val="dk1"/>
              </a:buClr>
              <a:buSzPts val="1100"/>
            </a:pPr>
            <a:r>
              <a:rPr lang="en-US" sz="2560" b="1" dirty="0">
                <a:solidFill>
                  <a:schemeClr val="dk1"/>
                </a:solidFill>
              </a:rPr>
              <a:t>Computing: A Comprehensive Performance Study</a:t>
            </a:r>
            <a:br>
              <a:rPr lang="en-US" sz="2560" b="1" dirty="0">
                <a:solidFill>
                  <a:schemeClr val="dk1"/>
                </a:solidFill>
              </a:rPr>
            </a:br>
            <a:r>
              <a:rPr lang="en-US" sz="2200" dirty="0">
                <a:solidFill>
                  <a:schemeClr val="dk1"/>
                </a:solidFill>
              </a:rPr>
              <a:t>(</a:t>
            </a:r>
            <a:r>
              <a:rPr lang="en-US" sz="2000" dirty="0">
                <a:solidFill>
                  <a:schemeClr val="tx1"/>
                </a:solidFill>
              </a:rPr>
              <a:t>Journal Extension Plan)</a:t>
            </a:r>
            <a:endParaRPr sz="2560" b="1" dirty="0">
              <a:solidFill>
                <a:schemeClr val="dk1"/>
              </a:solidFill>
            </a:endParaRPr>
          </a:p>
        </p:txBody>
      </p:sp>
      <p:pic>
        <p:nvPicPr>
          <p:cNvPr id="3" name="Picture 2">
            <a:extLst>
              <a:ext uri="{FF2B5EF4-FFF2-40B4-BE49-F238E27FC236}">
                <a16:creationId xmlns:a16="http://schemas.microsoft.com/office/drawing/2014/main" id="{653EEDC7-640F-6AA6-5DCC-39E9EE9B37C4}"/>
              </a:ext>
            </a:extLst>
          </p:cNvPr>
          <p:cNvPicPr>
            <a:picLocks noChangeAspect="1"/>
          </p:cNvPicPr>
          <p:nvPr/>
        </p:nvPicPr>
        <p:blipFill>
          <a:blip r:embed="rId3"/>
          <a:stretch>
            <a:fillRect/>
          </a:stretch>
        </p:blipFill>
        <p:spPr>
          <a:xfrm>
            <a:off x="3836773" y="5535828"/>
            <a:ext cx="1470454" cy="1470454"/>
          </a:xfrm>
          <a:prstGeom prst="rect">
            <a:avLst/>
          </a:prstGeom>
        </p:spPr>
      </p:pic>
      <p:sp>
        <p:nvSpPr>
          <p:cNvPr id="7" name="TextBox 6">
            <a:extLst>
              <a:ext uri="{FF2B5EF4-FFF2-40B4-BE49-F238E27FC236}">
                <a16:creationId xmlns:a16="http://schemas.microsoft.com/office/drawing/2014/main" id="{38ECCFF3-8257-F96B-3137-084D8D5459F2}"/>
              </a:ext>
            </a:extLst>
          </p:cNvPr>
          <p:cNvSpPr txBox="1"/>
          <p:nvPr/>
        </p:nvSpPr>
        <p:spPr>
          <a:xfrm>
            <a:off x="359627" y="3797971"/>
            <a:ext cx="8666294" cy="1425840"/>
          </a:xfrm>
          <a:prstGeom prst="rect">
            <a:avLst/>
          </a:prstGeom>
          <a:noFill/>
        </p:spPr>
        <p:txBody>
          <a:bodyPr wrap="square" lIns="91440" tIns="45720" rIns="91440" bIns="45720" rtlCol="0" anchor="t">
            <a:spAutoFit/>
          </a:bodyPr>
          <a:lstStyle/>
          <a:p>
            <a:pPr algn="ctr">
              <a:lnSpc>
                <a:spcPct val="130000"/>
              </a:lnSpc>
            </a:pPr>
            <a:r>
              <a:rPr lang="en-US" b="1" dirty="0" err="1"/>
              <a:t>Tapajit</a:t>
            </a:r>
            <a:r>
              <a:rPr lang="en-US" b="1" dirty="0"/>
              <a:t> Chandra Paul</a:t>
            </a:r>
            <a:r>
              <a:rPr lang="en-US" b="1" baseline="30000" dirty="0"/>
              <a:t>1</a:t>
            </a:r>
            <a:r>
              <a:rPr lang="en-US" b="1" dirty="0"/>
              <a:t>, </a:t>
            </a:r>
            <a:r>
              <a:rPr lang="en-US" b="1" dirty="0" err="1"/>
              <a:t>Pawissanutt</a:t>
            </a:r>
            <a:r>
              <a:rPr lang="en-US" b="1" dirty="0"/>
              <a:t> Lertpongrujikorn</a:t>
            </a:r>
            <a:r>
              <a:rPr lang="en-US" b="1" baseline="30000" dirty="0"/>
              <a:t>1</a:t>
            </a:r>
            <a:r>
              <a:rPr lang="en-US" b="1" dirty="0"/>
              <a:t>, Hai Duc Nguyen</a:t>
            </a:r>
            <a:r>
              <a:rPr lang="en-US" b="1" baseline="30000" dirty="0"/>
              <a:t>2</a:t>
            </a:r>
            <a:r>
              <a:rPr lang="en-US" b="1" dirty="0"/>
              <a:t>, and Mohsen Amini Salehi</a:t>
            </a:r>
            <a:r>
              <a:rPr lang="en-US" b="1" baseline="30000" dirty="0"/>
              <a:t>1</a:t>
            </a:r>
            <a:endParaRPr lang="en-US" b="1" dirty="0"/>
          </a:p>
          <a:p>
            <a:pPr algn="ctr">
              <a:lnSpc>
                <a:spcPct val="130000"/>
              </a:lnSpc>
            </a:pPr>
            <a:r>
              <a:rPr lang="en-US" baseline="30000" dirty="0"/>
              <a:t>1</a:t>
            </a:r>
            <a:r>
              <a:rPr lang="en-US" dirty="0"/>
              <a:t>High Performance Cloud Computing (HPCC) Lab, University of North Texas, USA</a:t>
            </a:r>
          </a:p>
          <a:p>
            <a:pPr algn="ctr">
              <a:lnSpc>
                <a:spcPct val="130000"/>
              </a:lnSpc>
            </a:pPr>
            <a:r>
              <a:rPr lang="en-US" baseline="30000" dirty="0"/>
              <a:t>2</a:t>
            </a:r>
            <a:r>
              <a:rPr lang="en-US" dirty="0"/>
              <a:t>Argonne National Laboratory and University of Chicago, USA</a:t>
            </a:r>
          </a:p>
          <a:p>
            <a:pPr algn="ctr">
              <a:lnSpc>
                <a:spcPct val="120000"/>
              </a:lnSpc>
            </a:pPr>
            <a:endParaRPr lang="en-US" dirty="0"/>
          </a:p>
          <a:p>
            <a:pPr algn="ctr">
              <a:lnSpc>
                <a:spcPct val="120000"/>
              </a:lnSpc>
            </a:pP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sp>
        <p:nvSpPr>
          <p:cNvPr id="41" name="Google Shape;41;p5"/>
          <p:cNvSpPr txBox="1">
            <a:spLocks noGrp="1"/>
          </p:cNvSpPr>
          <p:nvPr>
            <p:ph type="title"/>
          </p:nvPr>
        </p:nvSpPr>
        <p:spPr>
          <a:xfrm>
            <a:off x="457200" y="152400"/>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620"/>
              <a:buNone/>
            </a:pPr>
            <a:r>
              <a:rPr lang="en-US" sz="2860"/>
              <a:t>Proposed Extension: Beyond 1-to-1 Steady Load</a:t>
            </a:r>
            <a:endParaRPr sz="2860"/>
          </a:p>
        </p:txBody>
      </p:sp>
      <p:sp>
        <p:nvSpPr>
          <p:cNvPr id="42" name="Google Shape;42;p5"/>
          <p:cNvSpPr txBox="1">
            <a:spLocks noGrp="1"/>
          </p:cNvSpPr>
          <p:nvPr>
            <p:ph type="sldNum" idx="12"/>
          </p:nvPr>
        </p:nvSpPr>
        <p:spPr>
          <a:xfrm>
            <a:off x="3498112" y="6356350"/>
            <a:ext cx="21336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
        <p:nvSpPr>
          <p:cNvPr id="43" name="Google Shape;43;p5"/>
          <p:cNvSpPr txBox="1"/>
          <p:nvPr/>
        </p:nvSpPr>
        <p:spPr>
          <a:xfrm>
            <a:off x="133750" y="1574050"/>
            <a:ext cx="8862300" cy="5147400"/>
          </a:xfrm>
          <a:prstGeom prst="rect">
            <a:avLst/>
          </a:prstGeom>
          <a:noFill/>
          <a:ln>
            <a:noFill/>
          </a:ln>
        </p:spPr>
        <p:txBody>
          <a:bodyPr spcFirstLastPara="1" wrap="square" lIns="91425" tIns="91425" rIns="91425" bIns="91425" anchor="t" anchorCtr="0">
            <a:noAutofit/>
          </a:bodyPr>
          <a:lstStyle/>
          <a:p>
            <a:pPr marL="457200" lvl="0" indent="-393700" algn="l" rtl="0">
              <a:spcBef>
                <a:spcPts val="0"/>
              </a:spcBef>
              <a:spcAft>
                <a:spcPts val="0"/>
              </a:spcAft>
              <a:buClr>
                <a:schemeClr val="dk1"/>
              </a:buClr>
              <a:buSzPts val="2600"/>
              <a:buFont typeface="Calibri"/>
              <a:buChar char="❖"/>
            </a:pPr>
            <a:r>
              <a:rPr lang="en-US" sz="2600" dirty="0">
                <a:solidFill>
                  <a:schemeClr val="dk1"/>
                </a:solidFill>
                <a:latin typeface="Calibri"/>
                <a:ea typeface="Calibri"/>
                <a:cs typeface="Calibri"/>
                <a:sym typeface="Calibri"/>
              </a:rPr>
              <a:t>Goal</a:t>
            </a:r>
            <a:endParaRPr sz="2600" dirty="0">
              <a:solidFill>
                <a:schemeClr val="dk1"/>
              </a:solidFill>
              <a:latin typeface="Calibri"/>
              <a:ea typeface="Calibri"/>
              <a:cs typeface="Calibri"/>
              <a:sym typeface="Calibri"/>
            </a:endParaRPr>
          </a:p>
          <a:p>
            <a:pPr marL="914400" lvl="1" indent="-355600">
              <a:buClr>
                <a:schemeClr val="dk1"/>
              </a:buClr>
              <a:buSzPts val="2000"/>
              <a:buFont typeface="Calibri"/>
              <a:buChar char="➢"/>
            </a:pPr>
            <a:r>
              <a:rPr lang="en-US" sz="2000" b="1" dirty="0">
                <a:solidFill>
                  <a:schemeClr val="dk1"/>
                </a:solidFill>
                <a:latin typeface="Calibri"/>
                <a:ea typeface="Calibri"/>
                <a:cs typeface="Calibri"/>
                <a:sym typeface="Calibri"/>
              </a:rPr>
              <a:t>Extend</a:t>
            </a:r>
            <a:r>
              <a:rPr lang="en-US" sz="2000" dirty="0">
                <a:solidFill>
                  <a:schemeClr val="dk1"/>
                </a:solidFill>
                <a:latin typeface="Calibri"/>
                <a:ea typeface="Calibri"/>
                <a:cs typeface="Calibri"/>
                <a:sym typeface="Calibri"/>
              </a:rPr>
              <a:t> the benchmark from isolated pairwise communication to </a:t>
            </a:r>
            <a:r>
              <a:rPr lang="en-US" sz="2000" b="1" dirty="0">
                <a:solidFill>
                  <a:schemeClr val="dk1"/>
                </a:solidFill>
                <a:latin typeface="Calibri"/>
                <a:ea typeface="Calibri"/>
                <a:cs typeface="Calibri"/>
                <a:sym typeface="Calibri"/>
              </a:rPr>
              <a:t>shared-topic, various topology and dynamic workloads</a:t>
            </a:r>
          </a:p>
          <a:p>
            <a:pPr marL="558800" lvl="1">
              <a:buClr>
                <a:schemeClr val="dk1"/>
              </a:buClr>
              <a:buSzPts val="2000"/>
            </a:pPr>
            <a:endParaRPr sz="2000" dirty="0">
              <a:solidFill>
                <a:schemeClr val="dk1"/>
              </a:solidFill>
              <a:latin typeface="Calibri"/>
              <a:ea typeface="Calibri"/>
              <a:cs typeface="Calibri"/>
              <a:sym typeface="Calibri"/>
            </a:endParaRPr>
          </a:p>
          <a:p>
            <a:pPr marL="457200" lvl="0" indent="-393700" algn="l" rtl="0">
              <a:spcBef>
                <a:spcPts val="0"/>
              </a:spcBef>
              <a:spcAft>
                <a:spcPts val="0"/>
              </a:spcAft>
              <a:buClr>
                <a:schemeClr val="dk1"/>
              </a:buClr>
              <a:buSzPts val="2600"/>
              <a:buFont typeface="Calibri"/>
              <a:buChar char="❖"/>
            </a:pPr>
            <a:r>
              <a:rPr lang="en-US" sz="2600" dirty="0">
                <a:solidFill>
                  <a:schemeClr val="dk1"/>
                </a:solidFill>
                <a:latin typeface="Calibri"/>
                <a:ea typeface="Calibri"/>
                <a:cs typeface="Calibri"/>
                <a:sym typeface="Calibri"/>
              </a:rPr>
              <a:t>Why this matters</a:t>
            </a:r>
            <a:endParaRPr sz="2600" dirty="0">
              <a:solidFill>
                <a:schemeClr val="dk1"/>
              </a:solidFill>
              <a:latin typeface="Calibri"/>
              <a:ea typeface="Calibri"/>
              <a:cs typeface="Calibri"/>
              <a:sym typeface="Calibri"/>
            </a:endParaRPr>
          </a:p>
          <a:p>
            <a:pPr marL="914400" lvl="1" indent="-355600" algn="l" rtl="0">
              <a:spcBef>
                <a:spcPts val="0"/>
              </a:spcBef>
              <a:spcAft>
                <a:spcPts val="0"/>
              </a:spcAft>
              <a:buClr>
                <a:schemeClr val="dk1"/>
              </a:buClr>
              <a:buSzPts val="2000"/>
              <a:buFont typeface="Calibri"/>
              <a:buChar char="➢"/>
            </a:pPr>
            <a:r>
              <a:rPr lang="en-US" sz="2000" b="1" dirty="0">
                <a:solidFill>
                  <a:schemeClr val="dk1"/>
                </a:solidFill>
                <a:latin typeface="Calibri"/>
                <a:ea typeface="Calibri"/>
                <a:cs typeface="Calibri"/>
                <a:sym typeface="Calibri"/>
              </a:rPr>
              <a:t>Real</a:t>
            </a:r>
            <a:r>
              <a:rPr lang="en-US" sz="2000" dirty="0">
                <a:solidFill>
                  <a:schemeClr val="dk1"/>
                </a:solidFill>
                <a:latin typeface="Calibri"/>
                <a:ea typeface="Calibri"/>
                <a:cs typeface="Calibri"/>
                <a:sym typeface="Calibri"/>
              </a:rPr>
              <a:t> IoT systems are rarely pure 1-to-1</a:t>
            </a:r>
            <a:endParaRPr sz="2000" dirty="0">
              <a:solidFill>
                <a:schemeClr val="dk1"/>
              </a:solidFill>
              <a:latin typeface="Calibri"/>
              <a:ea typeface="Calibri"/>
              <a:cs typeface="Calibri"/>
              <a:sym typeface="Calibri"/>
            </a:endParaRPr>
          </a:p>
          <a:p>
            <a:pPr marL="914400" lvl="1" indent="-355600" algn="l" rtl="0">
              <a:spcBef>
                <a:spcPts val="0"/>
              </a:spcBef>
              <a:spcAft>
                <a:spcPts val="0"/>
              </a:spcAft>
              <a:buClr>
                <a:schemeClr val="dk1"/>
              </a:buClr>
              <a:buSzPts val="2000"/>
              <a:buFont typeface="Calibri"/>
              <a:buChar char="➢"/>
            </a:pPr>
            <a:r>
              <a:rPr lang="en-US" sz="2000" dirty="0">
                <a:solidFill>
                  <a:schemeClr val="dk1"/>
                </a:solidFill>
                <a:latin typeface="Calibri"/>
                <a:ea typeface="Calibri"/>
                <a:cs typeface="Calibri"/>
                <a:sym typeface="Calibri"/>
              </a:rPr>
              <a:t>Many applications use </a:t>
            </a:r>
            <a:r>
              <a:rPr lang="en-US" sz="2000" b="1" dirty="0">
                <a:solidFill>
                  <a:schemeClr val="dk1"/>
                </a:solidFill>
                <a:latin typeface="Calibri"/>
                <a:ea typeface="Calibri"/>
                <a:cs typeface="Calibri"/>
                <a:sym typeface="Calibri"/>
              </a:rPr>
              <a:t>aggregation</a:t>
            </a:r>
            <a:r>
              <a:rPr lang="en-US" sz="2000" dirty="0">
                <a:solidFill>
                  <a:schemeClr val="dk1"/>
                </a:solidFill>
                <a:latin typeface="Calibri"/>
                <a:ea typeface="Calibri"/>
                <a:cs typeface="Calibri"/>
                <a:sym typeface="Calibri"/>
              </a:rPr>
              <a:t> or </a:t>
            </a:r>
            <a:r>
              <a:rPr lang="en-US" sz="2000" b="1" dirty="0">
                <a:solidFill>
                  <a:schemeClr val="dk1"/>
                </a:solidFill>
                <a:latin typeface="Calibri"/>
                <a:ea typeface="Calibri"/>
                <a:cs typeface="Calibri"/>
                <a:sym typeface="Calibri"/>
              </a:rPr>
              <a:t>broadcast</a:t>
            </a:r>
            <a:endParaRPr sz="2000" b="1" dirty="0">
              <a:solidFill>
                <a:schemeClr val="dk1"/>
              </a:solidFill>
              <a:latin typeface="Calibri"/>
              <a:ea typeface="Calibri"/>
              <a:cs typeface="Calibri"/>
              <a:sym typeface="Calibri"/>
            </a:endParaRPr>
          </a:p>
          <a:p>
            <a:pPr marL="914400" lvl="1" indent="-355600" algn="l" rtl="0">
              <a:spcBef>
                <a:spcPts val="0"/>
              </a:spcBef>
              <a:spcAft>
                <a:spcPts val="0"/>
              </a:spcAft>
              <a:buClr>
                <a:schemeClr val="dk1"/>
              </a:buClr>
              <a:buSzPts val="2000"/>
              <a:buFont typeface="Calibri"/>
              <a:buChar char="➢"/>
            </a:pPr>
            <a:r>
              <a:rPr lang="en-US" sz="2000" b="1" dirty="0">
                <a:solidFill>
                  <a:schemeClr val="dk1"/>
                </a:solidFill>
                <a:latin typeface="Calibri"/>
                <a:ea typeface="Calibri"/>
                <a:cs typeface="Calibri"/>
                <a:sym typeface="Calibri"/>
              </a:rPr>
              <a:t>Steady</a:t>
            </a:r>
            <a:r>
              <a:rPr lang="en-US" sz="2000" dirty="0">
                <a:solidFill>
                  <a:schemeClr val="dk1"/>
                </a:solidFill>
                <a:latin typeface="Calibri"/>
                <a:ea typeface="Calibri"/>
                <a:cs typeface="Calibri"/>
                <a:sym typeface="Calibri"/>
              </a:rPr>
              <a:t>-rate benchmarks </a:t>
            </a:r>
            <a:r>
              <a:rPr lang="en-US" sz="2000" b="1" dirty="0">
                <a:solidFill>
                  <a:schemeClr val="dk1"/>
                </a:solidFill>
                <a:latin typeface="Calibri"/>
                <a:ea typeface="Calibri"/>
                <a:cs typeface="Calibri"/>
                <a:sym typeface="Calibri"/>
              </a:rPr>
              <a:t>miss</a:t>
            </a:r>
            <a:r>
              <a:rPr lang="en-US" sz="2000" dirty="0">
                <a:solidFill>
                  <a:schemeClr val="dk1"/>
                </a:solidFill>
                <a:latin typeface="Calibri"/>
                <a:ea typeface="Calibri"/>
                <a:cs typeface="Calibri"/>
                <a:sym typeface="Calibri"/>
              </a:rPr>
              <a:t> behavior</a:t>
            </a:r>
            <a:r>
              <a:rPr lang="en-US" sz="2000" b="1" dirty="0">
                <a:solidFill>
                  <a:schemeClr val="dk1"/>
                </a:solidFill>
                <a:latin typeface="Calibri"/>
                <a:ea typeface="Calibri"/>
                <a:cs typeface="Calibri"/>
                <a:sym typeface="Calibri"/>
              </a:rPr>
              <a:t> under traffic spikes</a:t>
            </a:r>
            <a:endParaRPr sz="2000" b="1" dirty="0">
              <a:solidFill>
                <a:schemeClr val="dk1"/>
              </a:solidFill>
              <a:latin typeface="Calibri"/>
              <a:ea typeface="Calibri"/>
              <a:cs typeface="Calibri"/>
              <a:sym typeface="Calibri"/>
            </a:endParaRPr>
          </a:p>
          <a:p>
            <a:pPr marL="914400" lvl="1" indent="-355600" algn="l" rtl="0">
              <a:spcBef>
                <a:spcPts val="0"/>
              </a:spcBef>
              <a:spcAft>
                <a:spcPts val="0"/>
              </a:spcAft>
              <a:buClr>
                <a:schemeClr val="dk1"/>
              </a:buClr>
              <a:buSzPts val="2000"/>
              <a:buFont typeface="Calibri"/>
              <a:buChar char="➢"/>
            </a:pPr>
            <a:r>
              <a:rPr lang="en-US" sz="2000" dirty="0">
                <a:solidFill>
                  <a:schemeClr val="dk1"/>
                </a:solidFill>
                <a:latin typeface="Calibri"/>
                <a:ea typeface="Calibri"/>
                <a:cs typeface="Calibri"/>
                <a:sym typeface="Calibri"/>
              </a:rPr>
              <a:t>We want to study both </a:t>
            </a:r>
            <a:r>
              <a:rPr lang="en-US" sz="2000" b="1" dirty="0">
                <a:solidFill>
                  <a:schemeClr val="dk1"/>
                </a:solidFill>
                <a:latin typeface="Calibri"/>
                <a:ea typeface="Calibri"/>
                <a:cs typeface="Calibri"/>
                <a:sym typeface="Calibri"/>
              </a:rPr>
              <a:t>topology effect</a:t>
            </a:r>
            <a:r>
              <a:rPr lang="en-US" sz="2000" dirty="0">
                <a:solidFill>
                  <a:schemeClr val="dk1"/>
                </a:solidFill>
                <a:latin typeface="Calibri"/>
                <a:ea typeface="Calibri"/>
                <a:cs typeface="Calibri"/>
                <a:sym typeface="Calibri"/>
              </a:rPr>
              <a:t> and </a:t>
            </a:r>
            <a:r>
              <a:rPr lang="en-US" sz="2000" b="1" dirty="0">
                <a:solidFill>
                  <a:schemeClr val="dk1"/>
                </a:solidFill>
                <a:latin typeface="Calibri"/>
                <a:ea typeface="Calibri"/>
                <a:cs typeface="Calibri"/>
                <a:sym typeface="Calibri"/>
              </a:rPr>
              <a:t>traffic dynamics</a:t>
            </a:r>
            <a:endParaRPr sz="2000" b="1" dirty="0">
              <a:solidFill>
                <a:schemeClr val="dk1"/>
              </a:solidFill>
              <a:latin typeface="Calibri"/>
              <a:ea typeface="Calibri"/>
              <a:cs typeface="Calibri"/>
              <a:sym typeface="Calibri"/>
            </a:endParaRPr>
          </a:p>
          <a:p>
            <a:pPr marL="457200" lvl="0" indent="0" algn="l" rtl="0">
              <a:spcBef>
                <a:spcPts val="0"/>
              </a:spcBef>
              <a:spcAft>
                <a:spcPts val="0"/>
              </a:spcAft>
              <a:buNone/>
            </a:pPr>
            <a:endParaRPr sz="2000" dirty="0">
              <a:solidFill>
                <a:schemeClr val="dk1"/>
              </a:solidFill>
              <a:latin typeface="Calibri"/>
              <a:ea typeface="Calibri"/>
              <a:cs typeface="Calibri"/>
              <a:sym typeface="Calibri"/>
            </a:endParaRPr>
          </a:p>
          <a:p>
            <a:pPr marL="457200" lvl="0" indent="-381000" algn="l" rtl="0">
              <a:spcBef>
                <a:spcPts val="0"/>
              </a:spcBef>
              <a:spcAft>
                <a:spcPts val="0"/>
              </a:spcAft>
              <a:buClr>
                <a:schemeClr val="dk1"/>
              </a:buClr>
              <a:buSzPts val="2400"/>
              <a:buFont typeface="Calibri"/>
              <a:buChar char="❖"/>
            </a:pPr>
            <a:r>
              <a:rPr lang="en-US" sz="2400" dirty="0">
                <a:solidFill>
                  <a:schemeClr val="dk1"/>
                </a:solidFill>
                <a:latin typeface="Calibri"/>
                <a:ea typeface="Calibri"/>
                <a:cs typeface="Calibri"/>
                <a:sym typeface="Calibri"/>
              </a:rPr>
              <a:t>Four new experiments</a:t>
            </a:r>
            <a:endParaRPr sz="2400" dirty="0">
              <a:solidFill>
                <a:schemeClr val="dk1"/>
              </a:solidFill>
              <a:latin typeface="Calibri"/>
              <a:ea typeface="Calibri"/>
              <a:cs typeface="Calibri"/>
              <a:sym typeface="Calibri"/>
            </a:endParaRPr>
          </a:p>
          <a:p>
            <a:pPr marL="914400" lvl="1" indent="-355600">
              <a:buClr>
                <a:schemeClr val="dk1"/>
              </a:buClr>
              <a:buSzPts val="2000"/>
              <a:buFont typeface="Calibri"/>
              <a:buChar char="➢"/>
            </a:pPr>
            <a:r>
              <a:rPr lang="en-US" sz="2000" dirty="0">
                <a:solidFill>
                  <a:schemeClr val="dk1"/>
                </a:solidFill>
                <a:latin typeface="Calibri"/>
                <a:ea typeface="Calibri"/>
                <a:cs typeface="Calibri"/>
                <a:sym typeface="Calibri"/>
              </a:rPr>
              <a:t>Exp 1: </a:t>
            </a:r>
            <a:r>
              <a:rPr lang="en-US" sz="2000" b="1" dirty="0">
                <a:solidFill>
                  <a:schemeClr val="dk1"/>
                </a:solidFill>
                <a:latin typeface="Calibri"/>
                <a:ea typeface="Calibri"/>
                <a:cs typeface="Calibri"/>
                <a:sym typeface="Calibri"/>
              </a:rPr>
              <a:t>Fan-out</a:t>
            </a:r>
            <a:r>
              <a:rPr lang="en-US" sz="2000" dirty="0">
                <a:solidFill>
                  <a:schemeClr val="dk1"/>
                </a:solidFill>
                <a:latin typeface="Calibri"/>
                <a:ea typeface="Calibri"/>
                <a:cs typeface="Calibri"/>
                <a:sym typeface="Calibri"/>
              </a:rPr>
              <a:t> under steady load</a:t>
            </a:r>
            <a:r>
              <a:rPr lang="en-US" sz="2000" dirty="0"/>
              <a:t> → replication efficiency</a:t>
            </a:r>
            <a:endParaRPr sz="2000" b="1" dirty="0">
              <a:solidFill>
                <a:schemeClr val="dk1"/>
              </a:solidFill>
              <a:latin typeface="Calibri"/>
              <a:ea typeface="Calibri"/>
              <a:cs typeface="Calibri"/>
              <a:sym typeface="Calibri"/>
            </a:endParaRPr>
          </a:p>
          <a:p>
            <a:pPr marL="914400" lvl="1" indent="-355600">
              <a:buClr>
                <a:schemeClr val="dk1"/>
              </a:buClr>
              <a:buSzPts val="2000"/>
              <a:buFont typeface="Calibri"/>
              <a:buChar char="➢"/>
            </a:pPr>
            <a:r>
              <a:rPr lang="en-US" sz="2000" dirty="0">
                <a:solidFill>
                  <a:schemeClr val="dk1"/>
                </a:solidFill>
                <a:latin typeface="Calibri"/>
                <a:ea typeface="Calibri"/>
                <a:cs typeface="Calibri"/>
                <a:sym typeface="Calibri"/>
              </a:rPr>
              <a:t>Exp 2: </a:t>
            </a:r>
            <a:r>
              <a:rPr lang="en-US" sz="2000" b="1" dirty="0">
                <a:solidFill>
                  <a:schemeClr val="dk1"/>
                </a:solidFill>
                <a:latin typeface="Calibri"/>
                <a:ea typeface="Calibri"/>
                <a:cs typeface="Calibri"/>
                <a:sym typeface="Calibri"/>
              </a:rPr>
              <a:t>Fan-in </a:t>
            </a:r>
            <a:r>
              <a:rPr lang="en-US" sz="2000" dirty="0">
                <a:solidFill>
                  <a:schemeClr val="dk1"/>
                </a:solidFill>
                <a:latin typeface="Calibri"/>
                <a:ea typeface="Calibri"/>
                <a:cs typeface="Calibri"/>
                <a:sym typeface="Calibri"/>
              </a:rPr>
              <a:t>under steady load</a:t>
            </a:r>
            <a:r>
              <a:rPr lang="en-US" sz="2000" dirty="0"/>
              <a:t> → aggregation efficiency</a:t>
            </a:r>
            <a:endParaRPr sz="2000" b="1" dirty="0">
              <a:solidFill>
                <a:schemeClr val="dk1"/>
              </a:solidFill>
              <a:latin typeface="Calibri"/>
              <a:ea typeface="Calibri"/>
              <a:cs typeface="Calibri"/>
              <a:sym typeface="Calibri"/>
            </a:endParaRPr>
          </a:p>
          <a:p>
            <a:pPr marL="914400" lvl="1" indent="-355600">
              <a:buClr>
                <a:schemeClr val="dk1"/>
              </a:buClr>
              <a:buSzPts val="2000"/>
              <a:buFont typeface="Calibri"/>
              <a:buChar char="➢"/>
            </a:pPr>
            <a:r>
              <a:rPr lang="en-US" sz="2000" dirty="0">
                <a:solidFill>
                  <a:schemeClr val="dk1"/>
                </a:solidFill>
                <a:latin typeface="Calibri"/>
                <a:ea typeface="Calibri"/>
                <a:cs typeface="Calibri"/>
                <a:sym typeface="Calibri"/>
              </a:rPr>
              <a:t>Exp 3: </a:t>
            </a:r>
            <a:r>
              <a:rPr lang="en-US" sz="2000" b="1" dirty="0">
                <a:solidFill>
                  <a:schemeClr val="dk1"/>
                </a:solidFill>
                <a:latin typeface="Calibri"/>
                <a:ea typeface="Calibri"/>
                <a:cs typeface="Calibri"/>
                <a:sym typeface="Calibri"/>
              </a:rPr>
              <a:t>Bursty fan-out</a:t>
            </a:r>
            <a:r>
              <a:rPr lang="en-US" sz="2000" dirty="0">
                <a:solidFill>
                  <a:schemeClr val="dk1"/>
                </a:solidFill>
                <a:latin typeface="Calibri"/>
                <a:ea typeface="Calibri"/>
                <a:cs typeface="Calibri"/>
                <a:sym typeface="Calibri"/>
              </a:rPr>
              <a:t> (under dynamic traffic)</a:t>
            </a:r>
            <a:r>
              <a:rPr lang="en-US" sz="2000" dirty="0"/>
              <a:t> </a:t>
            </a:r>
            <a:r>
              <a:rPr lang="en-US" dirty="0"/>
              <a:t>→ overload and recovery behavior</a:t>
            </a:r>
            <a:endParaRPr lang="en-US" sz="2000" dirty="0">
              <a:solidFill>
                <a:schemeClr val="dk1"/>
              </a:solidFill>
              <a:latin typeface="Calibri"/>
              <a:ea typeface="Calibri"/>
              <a:cs typeface="Calibri"/>
              <a:sym typeface="Calibri"/>
            </a:endParaRPr>
          </a:p>
          <a:p>
            <a:pPr marL="914400" lvl="1" indent="-355600" algn="l" rtl="0">
              <a:spcBef>
                <a:spcPts val="0"/>
              </a:spcBef>
              <a:spcAft>
                <a:spcPts val="0"/>
              </a:spcAft>
              <a:buClr>
                <a:schemeClr val="dk1"/>
              </a:buClr>
              <a:buSzPts val="2000"/>
              <a:buFont typeface="Calibri"/>
              <a:buChar char="➢"/>
            </a:pPr>
            <a:r>
              <a:rPr lang="en-US" sz="2000" b="1" dirty="0">
                <a:solidFill>
                  <a:schemeClr val="dk1"/>
                </a:solidFill>
                <a:latin typeface="Calibri"/>
                <a:ea typeface="Calibri"/>
                <a:cs typeface="Calibri"/>
                <a:sym typeface="Calibri"/>
              </a:rPr>
              <a:t>Exp 4: Bursty fan-in </a:t>
            </a:r>
            <a:r>
              <a:rPr lang="en-US" sz="2000" dirty="0">
                <a:solidFill>
                  <a:schemeClr val="dk1"/>
                </a:solidFill>
                <a:latin typeface="Calibri"/>
                <a:ea typeface="Calibri"/>
                <a:cs typeface="Calibri"/>
                <a:sym typeface="Calibri"/>
              </a:rPr>
              <a:t>(under dynamic traffic)</a:t>
            </a:r>
            <a:endParaRPr sz="2000"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3">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Shape 48"/>
        <p:cNvGrpSpPr/>
        <p:nvPr/>
      </p:nvGrpSpPr>
      <p:grpSpPr>
        <a:xfrm>
          <a:off x="0" y="0"/>
          <a:ext cx="0" cy="0"/>
          <a:chOff x="0" y="0"/>
          <a:chExt cx="0" cy="0"/>
        </a:xfrm>
      </p:grpSpPr>
      <p:sp>
        <p:nvSpPr>
          <p:cNvPr id="49" name="Google Shape;49;p6"/>
          <p:cNvSpPr txBox="1">
            <a:spLocks noGrp="1"/>
          </p:cNvSpPr>
          <p:nvPr>
            <p:ph type="title"/>
          </p:nvPr>
        </p:nvSpPr>
        <p:spPr>
          <a:xfrm>
            <a:off x="457200" y="152400"/>
            <a:ext cx="82296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dirty="0"/>
              <a:t>Why extension? (hidden)</a:t>
            </a:r>
            <a:endParaRPr dirty="0"/>
          </a:p>
        </p:txBody>
      </p:sp>
      <p:sp>
        <p:nvSpPr>
          <p:cNvPr id="50" name="Google Shape;50;p6"/>
          <p:cNvSpPr txBox="1">
            <a:spLocks noGrp="1"/>
          </p:cNvSpPr>
          <p:nvPr>
            <p:ph type="body" idx="1"/>
          </p:nvPr>
        </p:nvSpPr>
        <p:spPr>
          <a:xfrm>
            <a:off x="457200" y="1600200"/>
            <a:ext cx="8579700" cy="4526100"/>
          </a:xfrm>
          <a:prstGeom prst="rect">
            <a:avLst/>
          </a:prstGeom>
        </p:spPr>
        <p:txBody>
          <a:bodyPr spcFirstLastPara="1" wrap="square" lIns="91425" tIns="45700" rIns="91425" bIns="45700" anchor="t" anchorCtr="0">
            <a:normAutofit/>
          </a:bodyPr>
          <a:lstStyle/>
          <a:p>
            <a:pPr lvl="0" algn="l" rtl="0">
              <a:spcBef>
                <a:spcPts val="360"/>
              </a:spcBef>
              <a:spcAft>
                <a:spcPts val="0"/>
              </a:spcAft>
              <a:buSzPts val="2250"/>
              <a:buFont typeface="Wingdings" pitchFamily="2" charset="2"/>
              <a:buChar char="v"/>
            </a:pPr>
            <a:r>
              <a:rPr lang="en-US" dirty="0"/>
              <a:t>Why?</a:t>
            </a:r>
            <a:endParaRPr dirty="0"/>
          </a:p>
          <a:p>
            <a:pPr marL="914400" lvl="1" indent="-342900" algn="l" rtl="0">
              <a:spcBef>
                <a:spcPts val="0"/>
              </a:spcBef>
              <a:spcAft>
                <a:spcPts val="0"/>
              </a:spcAft>
              <a:buSzPts val="1800"/>
              <a:buChar char="➢"/>
            </a:pPr>
            <a:r>
              <a:rPr lang="en-US" dirty="0"/>
              <a:t>Current paper studies isolated 1-to-1 steady load</a:t>
            </a:r>
            <a:endParaRPr dirty="0"/>
          </a:p>
          <a:p>
            <a:pPr marL="914400" lvl="1" indent="-342900" algn="l" rtl="0">
              <a:spcBef>
                <a:spcPts val="0"/>
              </a:spcBef>
              <a:spcAft>
                <a:spcPts val="0"/>
              </a:spcAft>
              <a:buSzPts val="1800"/>
              <a:buChar char="➢"/>
            </a:pPr>
            <a:r>
              <a:rPr lang="en-US" dirty="0"/>
              <a:t>Extension studies </a:t>
            </a:r>
            <a:r>
              <a:rPr lang="en-US" b="1" dirty="0"/>
              <a:t>shared-topic </a:t>
            </a:r>
            <a:r>
              <a:rPr lang="en-US" dirty="0"/>
              <a:t>workloads</a:t>
            </a:r>
            <a:endParaRPr dirty="0"/>
          </a:p>
          <a:p>
            <a:pPr marL="914400" lvl="1" indent="-342900" algn="l" rtl="0">
              <a:spcBef>
                <a:spcPts val="0"/>
              </a:spcBef>
              <a:spcAft>
                <a:spcPts val="0"/>
              </a:spcAft>
              <a:buSzPts val="1800"/>
              <a:buChar char="➢"/>
            </a:pPr>
            <a:r>
              <a:rPr lang="en-US" dirty="0"/>
              <a:t>Extension also studies dynamic traffic</a:t>
            </a:r>
          </a:p>
        </p:txBody>
      </p:sp>
      <p:sp>
        <p:nvSpPr>
          <p:cNvPr id="51" name="Google Shape;51;p6"/>
          <p:cNvSpPr txBox="1">
            <a:spLocks noGrp="1"/>
          </p:cNvSpPr>
          <p:nvPr>
            <p:ph type="sldNum" idx="12"/>
          </p:nvPr>
        </p:nvSpPr>
        <p:spPr>
          <a:xfrm>
            <a:off x="3498112" y="6356350"/>
            <a:ext cx="2133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7"/>
          <p:cNvSpPr txBox="1">
            <a:spLocks noGrp="1"/>
          </p:cNvSpPr>
          <p:nvPr>
            <p:ph type="title"/>
          </p:nvPr>
        </p:nvSpPr>
        <p:spPr>
          <a:xfrm>
            <a:off x="457200" y="152400"/>
            <a:ext cx="82296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SzPts val="990"/>
              <a:buNone/>
            </a:pPr>
            <a:r>
              <a:rPr lang="en-US" sz="3260"/>
              <a:t>Experiment 1: Fan-Out Under Steady Load</a:t>
            </a:r>
            <a:endParaRPr sz="3260"/>
          </a:p>
        </p:txBody>
      </p:sp>
      <p:sp>
        <p:nvSpPr>
          <p:cNvPr id="58" name="Google Shape;58;p7"/>
          <p:cNvSpPr txBox="1">
            <a:spLocks noGrp="1"/>
          </p:cNvSpPr>
          <p:nvPr>
            <p:ph type="body" idx="1"/>
          </p:nvPr>
        </p:nvSpPr>
        <p:spPr>
          <a:xfrm>
            <a:off x="457200" y="1600200"/>
            <a:ext cx="8229600" cy="4991700"/>
          </a:xfrm>
          <a:prstGeom prst="rect">
            <a:avLst/>
          </a:prstGeom>
        </p:spPr>
        <p:txBody>
          <a:bodyPr spcFirstLastPara="1" wrap="square" lIns="91425" tIns="45700" rIns="91425" bIns="45700" anchor="t" anchorCtr="0">
            <a:normAutofit fontScale="77500" lnSpcReduction="20000"/>
          </a:bodyPr>
          <a:lstStyle/>
          <a:p>
            <a:pPr marL="457200" lvl="0" indent="-328613" algn="l" rtl="0">
              <a:spcBef>
                <a:spcPts val="360"/>
              </a:spcBef>
              <a:spcAft>
                <a:spcPts val="0"/>
              </a:spcAft>
              <a:buSzPct val="66176"/>
              <a:buChar char="❖"/>
            </a:pPr>
            <a:r>
              <a:rPr lang="en-US" dirty="0"/>
              <a:t>Research question</a:t>
            </a:r>
            <a:endParaRPr dirty="0"/>
          </a:p>
          <a:p>
            <a:pPr lvl="1" indent="-308610">
              <a:spcBef>
                <a:spcPts val="0"/>
              </a:spcBef>
              <a:buSzPct val="64286"/>
              <a:buChar char="➢"/>
            </a:pPr>
            <a:r>
              <a:rPr lang="en-US" dirty="0"/>
              <a:t>How </a:t>
            </a:r>
            <a:r>
              <a:rPr lang="en-US" b="1" dirty="0"/>
              <a:t>efficiently </a:t>
            </a:r>
            <a:r>
              <a:rPr lang="en-US" dirty="0"/>
              <a:t>can each </a:t>
            </a:r>
            <a:r>
              <a:rPr lang="en-US" b="1" dirty="0"/>
              <a:t>broker replicate </a:t>
            </a:r>
            <a:r>
              <a:rPr lang="en-US" dirty="0"/>
              <a:t>shared-topic messages to </a:t>
            </a:r>
            <a:r>
              <a:rPr lang="en-US" b="1" dirty="0"/>
              <a:t>many subscribers</a:t>
            </a:r>
            <a:r>
              <a:rPr lang="en-US" dirty="0"/>
              <a:t>?</a:t>
            </a:r>
          </a:p>
          <a:p>
            <a:pPr marL="605790" lvl="1" indent="0">
              <a:spcBef>
                <a:spcPts val="0"/>
              </a:spcBef>
              <a:buSzPct val="64286"/>
              <a:buNone/>
            </a:pPr>
            <a:endParaRPr dirty="0"/>
          </a:p>
          <a:p>
            <a:pPr marL="457200" lvl="0" indent="-328613" algn="l" rtl="0">
              <a:spcBef>
                <a:spcPts val="360"/>
              </a:spcBef>
              <a:spcAft>
                <a:spcPts val="0"/>
              </a:spcAft>
              <a:buSzPct val="66176"/>
              <a:buChar char="❖"/>
            </a:pPr>
            <a:r>
              <a:rPr lang="en-US" dirty="0"/>
              <a:t>Topology</a:t>
            </a:r>
            <a:endParaRPr dirty="0"/>
          </a:p>
          <a:p>
            <a:pPr lvl="1" indent="-308610">
              <a:spcBef>
                <a:spcPts val="0"/>
              </a:spcBef>
              <a:buSzPct val="64286"/>
              <a:buChar char="➢"/>
            </a:pPr>
            <a:r>
              <a:rPr lang="en-US" dirty="0"/>
              <a:t>P publishers → broker → S subscribers</a:t>
            </a:r>
            <a:endParaRPr dirty="0"/>
          </a:p>
          <a:p>
            <a:pPr marL="914400" lvl="1" indent="-308610" algn="l" rtl="0">
              <a:spcBef>
                <a:spcPts val="0"/>
              </a:spcBef>
              <a:spcAft>
                <a:spcPts val="0"/>
              </a:spcAft>
              <a:buSzPct val="64286"/>
              <a:buChar char="➢"/>
            </a:pPr>
            <a:r>
              <a:rPr lang="en-US" dirty="0"/>
              <a:t>All publishers publish to the same topic</a:t>
            </a:r>
            <a:endParaRPr dirty="0"/>
          </a:p>
          <a:p>
            <a:pPr marL="914400" lvl="1" indent="-308610" algn="l" rtl="0">
              <a:spcBef>
                <a:spcPts val="0"/>
              </a:spcBef>
              <a:spcAft>
                <a:spcPts val="0"/>
              </a:spcAft>
              <a:buSzPct val="64286"/>
              <a:buChar char="➢"/>
            </a:pPr>
            <a:r>
              <a:rPr lang="en-US" dirty="0"/>
              <a:t>All subscribers subscribe to the same topic</a:t>
            </a:r>
            <a:endParaRPr dirty="0"/>
          </a:p>
          <a:p>
            <a:pPr marL="914400" lvl="0" indent="0" algn="l" rtl="0">
              <a:spcBef>
                <a:spcPts val="360"/>
              </a:spcBef>
              <a:spcAft>
                <a:spcPts val="0"/>
              </a:spcAft>
              <a:buNone/>
            </a:pPr>
            <a:endParaRPr dirty="0"/>
          </a:p>
          <a:p>
            <a:pPr marL="457200" lvl="0" indent="-328613" algn="l" rtl="0">
              <a:spcBef>
                <a:spcPts val="360"/>
              </a:spcBef>
              <a:spcAft>
                <a:spcPts val="0"/>
              </a:spcAft>
              <a:buSzPct val="66176"/>
              <a:buChar char="❖"/>
            </a:pPr>
            <a:r>
              <a:rPr lang="en-US" dirty="0"/>
              <a:t>Publisher scaling rule</a:t>
            </a:r>
            <a:endParaRPr dirty="0"/>
          </a:p>
          <a:p>
            <a:pPr marL="914400" lvl="1" indent="-308610" algn="l" rtl="0">
              <a:spcBef>
                <a:spcPts val="0"/>
              </a:spcBef>
              <a:spcAft>
                <a:spcPts val="0"/>
              </a:spcAft>
              <a:buSzPct val="64286"/>
              <a:buChar char="➢"/>
            </a:pPr>
            <a:r>
              <a:rPr lang="en-US" dirty="0"/>
              <a:t>P = max(1, ceil(S / 100))</a:t>
            </a:r>
            <a:endParaRPr dirty="0"/>
          </a:p>
          <a:p>
            <a:pPr marL="914400" lvl="1" indent="-308610" algn="l" rtl="0">
              <a:spcBef>
                <a:spcPts val="0"/>
              </a:spcBef>
              <a:spcAft>
                <a:spcPts val="0"/>
              </a:spcAft>
              <a:buSzPct val="64286"/>
              <a:buChar char="➢"/>
            </a:pPr>
            <a:r>
              <a:rPr lang="en-US" dirty="0"/>
              <a:t>use 1 publisher per 100 subscribers</a:t>
            </a:r>
            <a:endParaRPr dirty="0"/>
          </a:p>
          <a:p>
            <a:pPr marL="914400" lvl="0" indent="0" algn="l" rtl="0">
              <a:spcBef>
                <a:spcPts val="360"/>
              </a:spcBef>
              <a:spcAft>
                <a:spcPts val="0"/>
              </a:spcAft>
              <a:buNone/>
            </a:pPr>
            <a:endParaRPr dirty="0"/>
          </a:p>
          <a:p>
            <a:pPr marL="457200" lvl="0" indent="-328613" algn="l" rtl="0">
              <a:spcBef>
                <a:spcPts val="360"/>
              </a:spcBef>
              <a:spcAft>
                <a:spcPts val="0"/>
              </a:spcAft>
              <a:buSzPct val="66176"/>
              <a:buChar char="❖"/>
            </a:pPr>
            <a:r>
              <a:rPr lang="en-US" dirty="0"/>
              <a:t>Suggested subscriber scales</a:t>
            </a:r>
            <a:endParaRPr dirty="0"/>
          </a:p>
          <a:p>
            <a:pPr marL="914400" lvl="1" indent="-308610" algn="l" rtl="0">
              <a:spcBef>
                <a:spcPts val="0"/>
              </a:spcBef>
              <a:spcAft>
                <a:spcPts val="0"/>
              </a:spcAft>
              <a:buSzPct val="64286"/>
              <a:buChar char="➢"/>
            </a:pPr>
            <a:r>
              <a:rPr lang="en-US" dirty="0"/>
              <a:t>S = 500, 1000, … , 5000</a:t>
            </a:r>
            <a:endParaRPr dirty="0"/>
          </a:p>
          <a:p>
            <a:pPr marL="914400" lvl="1" indent="-308610" algn="l" rtl="0">
              <a:spcBef>
                <a:spcPts val="0"/>
              </a:spcBef>
              <a:spcAft>
                <a:spcPts val="0"/>
              </a:spcAft>
              <a:buSzPct val="64286"/>
              <a:buChar char="➢"/>
            </a:pPr>
            <a:r>
              <a:rPr lang="en-US" dirty="0"/>
              <a:t>then publishers become: 5, 10, 20, … , 50</a:t>
            </a:r>
            <a:endParaRPr dirty="0"/>
          </a:p>
        </p:txBody>
      </p:sp>
      <p:sp>
        <p:nvSpPr>
          <p:cNvPr id="59" name="Google Shape;59;p7"/>
          <p:cNvSpPr txBox="1">
            <a:spLocks noGrp="1"/>
          </p:cNvSpPr>
          <p:nvPr>
            <p:ph type="sldNum" idx="12"/>
          </p:nvPr>
        </p:nvSpPr>
        <p:spPr>
          <a:xfrm>
            <a:off x="3498112" y="6356350"/>
            <a:ext cx="2133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8">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8">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8">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8">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8">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8">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8">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E13BA63-D0C8-7D91-632D-B9CA543256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8DF8F2-0F4C-8AF2-F0FA-378E2C0A75AE}"/>
              </a:ext>
            </a:extLst>
          </p:cNvPr>
          <p:cNvSpPr>
            <a:spLocks noGrp="1"/>
          </p:cNvSpPr>
          <p:nvPr>
            <p:ph type="title"/>
          </p:nvPr>
        </p:nvSpPr>
        <p:spPr/>
        <p:txBody>
          <a:bodyPr/>
          <a:lstStyle/>
          <a:p>
            <a:r>
              <a:rPr lang="en-US" dirty="0"/>
              <a:t>Use cases of Fan-Out Topology</a:t>
            </a:r>
          </a:p>
        </p:txBody>
      </p:sp>
      <p:sp>
        <p:nvSpPr>
          <p:cNvPr id="3" name="Text Placeholder 2">
            <a:extLst>
              <a:ext uri="{FF2B5EF4-FFF2-40B4-BE49-F238E27FC236}">
                <a16:creationId xmlns:a16="http://schemas.microsoft.com/office/drawing/2014/main" id="{B1303A89-B991-DA08-E221-DD9C9DCD826B}"/>
              </a:ext>
            </a:extLst>
          </p:cNvPr>
          <p:cNvSpPr>
            <a:spLocks noGrp="1"/>
          </p:cNvSpPr>
          <p:nvPr>
            <p:ph type="body" idx="1"/>
          </p:nvPr>
        </p:nvSpPr>
        <p:spPr>
          <a:xfrm>
            <a:off x="322096" y="1664208"/>
            <a:ext cx="8485632" cy="4756150"/>
          </a:xfrm>
        </p:spPr>
        <p:txBody>
          <a:bodyPr>
            <a:normAutofit fontScale="92500" lnSpcReduction="20000"/>
          </a:bodyPr>
          <a:lstStyle/>
          <a:p>
            <a:r>
              <a:rPr lang="en-US" b="1" dirty="0"/>
              <a:t>Industrial control-state dissemination</a:t>
            </a:r>
          </a:p>
          <a:p>
            <a:pPr lvl="1"/>
            <a:r>
              <a:rPr lang="en-US" b="1" dirty="0"/>
              <a:t>one</a:t>
            </a:r>
            <a:r>
              <a:rPr lang="en-US" dirty="0"/>
              <a:t> supervisory </a:t>
            </a:r>
            <a:r>
              <a:rPr lang="en-US" b="1" dirty="0"/>
              <a:t>controller</a:t>
            </a:r>
            <a:r>
              <a:rPr lang="en-US" dirty="0"/>
              <a:t> distributes setpoints, schedules, or control parameters to </a:t>
            </a:r>
            <a:r>
              <a:rPr lang="en-US" b="1" dirty="0"/>
              <a:t>many</a:t>
            </a:r>
            <a:r>
              <a:rPr lang="en-US" dirty="0"/>
              <a:t> </a:t>
            </a:r>
            <a:r>
              <a:rPr lang="en-US" b="1" dirty="0"/>
              <a:t>machines</a:t>
            </a:r>
            <a:r>
              <a:rPr lang="en-US" dirty="0"/>
              <a:t> on the shop floor</a:t>
            </a:r>
          </a:p>
          <a:p>
            <a:pPr lvl="1"/>
            <a:endParaRPr lang="en-US" dirty="0"/>
          </a:p>
          <a:p>
            <a:r>
              <a:rPr lang="en-US" b="1" dirty="0"/>
              <a:t>Plant-wide configuration updates</a:t>
            </a:r>
          </a:p>
          <a:p>
            <a:pPr lvl="1"/>
            <a:r>
              <a:rPr lang="en-US" dirty="0"/>
              <a:t>one management service pushes configuration or policy changes to many gateways and devices</a:t>
            </a:r>
          </a:p>
          <a:p>
            <a:pPr lvl="1"/>
            <a:endParaRPr lang="en-US" b="1" dirty="0"/>
          </a:p>
          <a:p>
            <a:r>
              <a:rPr lang="en-US" b="1" dirty="0"/>
              <a:t>Operational dashboard distribution</a:t>
            </a:r>
          </a:p>
          <a:p>
            <a:pPr lvl="1"/>
            <a:r>
              <a:rPr lang="en-US" dirty="0"/>
              <a:t>one analytics service publishes processed plant status to many operator consoles and local applications</a:t>
            </a:r>
          </a:p>
        </p:txBody>
      </p:sp>
      <p:sp>
        <p:nvSpPr>
          <p:cNvPr id="4" name="Slide Number Placeholder 3">
            <a:extLst>
              <a:ext uri="{FF2B5EF4-FFF2-40B4-BE49-F238E27FC236}">
                <a16:creationId xmlns:a16="http://schemas.microsoft.com/office/drawing/2014/main" id="{262826FC-CA7D-8C13-067E-717D8A71BC8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961654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8"/>
          <p:cNvSpPr txBox="1">
            <a:spLocks noGrp="1"/>
          </p:cNvSpPr>
          <p:nvPr>
            <p:ph type="title"/>
          </p:nvPr>
        </p:nvSpPr>
        <p:spPr>
          <a:xfrm>
            <a:off x="457200" y="152400"/>
            <a:ext cx="82296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SzPts val="990"/>
              <a:buNone/>
            </a:pPr>
            <a:r>
              <a:rPr lang="en-US" sz="3260" dirty="0"/>
              <a:t>Experiment 1: Fan-Out Under Steady Load</a:t>
            </a:r>
            <a:endParaRPr sz="3260" dirty="0"/>
          </a:p>
        </p:txBody>
      </p:sp>
      <p:sp>
        <p:nvSpPr>
          <p:cNvPr id="66" name="Google Shape;66;p8"/>
          <p:cNvSpPr txBox="1">
            <a:spLocks noGrp="1"/>
          </p:cNvSpPr>
          <p:nvPr>
            <p:ph type="body" idx="1"/>
          </p:nvPr>
        </p:nvSpPr>
        <p:spPr>
          <a:xfrm>
            <a:off x="150250" y="1696424"/>
            <a:ext cx="8829300" cy="4907576"/>
          </a:xfrm>
          <a:prstGeom prst="rect">
            <a:avLst/>
          </a:prstGeom>
        </p:spPr>
        <p:txBody>
          <a:bodyPr spcFirstLastPara="1" wrap="square" lIns="91425" tIns="45700" rIns="91425" bIns="45700" anchor="t" anchorCtr="0">
            <a:normAutofit fontScale="70000" lnSpcReduction="20000"/>
          </a:bodyPr>
          <a:lstStyle/>
          <a:p>
            <a:pPr marL="457200" lvl="0" indent="-350044" algn="l" rtl="0">
              <a:spcBef>
                <a:spcPts val="360"/>
              </a:spcBef>
              <a:spcAft>
                <a:spcPts val="0"/>
              </a:spcAft>
              <a:buSzPct val="66176"/>
              <a:buChar char="❖"/>
            </a:pPr>
            <a:r>
              <a:rPr lang="en-US" dirty="0"/>
              <a:t>Offered load</a:t>
            </a:r>
            <a:endParaRPr dirty="0"/>
          </a:p>
          <a:p>
            <a:pPr marL="914400" lvl="1" indent="-325755" algn="l" rtl="0">
              <a:lnSpc>
                <a:spcPct val="115000"/>
              </a:lnSpc>
              <a:spcBef>
                <a:spcPts val="0"/>
              </a:spcBef>
              <a:spcAft>
                <a:spcPts val="0"/>
              </a:spcAft>
              <a:buSzPct val="64286"/>
              <a:buChar char="➢"/>
            </a:pPr>
            <a:r>
              <a:rPr lang="en-US" dirty="0"/>
              <a:t>Publish throughput target = P × 10</a:t>
            </a:r>
            <a:endParaRPr dirty="0"/>
          </a:p>
          <a:p>
            <a:pPr marL="914400" lvl="1" indent="-325755" algn="l" rtl="0">
              <a:lnSpc>
                <a:spcPct val="115000"/>
              </a:lnSpc>
              <a:spcBef>
                <a:spcPts val="0"/>
              </a:spcBef>
              <a:spcAft>
                <a:spcPts val="0"/>
              </a:spcAft>
              <a:buSzPct val="64286"/>
              <a:buChar char="➢"/>
            </a:pPr>
            <a:r>
              <a:rPr lang="en-US" b="1" dirty="0"/>
              <a:t>Delivery throughput target</a:t>
            </a:r>
            <a:r>
              <a:rPr lang="en-US" dirty="0"/>
              <a:t> = P × 10 × S</a:t>
            </a:r>
            <a:endParaRPr dirty="0"/>
          </a:p>
          <a:p>
            <a:pPr marL="457200" lvl="0" indent="-350044" algn="l" rtl="0">
              <a:spcBef>
                <a:spcPts val="360"/>
              </a:spcBef>
              <a:spcAft>
                <a:spcPts val="0"/>
              </a:spcAft>
              <a:buSzPct val="66176"/>
              <a:buChar char="❖"/>
            </a:pPr>
            <a:endParaRPr lang="en-US" dirty="0"/>
          </a:p>
          <a:p>
            <a:pPr marL="457200" lvl="0" indent="-350044" algn="l" rtl="0">
              <a:spcBef>
                <a:spcPts val="360"/>
              </a:spcBef>
              <a:spcAft>
                <a:spcPts val="0"/>
              </a:spcAft>
              <a:buSzPct val="66176"/>
              <a:buChar char="❖"/>
            </a:pPr>
            <a:r>
              <a:rPr lang="en-US" dirty="0"/>
              <a:t>Metrics</a:t>
            </a:r>
            <a:endParaRPr dirty="0"/>
          </a:p>
          <a:p>
            <a:pPr marL="914400" lvl="1" indent="-325755" algn="l" rtl="0">
              <a:lnSpc>
                <a:spcPct val="115000"/>
              </a:lnSpc>
              <a:spcBef>
                <a:spcPts val="0"/>
              </a:spcBef>
              <a:spcAft>
                <a:spcPts val="0"/>
              </a:spcAft>
              <a:buSzPct val="64286"/>
              <a:buChar char="➢"/>
            </a:pPr>
            <a:r>
              <a:rPr lang="en-US" dirty="0"/>
              <a:t>Delivery Throughput</a:t>
            </a:r>
          </a:p>
          <a:p>
            <a:pPr marL="914400" lvl="1" indent="-325755" algn="l" rtl="0">
              <a:lnSpc>
                <a:spcPct val="115000"/>
              </a:lnSpc>
              <a:spcBef>
                <a:spcPts val="0"/>
              </a:spcBef>
              <a:spcAft>
                <a:spcPts val="0"/>
              </a:spcAft>
              <a:buSzPct val="64286"/>
              <a:buChar char="➢"/>
            </a:pPr>
            <a:r>
              <a:rPr lang="en-US" dirty="0"/>
              <a:t>Latency</a:t>
            </a:r>
            <a:endParaRPr dirty="0"/>
          </a:p>
          <a:p>
            <a:pPr marL="914400" lvl="1" indent="-325755" algn="l" rtl="0">
              <a:lnSpc>
                <a:spcPct val="115000"/>
              </a:lnSpc>
              <a:spcBef>
                <a:spcPts val="0"/>
              </a:spcBef>
              <a:spcAft>
                <a:spcPts val="0"/>
              </a:spcAft>
              <a:buSzPct val="64286"/>
              <a:buChar char="➢"/>
            </a:pPr>
            <a:r>
              <a:rPr lang="en-US" dirty="0"/>
              <a:t>CPU Utilization</a:t>
            </a:r>
            <a:endParaRPr dirty="0"/>
          </a:p>
          <a:p>
            <a:pPr marL="914400" lvl="1" indent="-325755" algn="l" rtl="0">
              <a:lnSpc>
                <a:spcPct val="115000"/>
              </a:lnSpc>
              <a:spcBef>
                <a:spcPts val="0"/>
              </a:spcBef>
              <a:spcAft>
                <a:spcPts val="0"/>
              </a:spcAft>
              <a:buSzPct val="64286"/>
              <a:buChar char="➢"/>
            </a:pPr>
            <a:r>
              <a:rPr lang="en-US" dirty="0"/>
              <a:t>Memory footprint</a:t>
            </a:r>
          </a:p>
          <a:p>
            <a:pPr lvl="1" indent="-325755">
              <a:lnSpc>
                <a:spcPct val="115000"/>
              </a:lnSpc>
              <a:spcBef>
                <a:spcPts val="0"/>
              </a:spcBef>
              <a:buSzPct val="64286"/>
              <a:buChar char="➢"/>
            </a:pPr>
            <a:r>
              <a:rPr lang="en-US" dirty="0">
                <a:solidFill>
                  <a:schemeClr val="accent2"/>
                </a:solidFill>
              </a:rPr>
              <a:t>Network overhead / bandwidth usage</a:t>
            </a:r>
          </a:p>
          <a:p>
            <a:pPr marL="914400" lvl="0" indent="0">
              <a:buNone/>
            </a:pPr>
            <a:endParaRPr lang="en-US" dirty="0"/>
          </a:p>
          <a:p>
            <a:pPr lvl="0" indent="-350044">
              <a:buSzPct val="66176"/>
              <a:buChar char="❖"/>
            </a:pPr>
            <a:r>
              <a:rPr lang="en-US" dirty="0"/>
              <a:t>Use Cases</a:t>
            </a:r>
          </a:p>
          <a:p>
            <a:pPr marL="1021556" lvl="1" indent="-457200">
              <a:buSzPct val="66176"/>
              <a:buFont typeface="Wingdings" pitchFamily="2" charset="2"/>
              <a:buChar char="Ø"/>
            </a:pPr>
            <a:r>
              <a:rPr lang="en-US" b="1" dirty="0"/>
              <a:t>Industrial controller</a:t>
            </a:r>
            <a:r>
              <a:rPr lang="en-US" dirty="0"/>
              <a:t> sends setpoints to </a:t>
            </a:r>
            <a:r>
              <a:rPr lang="en-US" b="1" dirty="0"/>
              <a:t>many machines</a:t>
            </a:r>
          </a:p>
          <a:p>
            <a:pPr marL="1021556" lvl="1" indent="-457200">
              <a:buSzPct val="66176"/>
              <a:buFont typeface="Wingdings" pitchFamily="2" charset="2"/>
              <a:buChar char="Ø"/>
            </a:pPr>
            <a:r>
              <a:rPr lang="en-US" b="1" dirty="0"/>
              <a:t>Management service </a:t>
            </a:r>
            <a:r>
              <a:rPr lang="en-US" dirty="0"/>
              <a:t>pushes configuration to </a:t>
            </a:r>
            <a:r>
              <a:rPr lang="en-US" b="1" dirty="0"/>
              <a:t>many gateways</a:t>
            </a:r>
          </a:p>
          <a:p>
            <a:pPr marL="1021556" lvl="1" indent="-457200">
              <a:buSzPct val="66176"/>
              <a:buFont typeface="Wingdings" pitchFamily="2" charset="2"/>
              <a:buChar char="Ø"/>
            </a:pPr>
            <a:r>
              <a:rPr lang="en-US" b="1" dirty="0"/>
              <a:t>Analytics service </a:t>
            </a:r>
            <a:r>
              <a:rPr lang="en-US" dirty="0"/>
              <a:t>distributes plant status </a:t>
            </a:r>
            <a:r>
              <a:rPr lang="en-US" b="1" dirty="0"/>
              <a:t>to dashboards</a:t>
            </a:r>
          </a:p>
          <a:p>
            <a:pPr marL="131445" indent="0">
              <a:lnSpc>
                <a:spcPct val="115000"/>
              </a:lnSpc>
              <a:spcBef>
                <a:spcPts val="0"/>
              </a:spcBef>
              <a:buSzPct val="64286"/>
              <a:buNone/>
            </a:pPr>
            <a:endParaRPr lang="en-US" dirty="0">
              <a:solidFill>
                <a:schemeClr val="accent2"/>
              </a:solidFill>
            </a:endParaRPr>
          </a:p>
        </p:txBody>
      </p:sp>
      <p:sp>
        <p:nvSpPr>
          <p:cNvPr id="67" name="Google Shape;67;p8"/>
          <p:cNvSpPr txBox="1">
            <a:spLocks noGrp="1"/>
          </p:cNvSpPr>
          <p:nvPr>
            <p:ph type="sldNum" idx="12"/>
          </p:nvPr>
        </p:nvSpPr>
        <p:spPr>
          <a:xfrm>
            <a:off x="3498112" y="6356350"/>
            <a:ext cx="2133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SzPts val="1200"/>
              <a:buFont typeface="Arial"/>
              <a:buNone/>
            </a:pPr>
            <a:fld id="{00000000-1234-1234-1234-123412341234}" type="slidenum">
              <a:rPr lang="en-US"/>
              <a:t>6</a:t>
            </a:fld>
            <a:endParaRPr/>
          </a:p>
        </p:txBody>
      </p:sp>
      <p:pic>
        <p:nvPicPr>
          <p:cNvPr id="4" name="Picture 3">
            <a:extLst>
              <a:ext uri="{FF2B5EF4-FFF2-40B4-BE49-F238E27FC236}">
                <a16:creationId xmlns:a16="http://schemas.microsoft.com/office/drawing/2014/main" id="{735255CA-C006-95B0-3CD7-40FDC94EBBD0}"/>
              </a:ext>
            </a:extLst>
          </p:cNvPr>
          <p:cNvPicPr>
            <a:picLocks noChangeAspect="1"/>
          </p:cNvPicPr>
          <p:nvPr/>
        </p:nvPicPr>
        <p:blipFill>
          <a:blip r:embed="rId3"/>
          <a:stretch>
            <a:fillRect/>
          </a:stretch>
        </p:blipFill>
        <p:spPr>
          <a:xfrm>
            <a:off x="3895337" y="2729652"/>
            <a:ext cx="5098413" cy="177556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6">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6">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6">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6">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6">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6">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6">
                                            <p:txEl>
                                              <p:pRg st="12" end="1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6">
                                            <p:txEl>
                                              <p:pRg st="13" end="1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6">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80"/>
        <p:cNvGrpSpPr/>
        <p:nvPr/>
      </p:nvGrpSpPr>
      <p:grpSpPr>
        <a:xfrm>
          <a:off x="0" y="0"/>
          <a:ext cx="0" cy="0"/>
          <a:chOff x="0" y="0"/>
          <a:chExt cx="0" cy="0"/>
        </a:xfrm>
      </p:grpSpPr>
      <p:sp>
        <p:nvSpPr>
          <p:cNvPr id="81" name="Google Shape;81;p10"/>
          <p:cNvSpPr txBox="1">
            <a:spLocks noGrp="1"/>
          </p:cNvSpPr>
          <p:nvPr>
            <p:ph type="title"/>
          </p:nvPr>
        </p:nvSpPr>
        <p:spPr>
          <a:xfrm>
            <a:off x="457200" y="152400"/>
            <a:ext cx="82296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a:t>Fan-Out: What We Expect</a:t>
            </a:r>
            <a:endParaRPr/>
          </a:p>
        </p:txBody>
      </p:sp>
      <p:sp>
        <p:nvSpPr>
          <p:cNvPr id="82" name="Google Shape;82;p10"/>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rmAutofit fontScale="85000" lnSpcReduction="20000"/>
          </a:bodyPr>
          <a:lstStyle/>
          <a:p>
            <a:pPr marL="457200" lvl="0" indent="-350044" algn="l" rtl="0">
              <a:lnSpc>
                <a:spcPct val="115000"/>
              </a:lnSpc>
              <a:spcBef>
                <a:spcPts val="360"/>
              </a:spcBef>
              <a:spcAft>
                <a:spcPts val="0"/>
              </a:spcAft>
              <a:buSzPct val="66176"/>
              <a:buChar char="❖"/>
            </a:pPr>
            <a:r>
              <a:rPr lang="en-US" dirty="0"/>
              <a:t>Expect to see</a:t>
            </a:r>
            <a:endParaRPr dirty="0"/>
          </a:p>
          <a:p>
            <a:pPr marL="914400" lvl="1" indent="-325755" algn="l" rtl="0">
              <a:lnSpc>
                <a:spcPct val="115000"/>
              </a:lnSpc>
              <a:spcBef>
                <a:spcPts val="0"/>
              </a:spcBef>
              <a:spcAft>
                <a:spcPts val="0"/>
              </a:spcAft>
              <a:buSzPct val="64286"/>
              <a:buChar char="➢"/>
            </a:pPr>
            <a:r>
              <a:rPr lang="en-US" b="1"/>
              <a:t>Delivery</a:t>
            </a:r>
            <a:r>
              <a:rPr lang="en-US"/>
              <a:t> overhead rises </a:t>
            </a:r>
            <a:r>
              <a:rPr lang="en-US" dirty="0"/>
              <a:t>with </a:t>
            </a:r>
            <a:r>
              <a:rPr lang="en-US" b="1" dirty="0"/>
              <a:t>subscriber</a:t>
            </a:r>
            <a:r>
              <a:rPr lang="en-US" dirty="0"/>
              <a:t> count</a:t>
            </a:r>
            <a:endParaRPr dirty="0"/>
          </a:p>
          <a:p>
            <a:pPr marL="914400" lvl="1" indent="-325755" algn="l" rtl="0">
              <a:lnSpc>
                <a:spcPct val="115000"/>
              </a:lnSpc>
              <a:spcBef>
                <a:spcPts val="0"/>
              </a:spcBef>
              <a:spcAft>
                <a:spcPts val="0"/>
              </a:spcAft>
              <a:buSzPct val="64286"/>
              <a:buChar char="➢"/>
            </a:pPr>
            <a:r>
              <a:rPr lang="en-US" b="1" dirty="0"/>
              <a:t>CPU</a:t>
            </a:r>
            <a:r>
              <a:rPr lang="en-US" dirty="0"/>
              <a:t> rises quickly</a:t>
            </a:r>
            <a:endParaRPr dirty="0"/>
          </a:p>
          <a:p>
            <a:pPr marL="914400" lvl="1" indent="-325755" algn="l" rtl="0">
              <a:lnSpc>
                <a:spcPct val="115000"/>
              </a:lnSpc>
              <a:spcBef>
                <a:spcPts val="0"/>
              </a:spcBef>
              <a:spcAft>
                <a:spcPts val="0"/>
              </a:spcAft>
              <a:buSzPct val="64286"/>
              <a:buChar char="➢"/>
            </a:pPr>
            <a:r>
              <a:rPr lang="en-US" b="1" dirty="0"/>
              <a:t>Latency</a:t>
            </a:r>
            <a:r>
              <a:rPr lang="en-US" dirty="0"/>
              <a:t> rises at high fan-out</a:t>
            </a:r>
            <a:endParaRPr dirty="0"/>
          </a:p>
          <a:p>
            <a:pPr marL="914400" lvl="1" indent="-325755" algn="l" rtl="0">
              <a:lnSpc>
                <a:spcPct val="115000"/>
              </a:lnSpc>
              <a:spcBef>
                <a:spcPts val="0"/>
              </a:spcBef>
              <a:spcAft>
                <a:spcPts val="0"/>
              </a:spcAft>
              <a:buSzPct val="64286"/>
              <a:buChar char="➢"/>
            </a:pPr>
            <a:r>
              <a:rPr lang="en-US" b="1" dirty="0"/>
              <a:t>Multi-threaded</a:t>
            </a:r>
            <a:r>
              <a:rPr lang="en-US" dirty="0"/>
              <a:t> brokers scale </a:t>
            </a:r>
            <a:r>
              <a:rPr lang="en-US" b="1" dirty="0"/>
              <a:t>better</a:t>
            </a:r>
            <a:endParaRPr b="1" dirty="0"/>
          </a:p>
          <a:p>
            <a:pPr marL="914400" lvl="1" indent="-325755" algn="l" rtl="0">
              <a:lnSpc>
                <a:spcPct val="115000"/>
              </a:lnSpc>
              <a:spcBef>
                <a:spcPts val="0"/>
              </a:spcBef>
              <a:spcAft>
                <a:spcPts val="0"/>
              </a:spcAft>
              <a:buSzPct val="64286"/>
              <a:buChar char="➢"/>
            </a:pPr>
            <a:r>
              <a:rPr lang="en-US" b="1" dirty="0"/>
              <a:t>Single-threaded </a:t>
            </a:r>
            <a:r>
              <a:rPr lang="en-US" dirty="0"/>
              <a:t>brokers </a:t>
            </a:r>
            <a:r>
              <a:rPr lang="en-US" b="1" dirty="0"/>
              <a:t>saturate</a:t>
            </a:r>
            <a:r>
              <a:rPr lang="en-US" dirty="0"/>
              <a:t> earlier</a:t>
            </a:r>
            <a:endParaRPr dirty="0"/>
          </a:p>
          <a:p>
            <a:pPr marL="457200" lvl="0" indent="0" algn="l" rtl="0">
              <a:lnSpc>
                <a:spcPct val="115000"/>
              </a:lnSpc>
              <a:spcBef>
                <a:spcPts val="360"/>
              </a:spcBef>
              <a:spcAft>
                <a:spcPts val="0"/>
              </a:spcAft>
              <a:buNone/>
            </a:pPr>
            <a:endParaRPr dirty="0"/>
          </a:p>
          <a:p>
            <a:pPr marL="457200" lvl="0" indent="-350044" algn="l" rtl="0">
              <a:lnSpc>
                <a:spcPct val="115000"/>
              </a:lnSpc>
              <a:spcBef>
                <a:spcPts val="360"/>
              </a:spcBef>
              <a:spcAft>
                <a:spcPts val="0"/>
              </a:spcAft>
              <a:buSzPct val="66176"/>
              <a:buChar char="❖"/>
            </a:pPr>
            <a:r>
              <a:rPr lang="en-US" dirty="0"/>
              <a:t>We learn</a:t>
            </a:r>
            <a:endParaRPr dirty="0"/>
          </a:p>
          <a:p>
            <a:pPr marL="914400" lvl="1" indent="-325755" algn="l" rtl="0">
              <a:lnSpc>
                <a:spcPct val="115000"/>
              </a:lnSpc>
              <a:spcBef>
                <a:spcPts val="0"/>
              </a:spcBef>
              <a:spcAft>
                <a:spcPts val="0"/>
              </a:spcAft>
              <a:buSzPct val="64286"/>
              <a:buChar char="➢"/>
            </a:pPr>
            <a:r>
              <a:rPr lang="en-US" dirty="0"/>
              <a:t>Which </a:t>
            </a:r>
            <a:r>
              <a:rPr lang="en-US" b="1" dirty="0"/>
              <a:t>brokers</a:t>
            </a:r>
            <a:r>
              <a:rPr lang="en-US" dirty="0"/>
              <a:t> are best for </a:t>
            </a:r>
            <a:r>
              <a:rPr lang="en-US" b="1" dirty="0"/>
              <a:t>broadcast</a:t>
            </a:r>
            <a:endParaRPr b="1" dirty="0"/>
          </a:p>
          <a:p>
            <a:pPr marL="914400" lvl="1" indent="-325755" algn="l" rtl="0">
              <a:lnSpc>
                <a:spcPct val="115000"/>
              </a:lnSpc>
              <a:spcBef>
                <a:spcPts val="0"/>
              </a:spcBef>
              <a:spcAft>
                <a:spcPts val="0"/>
              </a:spcAft>
              <a:buSzPct val="64286"/>
              <a:buChar char="➢"/>
            </a:pPr>
            <a:r>
              <a:rPr lang="en-US" dirty="0"/>
              <a:t>Cost of message replication</a:t>
            </a:r>
            <a:endParaRPr dirty="0"/>
          </a:p>
          <a:p>
            <a:pPr marL="914400" lvl="1" indent="-325755" algn="l" rtl="0">
              <a:lnSpc>
                <a:spcPct val="115000"/>
              </a:lnSpc>
              <a:spcBef>
                <a:spcPts val="0"/>
              </a:spcBef>
              <a:spcAft>
                <a:spcPts val="0"/>
              </a:spcAft>
              <a:buSzPct val="64286"/>
              <a:buChar char="➢"/>
            </a:pPr>
            <a:r>
              <a:rPr lang="en-US" dirty="0"/>
              <a:t>Whether 1-to-1 strength also helps in fan-out</a:t>
            </a:r>
            <a:endParaRPr dirty="0"/>
          </a:p>
        </p:txBody>
      </p:sp>
      <p:sp>
        <p:nvSpPr>
          <p:cNvPr id="83" name="Google Shape;83;p10"/>
          <p:cNvSpPr txBox="1">
            <a:spLocks noGrp="1"/>
          </p:cNvSpPr>
          <p:nvPr>
            <p:ph type="sldNum" idx="12"/>
          </p:nvPr>
        </p:nvSpPr>
        <p:spPr>
          <a:xfrm>
            <a:off x="3498112" y="6356350"/>
            <a:ext cx="2133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2">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2">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2">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E7744-F82D-27DF-EE59-9CBBEE1125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278BEC-4FD7-788B-8345-8B44AE10C9E0}"/>
              </a:ext>
            </a:extLst>
          </p:cNvPr>
          <p:cNvSpPr>
            <a:spLocks noGrp="1"/>
          </p:cNvSpPr>
          <p:nvPr>
            <p:ph type="title"/>
          </p:nvPr>
        </p:nvSpPr>
        <p:spPr/>
        <p:txBody>
          <a:bodyPr>
            <a:normAutofit fontScale="90000"/>
          </a:bodyPr>
          <a:lstStyle/>
          <a:p>
            <a:r>
              <a:rPr lang="en-US" dirty="0"/>
              <a:t>Results (Throughput)</a:t>
            </a:r>
            <a:br>
              <a:rPr lang="en-US" dirty="0"/>
            </a:br>
            <a:r>
              <a:rPr lang="en-US" dirty="0"/>
              <a:t>(4 vCPU, 8 GB RAM)</a:t>
            </a:r>
          </a:p>
        </p:txBody>
      </p:sp>
      <p:sp>
        <p:nvSpPr>
          <p:cNvPr id="4" name="Slide Number Placeholder 3">
            <a:extLst>
              <a:ext uri="{FF2B5EF4-FFF2-40B4-BE49-F238E27FC236}">
                <a16:creationId xmlns:a16="http://schemas.microsoft.com/office/drawing/2014/main" id="{707E230F-4B50-6E8F-DBB9-DE858F105F1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8</a:t>
            </a:fld>
            <a:endParaRPr lang="en-US"/>
          </a:p>
        </p:txBody>
      </p:sp>
      <p:pic>
        <p:nvPicPr>
          <p:cNvPr id="8" name="Picture 7">
            <a:extLst>
              <a:ext uri="{FF2B5EF4-FFF2-40B4-BE49-F238E27FC236}">
                <a16:creationId xmlns:a16="http://schemas.microsoft.com/office/drawing/2014/main" id="{D9AD228E-893E-2EE8-BE10-FAEB5CBFEBDD}"/>
              </a:ext>
            </a:extLst>
          </p:cNvPr>
          <p:cNvPicPr>
            <a:picLocks noChangeAspect="1"/>
          </p:cNvPicPr>
          <p:nvPr/>
        </p:nvPicPr>
        <p:blipFill>
          <a:blip r:embed="rId2"/>
          <a:stretch>
            <a:fillRect/>
          </a:stretch>
        </p:blipFill>
        <p:spPr>
          <a:xfrm>
            <a:off x="350108" y="1526432"/>
            <a:ext cx="8229600" cy="235936"/>
          </a:xfrm>
          <a:prstGeom prst="rect">
            <a:avLst/>
          </a:prstGeom>
        </p:spPr>
      </p:pic>
      <p:pic>
        <p:nvPicPr>
          <p:cNvPr id="5" name="Picture 4">
            <a:extLst>
              <a:ext uri="{FF2B5EF4-FFF2-40B4-BE49-F238E27FC236}">
                <a16:creationId xmlns:a16="http://schemas.microsoft.com/office/drawing/2014/main" id="{178D6078-1DB9-E1B5-6FF9-A1BA7973FE2E}"/>
              </a:ext>
            </a:extLst>
          </p:cNvPr>
          <p:cNvPicPr>
            <a:picLocks noChangeAspect="1"/>
          </p:cNvPicPr>
          <p:nvPr/>
        </p:nvPicPr>
        <p:blipFill>
          <a:blip r:embed="rId3"/>
          <a:stretch>
            <a:fillRect/>
          </a:stretch>
        </p:blipFill>
        <p:spPr>
          <a:xfrm>
            <a:off x="457200" y="1874906"/>
            <a:ext cx="7772400" cy="4514101"/>
          </a:xfrm>
          <a:prstGeom prst="rect">
            <a:avLst/>
          </a:prstGeom>
        </p:spPr>
      </p:pic>
    </p:spTree>
    <p:extLst>
      <p:ext uri="{BB962C8B-B14F-4D97-AF65-F5344CB8AC3E}">
        <p14:creationId xmlns:p14="http://schemas.microsoft.com/office/powerpoint/2010/main" val="3561624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5C908-4DA1-E04E-8895-EF56942EC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24934C-DCD0-3EA1-AA6A-4AFE3A919448}"/>
              </a:ext>
            </a:extLst>
          </p:cNvPr>
          <p:cNvSpPr>
            <a:spLocks noGrp="1"/>
          </p:cNvSpPr>
          <p:nvPr>
            <p:ph type="title"/>
          </p:nvPr>
        </p:nvSpPr>
        <p:spPr/>
        <p:txBody>
          <a:bodyPr>
            <a:normAutofit fontScale="90000"/>
          </a:bodyPr>
          <a:lstStyle/>
          <a:p>
            <a:r>
              <a:rPr lang="en-US" dirty="0"/>
              <a:t>Results (CPU)</a:t>
            </a:r>
            <a:br>
              <a:rPr lang="en-US" dirty="0"/>
            </a:br>
            <a:r>
              <a:rPr lang="en-US" dirty="0"/>
              <a:t>(4 vCPU, 8 GB RAM)</a:t>
            </a:r>
          </a:p>
        </p:txBody>
      </p:sp>
      <p:sp>
        <p:nvSpPr>
          <p:cNvPr id="4" name="Slide Number Placeholder 3">
            <a:extLst>
              <a:ext uri="{FF2B5EF4-FFF2-40B4-BE49-F238E27FC236}">
                <a16:creationId xmlns:a16="http://schemas.microsoft.com/office/drawing/2014/main" id="{9F1818A1-3330-8CC9-9609-36D8005AADC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9</a:t>
            </a:fld>
            <a:endParaRPr lang="en-US"/>
          </a:p>
        </p:txBody>
      </p:sp>
      <p:pic>
        <p:nvPicPr>
          <p:cNvPr id="8" name="Picture 7">
            <a:extLst>
              <a:ext uri="{FF2B5EF4-FFF2-40B4-BE49-F238E27FC236}">
                <a16:creationId xmlns:a16="http://schemas.microsoft.com/office/drawing/2014/main" id="{D5D95117-0E77-C81E-0DDD-AE68E35DD3EE}"/>
              </a:ext>
            </a:extLst>
          </p:cNvPr>
          <p:cNvPicPr>
            <a:picLocks noChangeAspect="1"/>
          </p:cNvPicPr>
          <p:nvPr/>
        </p:nvPicPr>
        <p:blipFill>
          <a:blip r:embed="rId2"/>
          <a:stretch>
            <a:fillRect/>
          </a:stretch>
        </p:blipFill>
        <p:spPr>
          <a:xfrm>
            <a:off x="350108" y="1526432"/>
            <a:ext cx="8229600" cy="235936"/>
          </a:xfrm>
          <a:prstGeom prst="rect">
            <a:avLst/>
          </a:prstGeom>
        </p:spPr>
      </p:pic>
      <p:pic>
        <p:nvPicPr>
          <p:cNvPr id="5" name="Picture 4">
            <a:extLst>
              <a:ext uri="{FF2B5EF4-FFF2-40B4-BE49-F238E27FC236}">
                <a16:creationId xmlns:a16="http://schemas.microsoft.com/office/drawing/2014/main" id="{91B2D55F-D40D-FA4B-D443-AAE0C69E84E0}"/>
              </a:ext>
            </a:extLst>
          </p:cNvPr>
          <p:cNvPicPr>
            <a:picLocks noChangeAspect="1"/>
          </p:cNvPicPr>
          <p:nvPr/>
        </p:nvPicPr>
        <p:blipFill>
          <a:blip r:embed="rId3"/>
          <a:stretch>
            <a:fillRect/>
          </a:stretch>
        </p:blipFill>
        <p:spPr>
          <a:xfrm>
            <a:off x="685800" y="1911894"/>
            <a:ext cx="7772400" cy="4509351"/>
          </a:xfrm>
          <a:prstGeom prst="rect">
            <a:avLst/>
          </a:prstGeom>
        </p:spPr>
      </p:pic>
    </p:spTree>
    <p:extLst>
      <p:ext uri="{BB962C8B-B14F-4D97-AF65-F5344CB8AC3E}">
        <p14:creationId xmlns:p14="http://schemas.microsoft.com/office/powerpoint/2010/main" val="2852338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A3D25-4B80-913F-BC67-E1130C97BD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F199A0-69EB-0196-5AC0-FB124CD853EC}"/>
              </a:ext>
            </a:extLst>
          </p:cNvPr>
          <p:cNvSpPr>
            <a:spLocks noGrp="1"/>
          </p:cNvSpPr>
          <p:nvPr>
            <p:ph type="title"/>
          </p:nvPr>
        </p:nvSpPr>
        <p:spPr/>
        <p:txBody>
          <a:bodyPr>
            <a:normAutofit fontScale="90000"/>
          </a:bodyPr>
          <a:lstStyle/>
          <a:p>
            <a:r>
              <a:rPr lang="en-US" dirty="0"/>
              <a:t>Results (Memory)</a:t>
            </a:r>
            <a:br>
              <a:rPr lang="en-US" dirty="0"/>
            </a:br>
            <a:r>
              <a:rPr lang="en-US" dirty="0"/>
              <a:t>(4 vCPU, 8 GB RAM) (hidden)</a:t>
            </a:r>
          </a:p>
        </p:txBody>
      </p:sp>
      <p:sp>
        <p:nvSpPr>
          <p:cNvPr id="4" name="Slide Number Placeholder 3">
            <a:extLst>
              <a:ext uri="{FF2B5EF4-FFF2-40B4-BE49-F238E27FC236}">
                <a16:creationId xmlns:a16="http://schemas.microsoft.com/office/drawing/2014/main" id="{29ECACF5-6566-A791-B5CE-E6A957A0AE4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10</a:t>
            </a:fld>
            <a:endParaRPr lang="en-US"/>
          </a:p>
        </p:txBody>
      </p:sp>
      <p:pic>
        <p:nvPicPr>
          <p:cNvPr id="8" name="Picture 7">
            <a:extLst>
              <a:ext uri="{FF2B5EF4-FFF2-40B4-BE49-F238E27FC236}">
                <a16:creationId xmlns:a16="http://schemas.microsoft.com/office/drawing/2014/main" id="{38EB6FAC-996A-5F90-3D61-897AAB62F133}"/>
              </a:ext>
            </a:extLst>
          </p:cNvPr>
          <p:cNvPicPr>
            <a:picLocks noChangeAspect="1"/>
          </p:cNvPicPr>
          <p:nvPr/>
        </p:nvPicPr>
        <p:blipFill>
          <a:blip r:embed="rId2"/>
          <a:stretch>
            <a:fillRect/>
          </a:stretch>
        </p:blipFill>
        <p:spPr>
          <a:xfrm>
            <a:off x="807308" y="1526432"/>
            <a:ext cx="7772400" cy="222828"/>
          </a:xfrm>
          <a:prstGeom prst="rect">
            <a:avLst/>
          </a:prstGeom>
        </p:spPr>
      </p:pic>
      <p:pic>
        <p:nvPicPr>
          <p:cNvPr id="6" name="Picture 5">
            <a:extLst>
              <a:ext uri="{FF2B5EF4-FFF2-40B4-BE49-F238E27FC236}">
                <a16:creationId xmlns:a16="http://schemas.microsoft.com/office/drawing/2014/main" id="{89BCF675-356B-6009-13BA-2A2A8B0BD344}"/>
              </a:ext>
            </a:extLst>
          </p:cNvPr>
          <p:cNvPicPr>
            <a:picLocks noChangeAspect="1"/>
          </p:cNvPicPr>
          <p:nvPr/>
        </p:nvPicPr>
        <p:blipFill>
          <a:blip r:embed="rId3"/>
          <a:stretch>
            <a:fillRect/>
          </a:stretch>
        </p:blipFill>
        <p:spPr>
          <a:xfrm>
            <a:off x="566602" y="1905544"/>
            <a:ext cx="7772400" cy="4514101"/>
          </a:xfrm>
          <a:prstGeom prst="rect">
            <a:avLst/>
          </a:prstGeom>
        </p:spPr>
      </p:pic>
    </p:spTree>
    <p:extLst>
      <p:ext uri="{BB962C8B-B14F-4D97-AF65-F5344CB8AC3E}">
        <p14:creationId xmlns:p14="http://schemas.microsoft.com/office/powerpoint/2010/main" val="12182645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55F44-63AC-0D1B-7C79-C4002569B5A2}"/>
              </a:ext>
            </a:extLst>
          </p:cNvPr>
          <p:cNvSpPr>
            <a:spLocks noGrp="1"/>
          </p:cNvSpPr>
          <p:nvPr>
            <p:ph type="title"/>
          </p:nvPr>
        </p:nvSpPr>
        <p:spPr>
          <a:xfrm>
            <a:off x="457200" y="160200"/>
            <a:ext cx="8229600" cy="1143000"/>
          </a:xfrm>
        </p:spPr>
        <p:txBody>
          <a:bodyPr>
            <a:normAutofit fontScale="90000"/>
          </a:bodyPr>
          <a:lstStyle/>
          <a:p>
            <a:r>
              <a:rPr lang="en-US" dirty="0"/>
              <a:t>Why Network Bandwidth for fan-out (hidden)</a:t>
            </a:r>
          </a:p>
        </p:txBody>
      </p:sp>
      <p:sp>
        <p:nvSpPr>
          <p:cNvPr id="3" name="Text Placeholder 2">
            <a:extLst>
              <a:ext uri="{FF2B5EF4-FFF2-40B4-BE49-F238E27FC236}">
                <a16:creationId xmlns:a16="http://schemas.microsoft.com/office/drawing/2014/main" id="{9C6FEDB0-2C87-52D0-01B6-67ED62F0A276}"/>
              </a:ext>
            </a:extLst>
          </p:cNvPr>
          <p:cNvSpPr>
            <a:spLocks noGrp="1"/>
          </p:cNvSpPr>
          <p:nvPr>
            <p:ph type="body" idx="1"/>
          </p:nvPr>
        </p:nvSpPr>
        <p:spPr/>
        <p:txBody>
          <a:bodyPr>
            <a:normAutofit/>
          </a:bodyPr>
          <a:lstStyle/>
          <a:p>
            <a:r>
              <a:rPr lang="en-US" sz="2800" dirty="0"/>
              <a:t>Fan-out replicates messages to many subscribers </a:t>
            </a:r>
          </a:p>
          <a:p>
            <a:r>
              <a:rPr lang="en-US" sz="2800" dirty="0"/>
              <a:t>Network cost naturally grows in Fan-out</a:t>
            </a:r>
          </a:p>
          <a:p>
            <a:r>
              <a:rPr lang="en-US" sz="2800" dirty="0"/>
              <a:t>This is where “bytes on wire” is most meaningful</a:t>
            </a:r>
          </a:p>
        </p:txBody>
      </p:sp>
      <p:sp>
        <p:nvSpPr>
          <p:cNvPr id="4" name="Slide Number Placeholder 3">
            <a:extLst>
              <a:ext uri="{FF2B5EF4-FFF2-40B4-BE49-F238E27FC236}">
                <a16:creationId xmlns:a16="http://schemas.microsoft.com/office/drawing/2014/main" id="{0656D830-1A94-65F9-595C-E49F7699884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11</a:t>
            </a:fld>
            <a:endParaRPr lang="en-US"/>
          </a:p>
        </p:txBody>
      </p:sp>
    </p:spTree>
    <p:extLst>
      <p:ext uri="{BB962C8B-B14F-4D97-AF65-F5344CB8AC3E}">
        <p14:creationId xmlns:p14="http://schemas.microsoft.com/office/powerpoint/2010/main" val="19164058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72"/>
        <p:cNvGrpSpPr/>
        <p:nvPr/>
      </p:nvGrpSpPr>
      <p:grpSpPr>
        <a:xfrm>
          <a:off x="0" y="0"/>
          <a:ext cx="0" cy="0"/>
          <a:chOff x="0" y="0"/>
          <a:chExt cx="0" cy="0"/>
        </a:xfrm>
      </p:grpSpPr>
      <p:sp>
        <p:nvSpPr>
          <p:cNvPr id="73" name="Google Shape;73;p9"/>
          <p:cNvSpPr txBox="1">
            <a:spLocks noGrp="1"/>
          </p:cNvSpPr>
          <p:nvPr>
            <p:ph type="title"/>
          </p:nvPr>
        </p:nvSpPr>
        <p:spPr>
          <a:xfrm>
            <a:off x="457200" y="152400"/>
            <a:ext cx="8229600" cy="1143000"/>
          </a:xfrm>
          <a:prstGeom prst="rect">
            <a:avLst/>
          </a:prstGeom>
        </p:spPr>
        <p:txBody>
          <a:bodyPr spcFirstLastPara="1" wrap="square" lIns="91425" tIns="45700" rIns="91425" bIns="45700" anchor="ctr" anchorCtr="0">
            <a:noAutofit/>
          </a:bodyPr>
          <a:lstStyle/>
          <a:p>
            <a:pPr lvl="0">
              <a:buSzPts val="990"/>
            </a:pPr>
            <a:r>
              <a:rPr lang="en-US" sz="3660" dirty="0"/>
              <a:t>Why 1 Publisher per 100 Subscribers? </a:t>
            </a:r>
            <a:r>
              <a:rPr lang="en-US" sz="4000" dirty="0"/>
              <a:t>(hidden)</a:t>
            </a:r>
            <a:endParaRPr sz="3660" dirty="0"/>
          </a:p>
        </p:txBody>
      </p:sp>
      <p:sp>
        <p:nvSpPr>
          <p:cNvPr id="74" name="Google Shape;74;p9"/>
          <p:cNvSpPr txBox="1">
            <a:spLocks noGrp="1"/>
          </p:cNvSpPr>
          <p:nvPr>
            <p:ph type="body" idx="1"/>
          </p:nvPr>
        </p:nvSpPr>
        <p:spPr>
          <a:xfrm>
            <a:off x="457200" y="1600200"/>
            <a:ext cx="8229600" cy="5257800"/>
          </a:xfrm>
          <a:prstGeom prst="rect">
            <a:avLst/>
          </a:prstGeom>
        </p:spPr>
        <p:txBody>
          <a:bodyPr spcFirstLastPara="1" wrap="square" lIns="91425" tIns="45700" rIns="91425" bIns="45700" anchor="t" anchorCtr="0">
            <a:normAutofit fontScale="92500" lnSpcReduction="20000"/>
          </a:bodyPr>
          <a:lstStyle/>
          <a:p>
            <a:pPr marL="457200" lvl="0" indent="-350044" algn="l" rtl="0">
              <a:lnSpc>
                <a:spcPct val="115000"/>
              </a:lnSpc>
              <a:spcBef>
                <a:spcPts val="360"/>
              </a:spcBef>
              <a:spcAft>
                <a:spcPts val="0"/>
              </a:spcAft>
              <a:buSzPct val="66176"/>
              <a:buChar char="❖"/>
            </a:pPr>
            <a:r>
              <a:rPr lang="en-US" dirty="0"/>
              <a:t>Why not only 1 publisher?</a:t>
            </a:r>
            <a:endParaRPr dirty="0"/>
          </a:p>
          <a:p>
            <a:pPr marL="914400" lvl="1" indent="-325755" algn="l" rtl="0">
              <a:lnSpc>
                <a:spcPct val="150000"/>
              </a:lnSpc>
              <a:spcBef>
                <a:spcPts val="0"/>
              </a:spcBef>
              <a:spcAft>
                <a:spcPts val="0"/>
              </a:spcAft>
              <a:buSzPct val="64286"/>
              <a:buChar char="➢"/>
            </a:pPr>
            <a:r>
              <a:rPr lang="en-US" b="1" dirty="0"/>
              <a:t>less realistic </a:t>
            </a:r>
            <a:r>
              <a:rPr lang="en-US" dirty="0"/>
              <a:t>for practical deployments</a:t>
            </a:r>
            <a:endParaRPr dirty="0"/>
          </a:p>
          <a:p>
            <a:pPr marL="914400" lvl="1" indent="-325755" algn="l" rtl="0">
              <a:lnSpc>
                <a:spcPct val="150000"/>
              </a:lnSpc>
              <a:spcBef>
                <a:spcPts val="0"/>
              </a:spcBef>
              <a:spcAft>
                <a:spcPts val="0"/>
              </a:spcAft>
              <a:buSzPct val="64286"/>
              <a:buChar char="➢"/>
            </a:pPr>
            <a:r>
              <a:rPr lang="en-US" dirty="0"/>
              <a:t>may </a:t>
            </a:r>
            <a:r>
              <a:rPr lang="en-US" b="1" dirty="0"/>
              <a:t>under-stress</a:t>
            </a:r>
            <a:r>
              <a:rPr lang="en-US" dirty="0"/>
              <a:t> ingress</a:t>
            </a:r>
            <a:endParaRPr dirty="0"/>
          </a:p>
          <a:p>
            <a:pPr marL="914400" lvl="1" indent="-325755" algn="l" rtl="0">
              <a:lnSpc>
                <a:spcPct val="150000"/>
              </a:lnSpc>
              <a:spcBef>
                <a:spcPts val="0"/>
              </a:spcBef>
              <a:spcAft>
                <a:spcPts val="0"/>
              </a:spcAft>
              <a:buSzPct val="64286"/>
              <a:buChar char="➢"/>
            </a:pPr>
            <a:r>
              <a:rPr lang="en-US" dirty="0"/>
              <a:t>may </a:t>
            </a:r>
            <a:r>
              <a:rPr lang="en-US" b="1" dirty="0"/>
              <a:t>overemphasize</a:t>
            </a:r>
            <a:r>
              <a:rPr lang="en-US" dirty="0"/>
              <a:t> </a:t>
            </a:r>
            <a:r>
              <a:rPr lang="en-US" b="1" dirty="0"/>
              <a:t>one</a:t>
            </a:r>
            <a:r>
              <a:rPr lang="en-US" dirty="0"/>
              <a:t> client’s limits</a:t>
            </a:r>
            <a:endParaRPr dirty="0"/>
          </a:p>
          <a:p>
            <a:pPr marL="457200" lvl="0" indent="0" algn="l" rtl="0">
              <a:lnSpc>
                <a:spcPct val="115000"/>
              </a:lnSpc>
              <a:spcBef>
                <a:spcPts val="360"/>
              </a:spcBef>
              <a:spcAft>
                <a:spcPts val="0"/>
              </a:spcAft>
              <a:buNone/>
            </a:pPr>
            <a:endParaRPr dirty="0"/>
          </a:p>
          <a:p>
            <a:pPr marL="457200" lvl="0" indent="-350044" algn="l" rtl="0">
              <a:lnSpc>
                <a:spcPct val="115000"/>
              </a:lnSpc>
              <a:spcBef>
                <a:spcPts val="360"/>
              </a:spcBef>
              <a:spcAft>
                <a:spcPts val="0"/>
              </a:spcAft>
              <a:buSzPct val="66176"/>
              <a:buChar char="❖"/>
            </a:pPr>
            <a:r>
              <a:rPr lang="en-US" dirty="0"/>
              <a:t>Why 1:100 makes sense, because:</a:t>
            </a:r>
            <a:endParaRPr dirty="0"/>
          </a:p>
          <a:p>
            <a:pPr marL="914400" lvl="1" indent="-325755" algn="l" rtl="0">
              <a:lnSpc>
                <a:spcPct val="150000"/>
              </a:lnSpc>
              <a:spcBef>
                <a:spcPts val="0"/>
              </a:spcBef>
              <a:spcAft>
                <a:spcPts val="0"/>
              </a:spcAft>
              <a:buSzPct val="64286"/>
              <a:buChar char="➢"/>
            </a:pPr>
            <a:r>
              <a:rPr lang="en-US" dirty="0"/>
              <a:t>keeps the experiment </a:t>
            </a:r>
            <a:r>
              <a:rPr lang="en-US" b="1" dirty="0"/>
              <a:t>primarily fan-out</a:t>
            </a:r>
            <a:endParaRPr b="1" dirty="0"/>
          </a:p>
          <a:p>
            <a:pPr marL="914400" lvl="1" indent="-325755" algn="l" rtl="0">
              <a:lnSpc>
                <a:spcPct val="150000"/>
              </a:lnSpc>
              <a:spcBef>
                <a:spcPts val="0"/>
              </a:spcBef>
              <a:spcAft>
                <a:spcPts val="0"/>
              </a:spcAft>
              <a:buSzPct val="64286"/>
              <a:buChar char="➢"/>
            </a:pPr>
            <a:r>
              <a:rPr lang="en-US" b="1" dirty="0"/>
              <a:t>introduces</a:t>
            </a:r>
            <a:r>
              <a:rPr lang="en-US" dirty="0"/>
              <a:t> just </a:t>
            </a:r>
            <a:r>
              <a:rPr lang="en-US" b="1" dirty="0"/>
              <a:t>enough</a:t>
            </a:r>
            <a:r>
              <a:rPr lang="en-US" dirty="0"/>
              <a:t> ingress </a:t>
            </a:r>
            <a:r>
              <a:rPr lang="en-US" b="1" dirty="0"/>
              <a:t>diversity</a:t>
            </a:r>
            <a:endParaRPr b="1" dirty="0"/>
          </a:p>
          <a:p>
            <a:pPr marL="914400" lvl="1" indent="-325755" algn="l" rtl="0">
              <a:lnSpc>
                <a:spcPct val="150000"/>
              </a:lnSpc>
              <a:spcBef>
                <a:spcPts val="0"/>
              </a:spcBef>
              <a:spcAft>
                <a:spcPts val="0"/>
              </a:spcAft>
              <a:buSzPct val="64286"/>
              <a:buChar char="➢"/>
            </a:pPr>
            <a:r>
              <a:rPr lang="en-US" b="1" dirty="0"/>
              <a:t>aligns nicely</a:t>
            </a:r>
            <a:r>
              <a:rPr lang="en-US" dirty="0"/>
              <a:t> with the</a:t>
            </a:r>
            <a:r>
              <a:rPr lang="en-US" b="1" dirty="0"/>
              <a:t> original</a:t>
            </a:r>
            <a:r>
              <a:rPr lang="en-US" dirty="0"/>
              <a:t> study’s scale</a:t>
            </a:r>
            <a:endParaRPr dirty="0"/>
          </a:p>
          <a:p>
            <a:pPr marL="914400" lvl="1" indent="-325755" algn="l" rtl="0">
              <a:lnSpc>
                <a:spcPct val="150000"/>
              </a:lnSpc>
              <a:spcBef>
                <a:spcPts val="0"/>
              </a:spcBef>
              <a:spcAft>
                <a:spcPts val="0"/>
              </a:spcAft>
              <a:buSzPct val="64286"/>
              <a:buChar char="➢"/>
            </a:pPr>
            <a:r>
              <a:rPr lang="en-US" b="1" dirty="0"/>
              <a:t>easy</a:t>
            </a:r>
            <a:r>
              <a:rPr lang="en-US" dirty="0"/>
              <a:t> to explain and </a:t>
            </a:r>
            <a:r>
              <a:rPr lang="en-US" b="1" dirty="0"/>
              <a:t>reproduce</a:t>
            </a:r>
            <a:endParaRPr b="1" dirty="0"/>
          </a:p>
          <a:p>
            <a:pPr marL="914400" lvl="0" indent="0" algn="l" rtl="0">
              <a:lnSpc>
                <a:spcPct val="115000"/>
              </a:lnSpc>
              <a:spcBef>
                <a:spcPts val="360"/>
              </a:spcBef>
              <a:spcAft>
                <a:spcPts val="0"/>
              </a:spcAft>
              <a:buNone/>
            </a:pPr>
            <a:endParaRPr dirty="0"/>
          </a:p>
        </p:txBody>
      </p:sp>
      <p:sp>
        <p:nvSpPr>
          <p:cNvPr id="75" name="Google Shape;75;p9"/>
          <p:cNvSpPr txBox="1">
            <a:spLocks noGrp="1"/>
          </p:cNvSpPr>
          <p:nvPr>
            <p:ph type="sldNum" idx="12"/>
          </p:nvPr>
        </p:nvSpPr>
        <p:spPr>
          <a:xfrm>
            <a:off x="3498112" y="6356350"/>
            <a:ext cx="2133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17B17-88C1-6D21-E7ED-2DBCB6A17CE6}"/>
              </a:ext>
            </a:extLst>
          </p:cNvPr>
          <p:cNvSpPr>
            <a:spLocks noGrp="1"/>
          </p:cNvSpPr>
          <p:nvPr>
            <p:ph type="title"/>
          </p:nvPr>
        </p:nvSpPr>
        <p:spPr/>
        <p:txBody>
          <a:bodyPr/>
          <a:lstStyle/>
          <a:p>
            <a:r>
              <a:rPr lang="en-US" dirty="0"/>
              <a:t>Fan-In Initial Results (hidden)</a:t>
            </a:r>
          </a:p>
        </p:txBody>
      </p:sp>
      <p:sp>
        <p:nvSpPr>
          <p:cNvPr id="4" name="Slide Number Placeholder 3">
            <a:extLst>
              <a:ext uri="{FF2B5EF4-FFF2-40B4-BE49-F238E27FC236}">
                <a16:creationId xmlns:a16="http://schemas.microsoft.com/office/drawing/2014/main" id="{CDC5B172-544F-4249-559E-275BAB76ECC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13</a:t>
            </a:fld>
            <a:endParaRPr lang="en-US"/>
          </a:p>
        </p:txBody>
      </p:sp>
      <p:pic>
        <p:nvPicPr>
          <p:cNvPr id="6" name="Picture 5">
            <a:extLst>
              <a:ext uri="{FF2B5EF4-FFF2-40B4-BE49-F238E27FC236}">
                <a16:creationId xmlns:a16="http://schemas.microsoft.com/office/drawing/2014/main" id="{ACD44A3F-89AE-88E8-F54B-0A27D2848990}"/>
              </a:ext>
            </a:extLst>
          </p:cNvPr>
          <p:cNvPicPr>
            <a:picLocks noChangeAspect="1"/>
          </p:cNvPicPr>
          <p:nvPr/>
        </p:nvPicPr>
        <p:blipFill>
          <a:blip r:embed="rId2"/>
          <a:stretch>
            <a:fillRect/>
          </a:stretch>
        </p:blipFill>
        <p:spPr>
          <a:xfrm>
            <a:off x="685800" y="2323673"/>
            <a:ext cx="7772400" cy="4509351"/>
          </a:xfrm>
          <a:prstGeom prst="rect">
            <a:avLst/>
          </a:prstGeom>
        </p:spPr>
      </p:pic>
      <p:pic>
        <p:nvPicPr>
          <p:cNvPr id="8" name="Picture 7">
            <a:extLst>
              <a:ext uri="{FF2B5EF4-FFF2-40B4-BE49-F238E27FC236}">
                <a16:creationId xmlns:a16="http://schemas.microsoft.com/office/drawing/2014/main" id="{63FA12F8-59F3-4825-D18F-C40A717C53EC}"/>
              </a:ext>
            </a:extLst>
          </p:cNvPr>
          <p:cNvPicPr>
            <a:picLocks noChangeAspect="1"/>
          </p:cNvPicPr>
          <p:nvPr/>
        </p:nvPicPr>
        <p:blipFill>
          <a:blip r:embed="rId3"/>
          <a:stretch>
            <a:fillRect/>
          </a:stretch>
        </p:blipFill>
        <p:spPr>
          <a:xfrm>
            <a:off x="1181686" y="1472775"/>
            <a:ext cx="7269426" cy="723473"/>
          </a:xfrm>
          <a:prstGeom prst="rect">
            <a:avLst/>
          </a:prstGeom>
        </p:spPr>
      </p:pic>
    </p:spTree>
    <p:extLst>
      <p:ext uri="{BB962C8B-B14F-4D97-AF65-F5344CB8AC3E}">
        <p14:creationId xmlns:p14="http://schemas.microsoft.com/office/powerpoint/2010/main" val="2610157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1"/>
          <p:cNvSpPr txBox="1">
            <a:spLocks noGrp="1"/>
          </p:cNvSpPr>
          <p:nvPr>
            <p:ph type="title"/>
          </p:nvPr>
        </p:nvSpPr>
        <p:spPr>
          <a:xfrm>
            <a:off x="457200" y="152400"/>
            <a:ext cx="82296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SzPts val="990"/>
              <a:buNone/>
            </a:pPr>
            <a:r>
              <a:rPr lang="en-US" sz="3460"/>
              <a:t>Experiment 2: Fan-In Under Steady Load</a:t>
            </a:r>
            <a:endParaRPr sz="3460"/>
          </a:p>
        </p:txBody>
      </p:sp>
      <p:sp>
        <p:nvSpPr>
          <p:cNvPr id="90" name="Google Shape;90;p11"/>
          <p:cNvSpPr txBox="1">
            <a:spLocks noGrp="1"/>
          </p:cNvSpPr>
          <p:nvPr>
            <p:ph type="body" idx="1"/>
          </p:nvPr>
        </p:nvSpPr>
        <p:spPr>
          <a:xfrm>
            <a:off x="457200" y="1600200"/>
            <a:ext cx="8229600" cy="5257800"/>
          </a:xfrm>
          <a:prstGeom prst="rect">
            <a:avLst/>
          </a:prstGeom>
        </p:spPr>
        <p:txBody>
          <a:bodyPr spcFirstLastPara="1" wrap="square" lIns="91425" tIns="45700" rIns="91425" bIns="45700" anchor="t" anchorCtr="0">
            <a:normAutofit fontScale="92500" lnSpcReduction="20000"/>
          </a:bodyPr>
          <a:lstStyle/>
          <a:p>
            <a:pPr marL="457200" lvl="0" indent="-360759" algn="l" rtl="0">
              <a:spcBef>
                <a:spcPts val="360"/>
              </a:spcBef>
              <a:spcAft>
                <a:spcPts val="0"/>
              </a:spcAft>
              <a:buSzPct val="66176"/>
              <a:buChar char="❖"/>
            </a:pPr>
            <a:r>
              <a:rPr lang="en-US" dirty="0"/>
              <a:t>Research question</a:t>
            </a:r>
            <a:endParaRPr dirty="0"/>
          </a:p>
          <a:p>
            <a:pPr marL="914400" lvl="1" indent="-334328" algn="l" rtl="0">
              <a:spcBef>
                <a:spcPts val="0"/>
              </a:spcBef>
              <a:spcAft>
                <a:spcPts val="0"/>
              </a:spcAft>
              <a:buSzPct val="64286"/>
              <a:buChar char="➢"/>
            </a:pPr>
            <a:r>
              <a:rPr lang="en-US" dirty="0"/>
              <a:t>How does </a:t>
            </a:r>
            <a:r>
              <a:rPr lang="en-US" b="1" dirty="0"/>
              <a:t>performance change</a:t>
            </a:r>
            <a:r>
              <a:rPr lang="en-US" dirty="0"/>
              <a:t> when many publishers send to </a:t>
            </a:r>
            <a:r>
              <a:rPr lang="en-US" b="1" dirty="0"/>
              <a:t>one shared topic</a:t>
            </a:r>
            <a:r>
              <a:rPr lang="en-US" dirty="0"/>
              <a:t> instead of isolated 1-to-1 pairs?</a:t>
            </a:r>
            <a:endParaRPr dirty="0"/>
          </a:p>
          <a:p>
            <a:pPr marL="914400" lvl="0" indent="0" algn="l" rtl="0">
              <a:spcBef>
                <a:spcPts val="360"/>
              </a:spcBef>
              <a:spcAft>
                <a:spcPts val="0"/>
              </a:spcAft>
              <a:buNone/>
            </a:pPr>
            <a:endParaRPr dirty="0"/>
          </a:p>
          <a:p>
            <a:pPr marL="457200" lvl="0" indent="-360759" algn="l" rtl="0">
              <a:spcBef>
                <a:spcPts val="360"/>
              </a:spcBef>
              <a:spcAft>
                <a:spcPts val="0"/>
              </a:spcAft>
              <a:buSzPct val="66176"/>
              <a:buChar char="❖"/>
            </a:pPr>
            <a:r>
              <a:rPr lang="en-US" dirty="0"/>
              <a:t>Topology</a:t>
            </a:r>
            <a:endParaRPr dirty="0"/>
          </a:p>
          <a:p>
            <a:pPr lvl="1" indent="-334328">
              <a:spcBef>
                <a:spcPts val="0"/>
              </a:spcBef>
              <a:buSzPct val="64286"/>
              <a:buChar char="➢"/>
            </a:pPr>
            <a:r>
              <a:rPr lang="en-US" dirty="0"/>
              <a:t>N publishers → broker → 1 subscriber</a:t>
            </a:r>
            <a:endParaRPr dirty="0"/>
          </a:p>
          <a:p>
            <a:pPr marL="914400" lvl="1" indent="-334328" algn="l" rtl="0">
              <a:spcBef>
                <a:spcPts val="0"/>
              </a:spcBef>
              <a:spcAft>
                <a:spcPts val="0"/>
              </a:spcAft>
              <a:buSzPct val="64286"/>
              <a:buChar char="➢"/>
            </a:pPr>
            <a:r>
              <a:rPr lang="en-US" dirty="0"/>
              <a:t>All publishers publish to the </a:t>
            </a:r>
            <a:r>
              <a:rPr lang="en-US" b="1" dirty="0"/>
              <a:t>same topic</a:t>
            </a:r>
            <a:endParaRPr b="1" dirty="0"/>
          </a:p>
          <a:p>
            <a:pPr marL="914400" lvl="0" indent="0" algn="l" rtl="0">
              <a:spcBef>
                <a:spcPts val="360"/>
              </a:spcBef>
              <a:spcAft>
                <a:spcPts val="0"/>
              </a:spcAft>
              <a:buNone/>
            </a:pPr>
            <a:endParaRPr dirty="0"/>
          </a:p>
          <a:p>
            <a:pPr marL="457200" lvl="0" indent="-360759" algn="l" rtl="0">
              <a:spcBef>
                <a:spcPts val="360"/>
              </a:spcBef>
              <a:spcAft>
                <a:spcPts val="0"/>
              </a:spcAft>
              <a:buSzPct val="66176"/>
              <a:buChar char="❖"/>
            </a:pPr>
            <a:r>
              <a:rPr lang="en-US" dirty="0"/>
              <a:t>Why this experiment</a:t>
            </a:r>
            <a:endParaRPr dirty="0"/>
          </a:p>
          <a:p>
            <a:pPr marL="914400" lvl="1" indent="-334328" algn="l" rtl="0">
              <a:spcBef>
                <a:spcPts val="0"/>
              </a:spcBef>
              <a:spcAft>
                <a:spcPts val="0"/>
              </a:spcAft>
              <a:buSzPct val="64286"/>
              <a:buChar char="➢"/>
            </a:pPr>
            <a:r>
              <a:rPr lang="en-US" b="1" dirty="0"/>
              <a:t>isolates</a:t>
            </a:r>
            <a:r>
              <a:rPr lang="en-US" dirty="0"/>
              <a:t> the </a:t>
            </a:r>
            <a:r>
              <a:rPr lang="en-US" b="1" dirty="0"/>
              <a:t>effect</a:t>
            </a:r>
            <a:r>
              <a:rPr lang="en-US" dirty="0"/>
              <a:t> of shared-topic </a:t>
            </a:r>
            <a:r>
              <a:rPr lang="en-US" b="1" dirty="0"/>
              <a:t>aggregation</a:t>
            </a:r>
            <a:endParaRPr b="1" dirty="0"/>
          </a:p>
          <a:p>
            <a:pPr marL="914400" lvl="1" indent="-334328" algn="l" rtl="0">
              <a:spcBef>
                <a:spcPts val="0"/>
              </a:spcBef>
              <a:spcAft>
                <a:spcPts val="0"/>
              </a:spcAft>
              <a:buSzPct val="64286"/>
              <a:buChar char="➢"/>
            </a:pPr>
            <a:r>
              <a:rPr lang="en-US" dirty="0"/>
              <a:t>keeps traffic steady</a:t>
            </a:r>
            <a:endParaRPr dirty="0"/>
          </a:p>
          <a:p>
            <a:pPr marL="914400" lvl="1" indent="-334328" algn="l" rtl="0">
              <a:spcBef>
                <a:spcPts val="0"/>
              </a:spcBef>
              <a:spcAft>
                <a:spcPts val="0"/>
              </a:spcAft>
              <a:buSzPct val="64286"/>
              <a:buChar char="➢"/>
            </a:pPr>
            <a:r>
              <a:rPr lang="en-US" dirty="0"/>
              <a:t>directly </a:t>
            </a:r>
            <a:r>
              <a:rPr lang="en-US" b="1" dirty="0"/>
              <a:t>comparable</a:t>
            </a:r>
            <a:r>
              <a:rPr lang="en-US" dirty="0"/>
              <a:t> to the current </a:t>
            </a:r>
            <a:r>
              <a:rPr lang="en-US" b="1" dirty="0"/>
              <a:t>throughput</a:t>
            </a:r>
            <a:r>
              <a:rPr lang="en-US" dirty="0"/>
              <a:t> </a:t>
            </a:r>
            <a:r>
              <a:rPr lang="en-US" b="1" dirty="0"/>
              <a:t>experiment</a:t>
            </a:r>
          </a:p>
        </p:txBody>
      </p:sp>
      <p:sp>
        <p:nvSpPr>
          <p:cNvPr id="91" name="Google Shape;91;p11"/>
          <p:cNvSpPr txBox="1">
            <a:spLocks noGrp="1"/>
          </p:cNvSpPr>
          <p:nvPr>
            <p:ph type="sldNum" idx="12"/>
          </p:nvPr>
        </p:nvSpPr>
        <p:spPr>
          <a:xfrm>
            <a:off x="3498112" y="6356350"/>
            <a:ext cx="2133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0">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0">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0">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0">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0">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0">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402BC-9956-957A-EFAE-34D035881C8B}"/>
              </a:ext>
            </a:extLst>
          </p:cNvPr>
          <p:cNvSpPr>
            <a:spLocks noGrp="1"/>
          </p:cNvSpPr>
          <p:nvPr>
            <p:ph type="title"/>
          </p:nvPr>
        </p:nvSpPr>
        <p:spPr/>
        <p:txBody>
          <a:bodyPr/>
          <a:lstStyle/>
          <a:p>
            <a:r>
              <a:rPr lang="en-US" dirty="0"/>
              <a:t>Use cases of Fan-In Topology</a:t>
            </a:r>
          </a:p>
        </p:txBody>
      </p:sp>
      <p:sp>
        <p:nvSpPr>
          <p:cNvPr id="3" name="Text Placeholder 2">
            <a:extLst>
              <a:ext uri="{FF2B5EF4-FFF2-40B4-BE49-F238E27FC236}">
                <a16:creationId xmlns:a16="http://schemas.microsoft.com/office/drawing/2014/main" id="{82D1370F-D29C-6C8D-FE73-52A354A30B36}"/>
              </a:ext>
            </a:extLst>
          </p:cNvPr>
          <p:cNvSpPr>
            <a:spLocks noGrp="1"/>
          </p:cNvSpPr>
          <p:nvPr>
            <p:ph type="body" idx="1"/>
          </p:nvPr>
        </p:nvSpPr>
        <p:spPr>
          <a:xfrm>
            <a:off x="322096" y="1664208"/>
            <a:ext cx="8485632" cy="4756150"/>
          </a:xfrm>
        </p:spPr>
        <p:txBody>
          <a:bodyPr>
            <a:normAutofit fontScale="92500" lnSpcReduction="20000"/>
          </a:bodyPr>
          <a:lstStyle/>
          <a:p>
            <a:r>
              <a:rPr lang="en-US" b="1" dirty="0"/>
              <a:t>Sensor aggregation at an edge gateway</a:t>
            </a:r>
          </a:p>
          <a:p>
            <a:pPr lvl="1"/>
            <a:r>
              <a:rPr lang="en-US" dirty="0"/>
              <a:t>many </a:t>
            </a:r>
            <a:r>
              <a:rPr lang="en-US" b="1" dirty="0"/>
              <a:t>IoT devices </a:t>
            </a:r>
            <a:r>
              <a:rPr lang="en-US" dirty="0"/>
              <a:t>continuously </a:t>
            </a:r>
            <a:r>
              <a:rPr lang="en-US" b="1" dirty="0"/>
              <a:t>send telemetry </a:t>
            </a:r>
            <a:r>
              <a:rPr lang="en-US" dirty="0"/>
              <a:t>to one collector for monitoring and analytics</a:t>
            </a:r>
          </a:p>
          <a:p>
            <a:endParaRPr lang="en-US" dirty="0"/>
          </a:p>
          <a:p>
            <a:r>
              <a:rPr lang="en-US" b="1" dirty="0"/>
              <a:t>Fleet or robot status collection</a:t>
            </a:r>
          </a:p>
          <a:p>
            <a:pPr lvl="1"/>
            <a:r>
              <a:rPr lang="en-US" dirty="0"/>
              <a:t>many </a:t>
            </a:r>
            <a:r>
              <a:rPr lang="en-US" b="1" dirty="0"/>
              <a:t>distributed</a:t>
            </a:r>
            <a:r>
              <a:rPr lang="en-US" dirty="0"/>
              <a:t> </a:t>
            </a:r>
            <a:r>
              <a:rPr lang="en-US" b="1" dirty="0"/>
              <a:t>agents</a:t>
            </a:r>
            <a:r>
              <a:rPr lang="en-US" dirty="0"/>
              <a:t> report health, position, or state updates to a </a:t>
            </a:r>
            <a:r>
              <a:rPr lang="en-US" b="1" dirty="0"/>
              <a:t>central controller </a:t>
            </a:r>
          </a:p>
          <a:p>
            <a:endParaRPr lang="en-US" b="1" dirty="0"/>
          </a:p>
          <a:p>
            <a:r>
              <a:rPr lang="en-US" b="1" dirty="0"/>
              <a:t>Industrial data ingest</a:t>
            </a:r>
          </a:p>
          <a:p>
            <a:pPr lvl="1"/>
            <a:r>
              <a:rPr lang="en-US" dirty="0"/>
              <a:t>multiple machines publish measurements to a shared stream for local processing</a:t>
            </a:r>
          </a:p>
        </p:txBody>
      </p:sp>
      <p:sp>
        <p:nvSpPr>
          <p:cNvPr id="4" name="Slide Number Placeholder 3">
            <a:extLst>
              <a:ext uri="{FF2B5EF4-FFF2-40B4-BE49-F238E27FC236}">
                <a16:creationId xmlns:a16="http://schemas.microsoft.com/office/drawing/2014/main" id="{E9171BF5-F082-1BD9-17C5-5B289C3AB2D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15</a:t>
            </a:fld>
            <a:endParaRPr lang="en-US"/>
          </a:p>
        </p:txBody>
      </p:sp>
    </p:spTree>
    <p:extLst>
      <p:ext uri="{BB962C8B-B14F-4D97-AF65-F5344CB8AC3E}">
        <p14:creationId xmlns:p14="http://schemas.microsoft.com/office/powerpoint/2010/main" val="39799892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2"/>
          <p:cNvSpPr txBox="1">
            <a:spLocks noGrp="1"/>
          </p:cNvSpPr>
          <p:nvPr>
            <p:ph type="title"/>
          </p:nvPr>
        </p:nvSpPr>
        <p:spPr>
          <a:xfrm>
            <a:off x="457200" y="152400"/>
            <a:ext cx="82296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SzPts val="990"/>
              <a:buNone/>
            </a:pPr>
            <a:r>
              <a:rPr lang="en-US" sz="3260"/>
              <a:t>Experiment 2: Fan-In Under Steady Load</a:t>
            </a:r>
            <a:endParaRPr sz="3260"/>
          </a:p>
        </p:txBody>
      </p:sp>
      <p:sp>
        <p:nvSpPr>
          <p:cNvPr id="98" name="Google Shape;98;p12"/>
          <p:cNvSpPr txBox="1">
            <a:spLocks noGrp="1"/>
          </p:cNvSpPr>
          <p:nvPr>
            <p:ph type="body" idx="1"/>
          </p:nvPr>
        </p:nvSpPr>
        <p:spPr>
          <a:xfrm>
            <a:off x="174425" y="1600800"/>
            <a:ext cx="8871350" cy="5257199"/>
          </a:xfrm>
          <a:prstGeom prst="rect">
            <a:avLst/>
          </a:prstGeom>
        </p:spPr>
        <p:txBody>
          <a:bodyPr spcFirstLastPara="1" wrap="square" lIns="91425" tIns="45700" rIns="91425" bIns="45700" anchor="t" anchorCtr="0">
            <a:normAutofit fontScale="62500" lnSpcReduction="20000"/>
          </a:bodyPr>
          <a:lstStyle/>
          <a:p>
            <a:pPr marL="457200" lvl="0" indent="-360759" algn="l" rtl="0">
              <a:spcBef>
                <a:spcPts val="360"/>
              </a:spcBef>
              <a:spcAft>
                <a:spcPts val="0"/>
              </a:spcAft>
              <a:buSzPct val="66176"/>
              <a:buChar char="❖"/>
            </a:pPr>
            <a:r>
              <a:rPr lang="en-US" dirty="0"/>
              <a:t>Parameters</a:t>
            </a:r>
            <a:endParaRPr dirty="0"/>
          </a:p>
          <a:p>
            <a:pPr marL="914400" lvl="1" indent="-334328" algn="l" rtl="0">
              <a:spcBef>
                <a:spcPts val="0"/>
              </a:spcBef>
              <a:spcAft>
                <a:spcPts val="0"/>
              </a:spcAft>
              <a:buSzPct val="64286"/>
              <a:buChar char="➢"/>
            </a:pPr>
            <a:r>
              <a:rPr lang="en-US" b="1" dirty="0"/>
              <a:t>Publishers</a:t>
            </a:r>
            <a:r>
              <a:rPr lang="en-US" dirty="0"/>
              <a:t>: 500, 1000, 2000, 5000, 10000</a:t>
            </a:r>
            <a:endParaRPr dirty="0"/>
          </a:p>
          <a:p>
            <a:pPr marL="914400" lvl="1" indent="-334328" algn="l" rtl="0">
              <a:spcBef>
                <a:spcPts val="0"/>
              </a:spcBef>
              <a:spcAft>
                <a:spcPts val="0"/>
              </a:spcAft>
              <a:buSzPct val="64286"/>
              <a:buChar char="➢"/>
            </a:pPr>
            <a:r>
              <a:rPr lang="en-US" b="1" dirty="0"/>
              <a:t>Subscriber</a:t>
            </a:r>
            <a:r>
              <a:rPr lang="en-US" dirty="0"/>
              <a:t>: 1</a:t>
            </a:r>
            <a:endParaRPr dirty="0"/>
          </a:p>
          <a:p>
            <a:pPr marL="914400" lvl="1" indent="-334328" algn="l" rtl="0">
              <a:spcBef>
                <a:spcPts val="0"/>
              </a:spcBef>
              <a:spcAft>
                <a:spcPts val="0"/>
              </a:spcAft>
              <a:buSzPct val="64286"/>
              <a:buChar char="➢"/>
            </a:pPr>
            <a:r>
              <a:rPr lang="en-US" b="1" dirty="0"/>
              <a:t>Rate</a:t>
            </a:r>
            <a:r>
              <a:rPr lang="en-US" dirty="0"/>
              <a:t> per publisher: 10 msg/s</a:t>
            </a:r>
            <a:endParaRPr dirty="0"/>
          </a:p>
          <a:p>
            <a:pPr marL="914400" lvl="1" indent="-334328" algn="l" rtl="0">
              <a:spcBef>
                <a:spcPts val="0"/>
              </a:spcBef>
              <a:spcAft>
                <a:spcPts val="0"/>
              </a:spcAft>
              <a:buSzPct val="64286"/>
              <a:buChar char="➢"/>
            </a:pPr>
            <a:r>
              <a:rPr lang="en-US" b="1" dirty="0"/>
              <a:t>Payload</a:t>
            </a:r>
            <a:r>
              <a:rPr lang="en-US" dirty="0"/>
              <a:t>: 1 KB</a:t>
            </a:r>
            <a:endParaRPr dirty="0"/>
          </a:p>
          <a:p>
            <a:pPr marL="914400" lvl="1" indent="-334328" algn="l" rtl="0">
              <a:spcBef>
                <a:spcPts val="0"/>
              </a:spcBef>
              <a:spcAft>
                <a:spcPts val="0"/>
              </a:spcAft>
              <a:buSzPct val="64286"/>
              <a:buChar char="➢"/>
            </a:pPr>
            <a:r>
              <a:rPr lang="en-US" b="1" dirty="0"/>
              <a:t>Duration</a:t>
            </a:r>
            <a:r>
              <a:rPr lang="en-US" dirty="0"/>
              <a:t>: 120 s</a:t>
            </a:r>
            <a:endParaRPr dirty="0"/>
          </a:p>
          <a:p>
            <a:pPr marL="914400" lvl="1" indent="-334328" algn="l" rtl="0">
              <a:spcBef>
                <a:spcPts val="0"/>
              </a:spcBef>
              <a:spcAft>
                <a:spcPts val="0"/>
              </a:spcAft>
              <a:buSzPct val="64286"/>
              <a:buChar char="➢"/>
            </a:pPr>
            <a:r>
              <a:rPr lang="en-US" b="1" dirty="0"/>
              <a:t>Warmup</a:t>
            </a:r>
            <a:r>
              <a:rPr lang="en-US" dirty="0"/>
              <a:t>: 60 s</a:t>
            </a:r>
            <a:endParaRPr dirty="0"/>
          </a:p>
          <a:p>
            <a:pPr marL="914400" lvl="1" indent="-334328" algn="l" rtl="0">
              <a:spcBef>
                <a:spcPts val="0"/>
              </a:spcBef>
              <a:spcAft>
                <a:spcPts val="0"/>
              </a:spcAft>
              <a:buSzPct val="64286"/>
              <a:buChar char="➢"/>
            </a:pPr>
            <a:r>
              <a:rPr lang="en-US" b="1" dirty="0"/>
              <a:t>QoS</a:t>
            </a:r>
            <a:r>
              <a:rPr lang="en-US" dirty="0"/>
              <a:t>: 0</a:t>
            </a:r>
            <a:endParaRPr dirty="0"/>
          </a:p>
          <a:p>
            <a:pPr marL="914400" lvl="0" indent="0" algn="l" rtl="0">
              <a:spcBef>
                <a:spcPts val="360"/>
              </a:spcBef>
              <a:spcAft>
                <a:spcPts val="0"/>
              </a:spcAft>
              <a:buNone/>
            </a:pPr>
            <a:endParaRPr dirty="0"/>
          </a:p>
          <a:p>
            <a:pPr marL="457200" lvl="0" indent="-360759" algn="l" rtl="0">
              <a:spcBef>
                <a:spcPts val="360"/>
              </a:spcBef>
              <a:spcAft>
                <a:spcPts val="0"/>
              </a:spcAft>
              <a:buSzPct val="66176"/>
              <a:buChar char="❖"/>
            </a:pPr>
            <a:r>
              <a:rPr lang="en-US" dirty="0"/>
              <a:t>Metrics</a:t>
            </a:r>
            <a:endParaRPr dirty="0"/>
          </a:p>
          <a:p>
            <a:pPr marL="914400" lvl="1" indent="-334328" algn="l" rtl="0">
              <a:spcBef>
                <a:spcPts val="0"/>
              </a:spcBef>
              <a:spcAft>
                <a:spcPts val="0"/>
              </a:spcAft>
              <a:buSzPct val="64286"/>
              <a:buChar char="➢"/>
            </a:pPr>
            <a:r>
              <a:rPr lang="en-US" dirty="0"/>
              <a:t>Delivery Throughput</a:t>
            </a:r>
            <a:endParaRPr dirty="0"/>
          </a:p>
          <a:p>
            <a:pPr marL="914400" lvl="1" indent="-334328" algn="l" rtl="0">
              <a:spcBef>
                <a:spcPts val="0"/>
              </a:spcBef>
              <a:spcAft>
                <a:spcPts val="0"/>
              </a:spcAft>
              <a:buSzPct val="64286"/>
              <a:buChar char="➢"/>
            </a:pPr>
            <a:r>
              <a:rPr lang="en-US" dirty="0"/>
              <a:t>CPU Utilization</a:t>
            </a:r>
            <a:endParaRPr dirty="0"/>
          </a:p>
          <a:p>
            <a:pPr marL="914400" lvl="1" indent="-334328" algn="l" rtl="0">
              <a:spcBef>
                <a:spcPts val="0"/>
              </a:spcBef>
              <a:spcAft>
                <a:spcPts val="0"/>
              </a:spcAft>
              <a:buSzPct val="64286"/>
              <a:buChar char="➢"/>
            </a:pPr>
            <a:r>
              <a:rPr lang="en-US" dirty="0"/>
              <a:t>Memory footprint</a:t>
            </a:r>
          </a:p>
          <a:p>
            <a:pPr marL="914400" lvl="1" indent="-334328" algn="l" rtl="0">
              <a:spcBef>
                <a:spcPts val="0"/>
              </a:spcBef>
              <a:spcAft>
                <a:spcPts val="0"/>
              </a:spcAft>
              <a:buSzPct val="64286"/>
              <a:buChar char="➢"/>
            </a:pPr>
            <a:r>
              <a:rPr lang="en-US" dirty="0"/>
              <a:t>Latency</a:t>
            </a:r>
          </a:p>
          <a:p>
            <a:pPr marL="914400" lvl="1" indent="-334328" algn="l" rtl="0">
              <a:spcBef>
                <a:spcPts val="0"/>
              </a:spcBef>
              <a:spcAft>
                <a:spcPts val="0"/>
              </a:spcAft>
              <a:buSzPct val="64286"/>
              <a:buChar char="➢"/>
            </a:pPr>
            <a:r>
              <a:rPr lang="en-US" dirty="0"/>
              <a:t>Network Bandwidth</a:t>
            </a:r>
          </a:p>
          <a:p>
            <a:pPr marL="580072" indent="-457200">
              <a:spcBef>
                <a:spcPts val="0"/>
              </a:spcBef>
              <a:buSzPct val="64286"/>
              <a:buFont typeface="Wingdings" pitchFamily="2" charset="2"/>
              <a:buChar char="v"/>
            </a:pPr>
            <a:endParaRPr lang="en-US" dirty="0"/>
          </a:p>
          <a:p>
            <a:pPr marL="580072" indent="-457200">
              <a:spcBef>
                <a:spcPts val="0"/>
              </a:spcBef>
              <a:buSzPct val="64286"/>
              <a:buFont typeface="Wingdings" pitchFamily="2" charset="2"/>
              <a:buChar char="v"/>
            </a:pPr>
            <a:r>
              <a:rPr lang="en-US" sz="3300" dirty="0"/>
              <a:t>Use Cases</a:t>
            </a:r>
          </a:p>
          <a:p>
            <a:pPr lvl="1">
              <a:buFont typeface="Wingdings" pitchFamily="2" charset="2"/>
              <a:buChar char="Ø"/>
            </a:pPr>
            <a:r>
              <a:rPr lang="en-US" sz="2500" b="1" dirty="0"/>
              <a:t>Sensor aggregation: </a:t>
            </a:r>
            <a:r>
              <a:rPr lang="en-US" sz="2500" dirty="0"/>
              <a:t>Many devices send telemetry to one edge gateway.</a:t>
            </a:r>
          </a:p>
          <a:p>
            <a:pPr lvl="1">
              <a:buFont typeface="Wingdings" pitchFamily="2" charset="2"/>
              <a:buChar char="Ø"/>
            </a:pPr>
            <a:r>
              <a:rPr lang="en-US" sz="2500" b="1" dirty="0"/>
              <a:t>Fleet status collection</a:t>
            </a:r>
            <a:r>
              <a:rPr lang="en-US" sz="2500" dirty="0"/>
              <a:t>: Robots or distributed agents report state to one controller.</a:t>
            </a:r>
          </a:p>
          <a:p>
            <a:pPr lvl="1">
              <a:buFont typeface="Wingdings" pitchFamily="2" charset="2"/>
              <a:buChar char="Ø"/>
            </a:pPr>
            <a:r>
              <a:rPr lang="en-US" sz="2500" b="1" dirty="0"/>
              <a:t>Industrial data ingest</a:t>
            </a:r>
            <a:r>
              <a:rPr lang="en-US" sz="2500" dirty="0"/>
              <a:t>: Machines publish measurements to one local processing stream.</a:t>
            </a:r>
          </a:p>
          <a:p>
            <a:pPr indent="-334328">
              <a:spcBef>
                <a:spcPts val="0"/>
              </a:spcBef>
              <a:buSzPct val="64286"/>
              <a:buChar char="➢"/>
            </a:pPr>
            <a:endParaRPr dirty="0"/>
          </a:p>
        </p:txBody>
      </p:sp>
      <p:sp>
        <p:nvSpPr>
          <p:cNvPr id="99" name="Google Shape;99;p12"/>
          <p:cNvSpPr txBox="1">
            <a:spLocks noGrp="1"/>
          </p:cNvSpPr>
          <p:nvPr>
            <p:ph type="sldNum" idx="12"/>
          </p:nvPr>
        </p:nvSpPr>
        <p:spPr>
          <a:xfrm>
            <a:off x="3498112" y="6356350"/>
            <a:ext cx="2133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16</a:t>
            </a:fld>
            <a:endParaRPr/>
          </a:p>
        </p:txBody>
      </p:sp>
      <p:pic>
        <p:nvPicPr>
          <p:cNvPr id="3" name="Picture 2">
            <a:extLst>
              <a:ext uri="{FF2B5EF4-FFF2-40B4-BE49-F238E27FC236}">
                <a16:creationId xmlns:a16="http://schemas.microsoft.com/office/drawing/2014/main" id="{BACB9F9E-8C02-56F7-CDD4-92ED921F74B9}"/>
              </a:ext>
            </a:extLst>
          </p:cNvPr>
          <p:cNvPicPr>
            <a:picLocks noChangeAspect="1"/>
          </p:cNvPicPr>
          <p:nvPr/>
        </p:nvPicPr>
        <p:blipFill>
          <a:blip r:embed="rId3"/>
          <a:stretch>
            <a:fillRect/>
          </a:stretch>
        </p:blipFill>
        <p:spPr>
          <a:xfrm>
            <a:off x="3498112" y="2947168"/>
            <a:ext cx="5407602" cy="218363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8">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8">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8">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8">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8">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8">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8">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8">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8">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8">
                                            <p:txEl>
                                              <p:pRg st="14" end="1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8">
                                            <p:txEl>
                                              <p:pRg st="16" end="16"/>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8">
                                            <p:txEl>
                                              <p:pRg st="17" end="17"/>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8">
                                            <p:txEl>
                                              <p:pRg st="18" end="18"/>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8">
                                            <p:txEl>
                                              <p:pRg st="19" end="1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105"/>
        <p:cNvGrpSpPr/>
        <p:nvPr/>
      </p:nvGrpSpPr>
      <p:grpSpPr>
        <a:xfrm>
          <a:off x="0" y="0"/>
          <a:ext cx="0" cy="0"/>
          <a:chOff x="0" y="0"/>
          <a:chExt cx="0" cy="0"/>
        </a:xfrm>
      </p:grpSpPr>
      <p:sp>
        <p:nvSpPr>
          <p:cNvPr id="106" name="Google Shape;106;p13"/>
          <p:cNvSpPr txBox="1">
            <a:spLocks noGrp="1"/>
          </p:cNvSpPr>
          <p:nvPr>
            <p:ph type="title"/>
          </p:nvPr>
        </p:nvSpPr>
        <p:spPr>
          <a:xfrm>
            <a:off x="457200" y="152400"/>
            <a:ext cx="82296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a:t>Fan-In: What We Expect</a:t>
            </a:r>
            <a:endParaRPr/>
          </a:p>
        </p:txBody>
      </p:sp>
      <p:sp>
        <p:nvSpPr>
          <p:cNvPr id="107" name="Google Shape;107;p13"/>
          <p:cNvSpPr txBox="1">
            <a:spLocks noGrp="1"/>
          </p:cNvSpPr>
          <p:nvPr>
            <p:ph type="body" idx="1"/>
          </p:nvPr>
        </p:nvSpPr>
        <p:spPr>
          <a:xfrm>
            <a:off x="457200" y="1600200"/>
            <a:ext cx="8686800" cy="4526100"/>
          </a:xfrm>
          <a:prstGeom prst="rect">
            <a:avLst/>
          </a:prstGeom>
        </p:spPr>
        <p:txBody>
          <a:bodyPr spcFirstLastPara="1" wrap="square" lIns="91425" tIns="45700" rIns="91425" bIns="45700" anchor="t" anchorCtr="0">
            <a:normAutofit fontScale="85000" lnSpcReduction="20000"/>
          </a:bodyPr>
          <a:lstStyle/>
          <a:p>
            <a:pPr marL="457200" lvl="0" indent="-350044" algn="l" rtl="0">
              <a:lnSpc>
                <a:spcPct val="115000"/>
              </a:lnSpc>
              <a:spcBef>
                <a:spcPts val="360"/>
              </a:spcBef>
              <a:spcAft>
                <a:spcPts val="0"/>
              </a:spcAft>
              <a:buSzPct val="66176"/>
              <a:buChar char="❖"/>
            </a:pPr>
            <a:r>
              <a:rPr lang="en-US" dirty="0"/>
              <a:t>Expect to see</a:t>
            </a:r>
            <a:endParaRPr dirty="0"/>
          </a:p>
          <a:p>
            <a:pPr marL="914400" lvl="1" indent="-325755" algn="l" rtl="0">
              <a:lnSpc>
                <a:spcPct val="115000"/>
              </a:lnSpc>
              <a:spcBef>
                <a:spcPts val="0"/>
              </a:spcBef>
              <a:spcAft>
                <a:spcPts val="0"/>
              </a:spcAft>
              <a:buSzPct val="64286"/>
              <a:buChar char="➢"/>
            </a:pPr>
            <a:r>
              <a:rPr lang="en-US" b="1" dirty="0"/>
              <a:t>Fan-in</a:t>
            </a:r>
            <a:r>
              <a:rPr lang="en-US" dirty="0"/>
              <a:t> is cheaper than fan-out</a:t>
            </a:r>
            <a:endParaRPr dirty="0"/>
          </a:p>
          <a:p>
            <a:pPr marL="914400" lvl="1" indent="-325755" algn="l" rtl="0">
              <a:lnSpc>
                <a:spcPct val="115000"/>
              </a:lnSpc>
              <a:spcBef>
                <a:spcPts val="0"/>
              </a:spcBef>
              <a:spcAft>
                <a:spcPts val="0"/>
              </a:spcAft>
              <a:buSzPct val="64286"/>
              <a:buChar char="➢"/>
            </a:pPr>
            <a:r>
              <a:rPr lang="en-US" dirty="0"/>
              <a:t>Throughput still drops vs 1-to-1</a:t>
            </a:r>
            <a:endParaRPr dirty="0"/>
          </a:p>
          <a:p>
            <a:pPr marL="914400" lvl="1" indent="-325755" algn="l" rtl="0">
              <a:lnSpc>
                <a:spcPct val="115000"/>
              </a:lnSpc>
              <a:spcBef>
                <a:spcPts val="0"/>
              </a:spcBef>
              <a:spcAft>
                <a:spcPts val="0"/>
              </a:spcAft>
              <a:buSzPct val="64286"/>
              <a:buChar char="➢"/>
            </a:pPr>
            <a:r>
              <a:rPr lang="en-US" dirty="0"/>
              <a:t>Shared-topic contention increases</a:t>
            </a:r>
            <a:endParaRPr dirty="0"/>
          </a:p>
          <a:p>
            <a:pPr marL="914400" lvl="1" indent="-325755" algn="l" rtl="0">
              <a:lnSpc>
                <a:spcPct val="115000"/>
              </a:lnSpc>
              <a:spcBef>
                <a:spcPts val="0"/>
              </a:spcBef>
              <a:spcAft>
                <a:spcPts val="0"/>
              </a:spcAft>
              <a:buSzPct val="64286"/>
              <a:buChar char="➢"/>
            </a:pPr>
            <a:r>
              <a:rPr lang="en-US" dirty="0"/>
              <a:t>CPU rises with publisher count</a:t>
            </a:r>
            <a:endParaRPr dirty="0"/>
          </a:p>
          <a:p>
            <a:pPr marL="914400" lvl="1" indent="-325755" algn="l" rtl="0">
              <a:lnSpc>
                <a:spcPct val="115000"/>
              </a:lnSpc>
              <a:spcBef>
                <a:spcPts val="0"/>
              </a:spcBef>
              <a:spcAft>
                <a:spcPts val="0"/>
              </a:spcAft>
              <a:buSzPct val="64286"/>
              <a:buChar char="➢"/>
            </a:pPr>
            <a:r>
              <a:rPr lang="en-US" dirty="0"/>
              <a:t>Latency rises gradually</a:t>
            </a:r>
            <a:endParaRPr dirty="0"/>
          </a:p>
          <a:p>
            <a:pPr marL="457200" lvl="0" indent="0" algn="l" rtl="0">
              <a:lnSpc>
                <a:spcPct val="115000"/>
              </a:lnSpc>
              <a:spcBef>
                <a:spcPts val="360"/>
              </a:spcBef>
              <a:spcAft>
                <a:spcPts val="0"/>
              </a:spcAft>
              <a:buNone/>
            </a:pPr>
            <a:endParaRPr dirty="0"/>
          </a:p>
          <a:p>
            <a:pPr marL="457200" lvl="0" indent="-350044" algn="l" rtl="0">
              <a:lnSpc>
                <a:spcPct val="115000"/>
              </a:lnSpc>
              <a:spcBef>
                <a:spcPts val="360"/>
              </a:spcBef>
              <a:spcAft>
                <a:spcPts val="0"/>
              </a:spcAft>
              <a:buSzPct val="66176"/>
              <a:buChar char="❖"/>
            </a:pPr>
            <a:r>
              <a:rPr lang="en-US" dirty="0"/>
              <a:t>We learn</a:t>
            </a:r>
            <a:endParaRPr dirty="0"/>
          </a:p>
          <a:p>
            <a:pPr marL="914400" lvl="1" indent="-325755" algn="l" rtl="0">
              <a:lnSpc>
                <a:spcPct val="115000"/>
              </a:lnSpc>
              <a:spcBef>
                <a:spcPts val="0"/>
              </a:spcBef>
              <a:spcAft>
                <a:spcPts val="0"/>
              </a:spcAft>
              <a:buSzPct val="64286"/>
              <a:buChar char="➢"/>
            </a:pPr>
            <a:r>
              <a:rPr lang="en-US" b="1" dirty="0"/>
              <a:t>Which</a:t>
            </a:r>
            <a:r>
              <a:rPr lang="en-US" dirty="0"/>
              <a:t> brokers are </a:t>
            </a:r>
            <a:r>
              <a:rPr lang="en-US" b="1" dirty="0"/>
              <a:t>best</a:t>
            </a:r>
            <a:r>
              <a:rPr lang="en-US" dirty="0"/>
              <a:t> for </a:t>
            </a:r>
            <a:r>
              <a:rPr lang="en-US" b="1" dirty="0"/>
              <a:t>aggregation</a:t>
            </a:r>
            <a:endParaRPr b="1" dirty="0"/>
          </a:p>
          <a:p>
            <a:pPr marL="914400" lvl="1" indent="-325755" algn="l" rtl="0">
              <a:lnSpc>
                <a:spcPct val="115000"/>
              </a:lnSpc>
              <a:spcBef>
                <a:spcPts val="0"/>
              </a:spcBef>
              <a:spcAft>
                <a:spcPts val="0"/>
              </a:spcAft>
              <a:buSzPct val="64286"/>
              <a:buChar char="➢"/>
            </a:pPr>
            <a:r>
              <a:rPr lang="en-US" b="1" dirty="0"/>
              <a:t>Cost</a:t>
            </a:r>
            <a:r>
              <a:rPr lang="en-US" dirty="0"/>
              <a:t> of hot </a:t>
            </a:r>
            <a:r>
              <a:rPr lang="en-US" b="1" dirty="0"/>
              <a:t>shared-topic </a:t>
            </a:r>
            <a:r>
              <a:rPr lang="en-US" dirty="0"/>
              <a:t>ingest</a:t>
            </a:r>
            <a:endParaRPr dirty="0"/>
          </a:p>
          <a:p>
            <a:pPr marL="914400" lvl="1" indent="-325755" algn="l" rtl="0">
              <a:lnSpc>
                <a:spcPct val="115000"/>
              </a:lnSpc>
              <a:spcBef>
                <a:spcPts val="0"/>
              </a:spcBef>
              <a:spcAft>
                <a:spcPts val="0"/>
              </a:spcAft>
              <a:buSzPct val="64286"/>
              <a:buChar char="➢"/>
            </a:pPr>
            <a:r>
              <a:rPr lang="en-US" dirty="0"/>
              <a:t>Whether </a:t>
            </a:r>
            <a:r>
              <a:rPr lang="en-US" b="1" dirty="0"/>
              <a:t>ingress</a:t>
            </a:r>
            <a:r>
              <a:rPr lang="en-US" dirty="0"/>
              <a:t> or </a:t>
            </a:r>
            <a:r>
              <a:rPr lang="en-US" b="1" dirty="0"/>
              <a:t>topic</a:t>
            </a:r>
            <a:r>
              <a:rPr lang="en-US" dirty="0"/>
              <a:t> handling is the </a:t>
            </a:r>
            <a:r>
              <a:rPr lang="en-US" b="1" dirty="0"/>
              <a:t>bottleneck</a:t>
            </a:r>
            <a:endParaRPr b="1" dirty="0"/>
          </a:p>
        </p:txBody>
      </p:sp>
      <p:sp>
        <p:nvSpPr>
          <p:cNvPr id="108" name="Google Shape;108;p13"/>
          <p:cNvSpPr txBox="1">
            <a:spLocks noGrp="1"/>
          </p:cNvSpPr>
          <p:nvPr>
            <p:ph type="sldNum" idx="12"/>
          </p:nvPr>
        </p:nvSpPr>
        <p:spPr>
          <a:xfrm>
            <a:off x="3498112" y="6356350"/>
            <a:ext cx="2133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7">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7">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7">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7">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4"/>
          <p:cNvSpPr txBox="1">
            <a:spLocks noGrp="1"/>
          </p:cNvSpPr>
          <p:nvPr>
            <p:ph type="title"/>
          </p:nvPr>
        </p:nvSpPr>
        <p:spPr>
          <a:xfrm>
            <a:off x="457200" y="152400"/>
            <a:ext cx="82296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SzPts val="990"/>
              <a:buNone/>
            </a:pPr>
            <a:r>
              <a:rPr lang="en-US" sz="3460"/>
              <a:t>Experiment 3: Bursty Controlled Fan-Out</a:t>
            </a:r>
            <a:endParaRPr sz="3460"/>
          </a:p>
        </p:txBody>
      </p:sp>
      <p:sp>
        <p:nvSpPr>
          <p:cNvPr id="115" name="Google Shape;115;p14"/>
          <p:cNvSpPr txBox="1">
            <a:spLocks noGrp="1"/>
          </p:cNvSpPr>
          <p:nvPr>
            <p:ph type="body" idx="1"/>
          </p:nvPr>
        </p:nvSpPr>
        <p:spPr>
          <a:xfrm>
            <a:off x="159550" y="1600200"/>
            <a:ext cx="8686800" cy="5257800"/>
          </a:xfrm>
          <a:prstGeom prst="rect">
            <a:avLst/>
          </a:prstGeom>
        </p:spPr>
        <p:txBody>
          <a:bodyPr spcFirstLastPara="1" wrap="square" lIns="91425" tIns="45700" rIns="91425" bIns="45700" anchor="t" anchorCtr="0">
            <a:normAutofit fontScale="92500" lnSpcReduction="20000"/>
          </a:bodyPr>
          <a:lstStyle/>
          <a:p>
            <a:pPr marL="457200" lvl="0" indent="-350044" algn="l" rtl="0">
              <a:spcBef>
                <a:spcPts val="360"/>
              </a:spcBef>
              <a:spcAft>
                <a:spcPts val="0"/>
              </a:spcAft>
              <a:buSzPct val="66176"/>
              <a:buChar char="❖"/>
            </a:pPr>
            <a:r>
              <a:rPr lang="en-US" dirty="0"/>
              <a:t>Research question</a:t>
            </a:r>
            <a:endParaRPr dirty="0"/>
          </a:p>
          <a:p>
            <a:pPr marL="914400" lvl="1" indent="-325755" algn="l" rtl="0">
              <a:spcBef>
                <a:spcPts val="0"/>
              </a:spcBef>
              <a:spcAft>
                <a:spcPts val="0"/>
              </a:spcAft>
              <a:buSzPct val="64286"/>
              <a:buChar char="➢"/>
            </a:pPr>
            <a:r>
              <a:rPr lang="en-US" dirty="0"/>
              <a:t>How do </a:t>
            </a:r>
            <a:r>
              <a:rPr lang="en-US" b="1" dirty="0"/>
              <a:t>brokers behave</a:t>
            </a:r>
            <a:r>
              <a:rPr lang="en-US" dirty="0"/>
              <a:t> when </a:t>
            </a:r>
            <a:r>
              <a:rPr lang="en-US" b="1" dirty="0"/>
              <a:t>one-to-many </a:t>
            </a:r>
            <a:r>
              <a:rPr lang="en-US" dirty="0"/>
              <a:t>dissemination is combined with </a:t>
            </a:r>
            <a:r>
              <a:rPr lang="en-US" b="1" dirty="0"/>
              <a:t>bursty traffic</a:t>
            </a:r>
            <a:r>
              <a:rPr lang="en-US" dirty="0"/>
              <a:t> and recovery periods?</a:t>
            </a:r>
            <a:endParaRPr dirty="0"/>
          </a:p>
          <a:p>
            <a:pPr marL="914400" lvl="0" indent="0" algn="l" rtl="0">
              <a:spcBef>
                <a:spcPts val="360"/>
              </a:spcBef>
              <a:spcAft>
                <a:spcPts val="0"/>
              </a:spcAft>
              <a:buNone/>
            </a:pPr>
            <a:endParaRPr dirty="0"/>
          </a:p>
          <a:p>
            <a:pPr marL="457200" lvl="0" indent="-350044" algn="l" rtl="0">
              <a:spcBef>
                <a:spcPts val="360"/>
              </a:spcBef>
              <a:spcAft>
                <a:spcPts val="0"/>
              </a:spcAft>
              <a:buSzPct val="66176"/>
              <a:buChar char="❖"/>
            </a:pPr>
            <a:r>
              <a:rPr lang="en-US" dirty="0"/>
              <a:t>Topology</a:t>
            </a:r>
            <a:endParaRPr dirty="0"/>
          </a:p>
          <a:p>
            <a:pPr lvl="1" indent="-325755">
              <a:spcBef>
                <a:spcPts val="0"/>
              </a:spcBef>
              <a:buSzPct val="64286"/>
              <a:buChar char="➢"/>
            </a:pPr>
            <a:r>
              <a:rPr lang="en-US" dirty="0"/>
              <a:t>20 publishers → broker → 2000 subscribers</a:t>
            </a:r>
          </a:p>
          <a:p>
            <a:pPr marL="914400" lvl="0" indent="0" algn="l" rtl="0">
              <a:spcBef>
                <a:spcPts val="360"/>
              </a:spcBef>
              <a:spcAft>
                <a:spcPts val="0"/>
              </a:spcAft>
              <a:buNone/>
            </a:pPr>
            <a:endParaRPr dirty="0"/>
          </a:p>
          <a:p>
            <a:pPr marL="457200" lvl="0" indent="-350044" algn="l" rtl="0">
              <a:spcBef>
                <a:spcPts val="360"/>
              </a:spcBef>
              <a:spcAft>
                <a:spcPts val="0"/>
              </a:spcAft>
              <a:buSzPct val="66176"/>
              <a:buChar char="❖"/>
            </a:pPr>
            <a:r>
              <a:rPr lang="en-US" dirty="0"/>
              <a:t>Why this experiment</a:t>
            </a:r>
            <a:endParaRPr dirty="0"/>
          </a:p>
          <a:p>
            <a:pPr marL="914400" lvl="1" indent="-325755" algn="l" rtl="0">
              <a:spcBef>
                <a:spcPts val="0"/>
              </a:spcBef>
              <a:spcAft>
                <a:spcPts val="0"/>
              </a:spcAft>
              <a:buSzPct val="64286"/>
              <a:buChar char="➢"/>
            </a:pPr>
            <a:r>
              <a:rPr lang="en-US" dirty="0"/>
              <a:t>Exp 1 shows steady-state fan-out behavior</a:t>
            </a:r>
            <a:endParaRPr dirty="0"/>
          </a:p>
          <a:p>
            <a:pPr marL="914400" lvl="1" indent="-325755" algn="l" rtl="0">
              <a:spcBef>
                <a:spcPts val="0"/>
              </a:spcBef>
              <a:spcAft>
                <a:spcPts val="0"/>
              </a:spcAft>
              <a:buSzPct val="64286"/>
              <a:buChar char="➢"/>
            </a:pPr>
            <a:r>
              <a:rPr lang="en-US" dirty="0"/>
              <a:t>Exp 3 adds transient overload</a:t>
            </a:r>
            <a:endParaRPr dirty="0"/>
          </a:p>
          <a:p>
            <a:pPr marL="914400" lvl="1" indent="-325755" algn="l" rtl="0">
              <a:spcBef>
                <a:spcPts val="0"/>
              </a:spcBef>
              <a:spcAft>
                <a:spcPts val="0"/>
              </a:spcAft>
              <a:buSzPct val="64286"/>
              <a:buChar char="➢"/>
            </a:pPr>
            <a:r>
              <a:rPr lang="en-US" dirty="0"/>
              <a:t>this is closer to alarms, event bursts, and sudden telemetry spikes</a:t>
            </a:r>
            <a:endParaRPr dirty="0"/>
          </a:p>
        </p:txBody>
      </p:sp>
      <p:sp>
        <p:nvSpPr>
          <p:cNvPr id="116" name="Google Shape;116;p14"/>
          <p:cNvSpPr txBox="1">
            <a:spLocks noGrp="1"/>
          </p:cNvSpPr>
          <p:nvPr>
            <p:ph type="sldNum" idx="12"/>
          </p:nvPr>
        </p:nvSpPr>
        <p:spPr>
          <a:xfrm>
            <a:off x="3498112" y="6356350"/>
            <a:ext cx="2133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18</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0F4894D2-5968-75EF-1559-93F607901A7E}"/>
            </a:ext>
          </a:extLst>
        </p:cNvPr>
        <p:cNvGrpSpPr/>
        <p:nvPr/>
      </p:nvGrpSpPr>
      <p:grpSpPr>
        <a:xfrm>
          <a:off x="0" y="0"/>
          <a:ext cx="0" cy="0"/>
          <a:chOff x="0" y="0"/>
          <a:chExt cx="0" cy="0"/>
        </a:xfrm>
      </p:grpSpPr>
      <p:sp>
        <p:nvSpPr>
          <p:cNvPr id="114" name="Google Shape;114;p14">
            <a:extLst>
              <a:ext uri="{FF2B5EF4-FFF2-40B4-BE49-F238E27FC236}">
                <a16:creationId xmlns:a16="http://schemas.microsoft.com/office/drawing/2014/main" id="{FD9AFD6E-E628-EE3D-08B2-3F652F8AD37A}"/>
              </a:ext>
            </a:extLst>
          </p:cNvPr>
          <p:cNvSpPr txBox="1">
            <a:spLocks noGrp="1"/>
          </p:cNvSpPr>
          <p:nvPr>
            <p:ph type="title"/>
          </p:nvPr>
        </p:nvSpPr>
        <p:spPr>
          <a:xfrm>
            <a:off x="457200" y="152400"/>
            <a:ext cx="82296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SzPts val="990"/>
              <a:buNone/>
            </a:pPr>
            <a:r>
              <a:rPr lang="en-US" sz="3460"/>
              <a:t>Experiment 3: Bursty Controlled Fan-Out</a:t>
            </a:r>
            <a:endParaRPr sz="3460"/>
          </a:p>
        </p:txBody>
      </p:sp>
      <p:sp>
        <p:nvSpPr>
          <p:cNvPr id="115" name="Google Shape;115;p14">
            <a:extLst>
              <a:ext uri="{FF2B5EF4-FFF2-40B4-BE49-F238E27FC236}">
                <a16:creationId xmlns:a16="http://schemas.microsoft.com/office/drawing/2014/main" id="{3F9D99BC-F5A6-BA88-AC9F-54CF8C66E998}"/>
              </a:ext>
            </a:extLst>
          </p:cNvPr>
          <p:cNvSpPr txBox="1">
            <a:spLocks noGrp="1"/>
          </p:cNvSpPr>
          <p:nvPr>
            <p:ph type="body" idx="1"/>
          </p:nvPr>
        </p:nvSpPr>
        <p:spPr>
          <a:xfrm>
            <a:off x="159550" y="1600200"/>
            <a:ext cx="8686800" cy="5257800"/>
          </a:xfrm>
          <a:prstGeom prst="rect">
            <a:avLst/>
          </a:prstGeom>
        </p:spPr>
        <p:txBody>
          <a:bodyPr spcFirstLastPara="1" wrap="square" lIns="91425" tIns="45700" rIns="91425" bIns="45700" anchor="t" anchorCtr="0">
            <a:normAutofit fontScale="77500" lnSpcReduction="20000"/>
          </a:bodyPr>
          <a:lstStyle/>
          <a:p>
            <a:pPr marL="457200" lvl="0" indent="-350044" algn="l" rtl="0">
              <a:spcBef>
                <a:spcPts val="360"/>
              </a:spcBef>
              <a:spcAft>
                <a:spcPts val="0"/>
              </a:spcAft>
              <a:buSzPct val="66176"/>
              <a:buChar char="❖"/>
            </a:pPr>
            <a:r>
              <a:rPr lang="en-US" dirty="0"/>
              <a:t>Research question</a:t>
            </a:r>
            <a:endParaRPr dirty="0"/>
          </a:p>
          <a:p>
            <a:pPr marL="914400" lvl="1" indent="-325755" algn="l" rtl="0">
              <a:spcBef>
                <a:spcPts val="0"/>
              </a:spcBef>
              <a:spcAft>
                <a:spcPts val="0"/>
              </a:spcAft>
              <a:buSzPct val="64286"/>
              <a:buChar char="➢"/>
            </a:pPr>
            <a:r>
              <a:rPr lang="en-US" dirty="0"/>
              <a:t>How do </a:t>
            </a:r>
            <a:r>
              <a:rPr lang="en-US" b="1" dirty="0"/>
              <a:t>brokers behave</a:t>
            </a:r>
            <a:r>
              <a:rPr lang="en-US" dirty="0"/>
              <a:t> when </a:t>
            </a:r>
            <a:r>
              <a:rPr lang="en-US" b="1" dirty="0"/>
              <a:t>one-to-many </a:t>
            </a:r>
            <a:r>
              <a:rPr lang="en-US" dirty="0"/>
              <a:t>dissemination is combined with </a:t>
            </a:r>
            <a:r>
              <a:rPr lang="en-US" b="1" dirty="0"/>
              <a:t>bursty traffic</a:t>
            </a:r>
            <a:r>
              <a:rPr lang="en-US" dirty="0"/>
              <a:t> and recovery periods?</a:t>
            </a:r>
            <a:endParaRPr dirty="0"/>
          </a:p>
          <a:p>
            <a:pPr marL="914400" lvl="0" indent="0" algn="l" rtl="0">
              <a:spcBef>
                <a:spcPts val="360"/>
              </a:spcBef>
              <a:spcAft>
                <a:spcPts val="0"/>
              </a:spcAft>
              <a:buNone/>
            </a:pPr>
            <a:endParaRPr dirty="0"/>
          </a:p>
          <a:p>
            <a:pPr marL="457200" lvl="0" indent="-350044" algn="l" rtl="0">
              <a:spcBef>
                <a:spcPts val="360"/>
              </a:spcBef>
              <a:spcAft>
                <a:spcPts val="0"/>
              </a:spcAft>
              <a:buSzPct val="66176"/>
              <a:buChar char="❖"/>
            </a:pPr>
            <a:r>
              <a:rPr lang="en-US" dirty="0"/>
              <a:t>Topology</a:t>
            </a:r>
            <a:endParaRPr dirty="0"/>
          </a:p>
          <a:p>
            <a:pPr marL="914400" lvl="1" indent="-325755" algn="l" rtl="0">
              <a:spcBef>
                <a:spcPts val="0"/>
              </a:spcBef>
              <a:spcAft>
                <a:spcPts val="0"/>
              </a:spcAft>
              <a:buSzPct val="64286"/>
              <a:buChar char="➢"/>
            </a:pPr>
            <a:r>
              <a:rPr lang="en-US" dirty="0"/>
              <a:t>Same as Exp 1</a:t>
            </a:r>
            <a:endParaRPr dirty="0"/>
          </a:p>
          <a:p>
            <a:pPr marL="914400" lvl="1" indent="-325755" algn="l" rtl="0">
              <a:spcBef>
                <a:spcPts val="0"/>
              </a:spcBef>
              <a:spcAft>
                <a:spcPts val="0"/>
              </a:spcAft>
              <a:buSzPct val="64286"/>
              <a:buChar char="➢"/>
            </a:pPr>
            <a:r>
              <a:rPr lang="en-US" dirty="0"/>
              <a:t>P publishers → S subscribers</a:t>
            </a:r>
            <a:endParaRPr dirty="0"/>
          </a:p>
          <a:p>
            <a:pPr marL="914400" lvl="1" indent="-325755" algn="l" rtl="0">
              <a:spcBef>
                <a:spcPts val="0"/>
              </a:spcBef>
              <a:spcAft>
                <a:spcPts val="0"/>
              </a:spcAft>
              <a:buSzPct val="64286"/>
              <a:buChar char="➢"/>
            </a:pPr>
            <a:r>
              <a:rPr lang="en-US" dirty="0"/>
              <a:t>shared topic</a:t>
            </a:r>
            <a:endParaRPr dirty="0"/>
          </a:p>
          <a:p>
            <a:pPr marL="914400" lvl="1" indent="-325755" algn="l" rtl="0">
              <a:spcBef>
                <a:spcPts val="0"/>
              </a:spcBef>
              <a:spcAft>
                <a:spcPts val="0"/>
              </a:spcAft>
              <a:buSzPct val="64286"/>
              <a:buChar char="➢"/>
            </a:pPr>
            <a:r>
              <a:rPr lang="en-US" dirty="0"/>
              <a:t>P = max(1, ceil(S / 100))</a:t>
            </a:r>
            <a:endParaRPr dirty="0"/>
          </a:p>
          <a:p>
            <a:pPr marL="914400" lvl="1" indent="-325755" algn="l" rtl="0">
              <a:spcBef>
                <a:spcPts val="0"/>
              </a:spcBef>
              <a:spcAft>
                <a:spcPts val="0"/>
              </a:spcAft>
              <a:buSzPct val="64286"/>
              <a:buChar char="➢"/>
            </a:pPr>
            <a:r>
              <a:rPr lang="en-US" dirty="0"/>
              <a:t>S = 1000</a:t>
            </a:r>
            <a:endParaRPr dirty="0"/>
          </a:p>
          <a:p>
            <a:pPr marL="914400" lvl="0" indent="0" algn="l" rtl="0">
              <a:spcBef>
                <a:spcPts val="360"/>
              </a:spcBef>
              <a:spcAft>
                <a:spcPts val="0"/>
              </a:spcAft>
              <a:buNone/>
            </a:pPr>
            <a:endParaRPr dirty="0"/>
          </a:p>
          <a:p>
            <a:pPr marL="457200" lvl="0" indent="-350044" algn="l" rtl="0">
              <a:spcBef>
                <a:spcPts val="360"/>
              </a:spcBef>
              <a:spcAft>
                <a:spcPts val="0"/>
              </a:spcAft>
              <a:buSzPct val="66176"/>
              <a:buChar char="❖"/>
            </a:pPr>
            <a:r>
              <a:rPr lang="en-US" dirty="0"/>
              <a:t>Why this experiment</a:t>
            </a:r>
            <a:endParaRPr dirty="0"/>
          </a:p>
          <a:p>
            <a:pPr marL="914400" lvl="1" indent="-325755" algn="l" rtl="0">
              <a:spcBef>
                <a:spcPts val="0"/>
              </a:spcBef>
              <a:spcAft>
                <a:spcPts val="0"/>
              </a:spcAft>
              <a:buSzPct val="64286"/>
              <a:buChar char="➢"/>
            </a:pPr>
            <a:r>
              <a:rPr lang="en-US" dirty="0"/>
              <a:t>Exp 1 shows steady-state fan-out behavior</a:t>
            </a:r>
            <a:endParaRPr dirty="0"/>
          </a:p>
          <a:p>
            <a:pPr marL="914400" lvl="1" indent="-325755" algn="l" rtl="0">
              <a:spcBef>
                <a:spcPts val="0"/>
              </a:spcBef>
              <a:spcAft>
                <a:spcPts val="0"/>
              </a:spcAft>
              <a:buSzPct val="64286"/>
              <a:buChar char="➢"/>
            </a:pPr>
            <a:r>
              <a:rPr lang="en-US" dirty="0"/>
              <a:t>Exp 3 adds transient overload</a:t>
            </a:r>
            <a:endParaRPr dirty="0"/>
          </a:p>
          <a:p>
            <a:pPr marL="914400" lvl="1" indent="-325755" algn="l" rtl="0">
              <a:spcBef>
                <a:spcPts val="0"/>
              </a:spcBef>
              <a:spcAft>
                <a:spcPts val="0"/>
              </a:spcAft>
              <a:buSzPct val="64286"/>
              <a:buChar char="➢"/>
            </a:pPr>
            <a:r>
              <a:rPr lang="en-US" dirty="0"/>
              <a:t>this is closer to alarms, event bursts, and sudden telemetry spikes</a:t>
            </a:r>
            <a:endParaRPr dirty="0"/>
          </a:p>
        </p:txBody>
      </p:sp>
      <p:sp>
        <p:nvSpPr>
          <p:cNvPr id="116" name="Google Shape;116;p14">
            <a:extLst>
              <a:ext uri="{FF2B5EF4-FFF2-40B4-BE49-F238E27FC236}">
                <a16:creationId xmlns:a16="http://schemas.microsoft.com/office/drawing/2014/main" id="{4A56C496-0292-B66E-9B52-8BFBB9E93874}"/>
              </a:ext>
            </a:extLst>
          </p:cNvPr>
          <p:cNvSpPr txBox="1">
            <a:spLocks noGrp="1"/>
          </p:cNvSpPr>
          <p:nvPr>
            <p:ph type="sldNum" idx="12"/>
          </p:nvPr>
        </p:nvSpPr>
        <p:spPr>
          <a:xfrm>
            <a:off x="3498112" y="6356350"/>
            <a:ext cx="2133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1131885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5">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5">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5">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5">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F3EB944-7250-6489-E8BA-D7FD075699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8E4193-3005-6603-4C66-D3BE80C4E690}"/>
              </a:ext>
            </a:extLst>
          </p:cNvPr>
          <p:cNvSpPr>
            <a:spLocks noGrp="1"/>
          </p:cNvSpPr>
          <p:nvPr>
            <p:ph type="title"/>
          </p:nvPr>
        </p:nvSpPr>
        <p:spPr/>
        <p:txBody>
          <a:bodyPr>
            <a:normAutofit fontScale="90000"/>
          </a:bodyPr>
          <a:lstStyle/>
          <a:p>
            <a:r>
              <a:rPr lang="en-US" dirty="0"/>
              <a:t>Use cases of Bursty Fan-Out Topology</a:t>
            </a:r>
          </a:p>
        </p:txBody>
      </p:sp>
      <p:sp>
        <p:nvSpPr>
          <p:cNvPr id="3" name="Text Placeholder 2">
            <a:extLst>
              <a:ext uri="{FF2B5EF4-FFF2-40B4-BE49-F238E27FC236}">
                <a16:creationId xmlns:a16="http://schemas.microsoft.com/office/drawing/2014/main" id="{79DE5811-5E6E-D82C-73F9-D56A145B94F5}"/>
              </a:ext>
            </a:extLst>
          </p:cNvPr>
          <p:cNvSpPr>
            <a:spLocks noGrp="1"/>
          </p:cNvSpPr>
          <p:nvPr>
            <p:ph type="body" idx="1"/>
          </p:nvPr>
        </p:nvSpPr>
        <p:spPr>
          <a:xfrm>
            <a:off x="322096" y="1664208"/>
            <a:ext cx="8485632" cy="4756150"/>
          </a:xfrm>
        </p:spPr>
        <p:txBody>
          <a:bodyPr>
            <a:normAutofit fontScale="92500" lnSpcReduction="10000"/>
          </a:bodyPr>
          <a:lstStyle/>
          <a:p>
            <a:r>
              <a:rPr lang="en-US" b="1" dirty="0"/>
              <a:t>Emergency alert dissemination</a:t>
            </a:r>
          </a:p>
          <a:p>
            <a:pPr lvl="1"/>
            <a:r>
              <a:rPr lang="en-US" dirty="0"/>
              <a:t>one event suddenly triggers notifications to many receivers at once</a:t>
            </a:r>
          </a:p>
          <a:p>
            <a:pPr lvl="1"/>
            <a:endParaRPr lang="en-US" dirty="0"/>
          </a:p>
          <a:p>
            <a:r>
              <a:rPr lang="en-US" b="1" dirty="0"/>
              <a:t>Intrusion or alarm broadcast</a:t>
            </a:r>
          </a:p>
          <a:p>
            <a:pPr lvl="1"/>
            <a:r>
              <a:rPr lang="en-US" dirty="0"/>
              <a:t>a monitoring system pushes urgent alerts to multiple downstream systems simultaneously</a:t>
            </a:r>
          </a:p>
          <a:p>
            <a:pPr marL="571500" lvl="1" indent="0">
              <a:buNone/>
            </a:pPr>
            <a:endParaRPr lang="en-US" b="1" dirty="0"/>
          </a:p>
          <a:p>
            <a:r>
              <a:rPr lang="en-US" b="1" dirty="0"/>
              <a:t>Traffic / airspace advisory push</a:t>
            </a:r>
          </a:p>
          <a:p>
            <a:pPr lvl="1"/>
            <a:r>
              <a:rPr lang="en-US" dirty="0"/>
              <a:t>a sudden event causes one publisher to send time-sensitive updates to many consumers</a:t>
            </a:r>
          </a:p>
        </p:txBody>
      </p:sp>
      <p:sp>
        <p:nvSpPr>
          <p:cNvPr id="4" name="Slide Number Placeholder 3">
            <a:extLst>
              <a:ext uri="{FF2B5EF4-FFF2-40B4-BE49-F238E27FC236}">
                <a16:creationId xmlns:a16="http://schemas.microsoft.com/office/drawing/2014/main" id="{307D1EAA-AE8D-A5B9-F793-FDA37D04492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20</a:t>
            </a:fld>
            <a:endParaRPr lang="en-US"/>
          </a:p>
        </p:txBody>
      </p:sp>
    </p:spTree>
    <p:extLst>
      <p:ext uri="{BB962C8B-B14F-4D97-AF65-F5344CB8AC3E}">
        <p14:creationId xmlns:p14="http://schemas.microsoft.com/office/powerpoint/2010/main" val="39926610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5"/>
          <p:cNvSpPr txBox="1">
            <a:spLocks noGrp="1"/>
          </p:cNvSpPr>
          <p:nvPr>
            <p:ph type="title"/>
          </p:nvPr>
        </p:nvSpPr>
        <p:spPr>
          <a:xfrm>
            <a:off x="457200" y="152400"/>
            <a:ext cx="8229600" cy="11430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SzPts val="990"/>
              <a:buNone/>
            </a:pPr>
            <a:r>
              <a:rPr lang="en-US" sz="3260" dirty="0"/>
              <a:t>Experiment 3: Bursty Traffic Profile</a:t>
            </a:r>
            <a:endParaRPr sz="3260" dirty="0"/>
          </a:p>
        </p:txBody>
      </p:sp>
      <p:sp>
        <p:nvSpPr>
          <p:cNvPr id="123" name="Google Shape;123;p15"/>
          <p:cNvSpPr txBox="1">
            <a:spLocks noGrp="1"/>
          </p:cNvSpPr>
          <p:nvPr>
            <p:ph type="body" idx="1"/>
          </p:nvPr>
        </p:nvSpPr>
        <p:spPr>
          <a:xfrm>
            <a:off x="160867" y="1486988"/>
            <a:ext cx="8771933" cy="5371012"/>
          </a:xfrm>
          <a:prstGeom prst="rect">
            <a:avLst/>
          </a:prstGeom>
        </p:spPr>
        <p:txBody>
          <a:bodyPr spcFirstLastPara="1" wrap="square" lIns="91425" tIns="45700" rIns="91425" bIns="45700" anchor="t" anchorCtr="0">
            <a:normAutofit/>
          </a:bodyPr>
          <a:lstStyle/>
          <a:p>
            <a:pPr marL="457200" lvl="0" indent="-350044" algn="l" rtl="0">
              <a:spcBef>
                <a:spcPts val="360"/>
              </a:spcBef>
              <a:spcAft>
                <a:spcPts val="0"/>
              </a:spcAft>
              <a:buSzPct val="66176"/>
              <a:buChar char="❖"/>
            </a:pPr>
            <a:r>
              <a:rPr lang="en-US" dirty="0"/>
              <a:t>Traffic phases</a:t>
            </a:r>
            <a:endParaRPr dirty="0"/>
          </a:p>
          <a:p>
            <a:pPr marL="914400" lvl="1" indent="-325755" algn="l" rtl="0">
              <a:spcBef>
                <a:spcPts val="0"/>
              </a:spcBef>
              <a:spcAft>
                <a:spcPts val="0"/>
              </a:spcAft>
              <a:buSzPct val="64286"/>
              <a:buChar char="➢"/>
            </a:pPr>
            <a:r>
              <a:rPr lang="en-US" b="1" dirty="0"/>
              <a:t>Warmup</a:t>
            </a:r>
            <a:r>
              <a:rPr lang="en-US" dirty="0"/>
              <a:t>: 60 s @ 10 msg/s per publisher</a:t>
            </a:r>
            <a:endParaRPr dirty="0"/>
          </a:p>
          <a:p>
            <a:pPr marL="914400" lvl="1" indent="-325755" algn="l" rtl="0">
              <a:spcBef>
                <a:spcPts val="0"/>
              </a:spcBef>
              <a:spcAft>
                <a:spcPts val="0"/>
              </a:spcAft>
              <a:buSzPct val="64286"/>
              <a:buChar char="➢"/>
            </a:pPr>
            <a:r>
              <a:rPr lang="en-US" b="1" dirty="0"/>
              <a:t>Loll</a:t>
            </a:r>
            <a:r>
              <a:rPr lang="en-US" dirty="0"/>
              <a:t>: 60 s @ 10 msg/s per publisher</a:t>
            </a:r>
            <a:endParaRPr dirty="0"/>
          </a:p>
          <a:p>
            <a:pPr marL="914400" lvl="1" indent="-325755" algn="l" rtl="0">
              <a:spcBef>
                <a:spcPts val="0"/>
              </a:spcBef>
              <a:spcAft>
                <a:spcPts val="0"/>
              </a:spcAft>
              <a:buSzPct val="64286"/>
              <a:buChar char="➢"/>
            </a:pPr>
            <a:r>
              <a:rPr lang="en-US" b="1" dirty="0"/>
              <a:t>Burst</a:t>
            </a:r>
            <a:r>
              <a:rPr lang="en-US" dirty="0"/>
              <a:t>: 120 s @ 30 msg/s per publisher</a:t>
            </a:r>
            <a:endParaRPr dirty="0"/>
          </a:p>
          <a:p>
            <a:pPr lvl="1" indent="-325755">
              <a:spcBef>
                <a:spcPts val="0"/>
              </a:spcBef>
              <a:buSzPct val="64286"/>
              <a:buChar char="➢"/>
            </a:pPr>
            <a:r>
              <a:rPr lang="en-US" b="1" dirty="0"/>
              <a:t>Recovery</a:t>
            </a:r>
            <a:r>
              <a:rPr lang="en-US" dirty="0"/>
              <a:t>: 60 s @ 10 msg/s per publisher</a:t>
            </a:r>
          </a:p>
          <a:p>
            <a:pPr marL="588645" lvl="1" indent="0">
              <a:spcBef>
                <a:spcPts val="0"/>
              </a:spcBef>
              <a:buSzPct val="64286"/>
              <a:buNone/>
            </a:pPr>
            <a:endParaRPr lang="en-US" dirty="0"/>
          </a:p>
          <a:p>
            <a:pPr marL="588645" indent="-457200">
              <a:spcBef>
                <a:spcPts val="0"/>
              </a:spcBef>
              <a:buSzPct val="64286"/>
              <a:buFont typeface="Wingdings" pitchFamily="2" charset="2"/>
              <a:buChar char="v"/>
            </a:pPr>
            <a:r>
              <a:rPr lang="en-US" sz="2800" dirty="0"/>
              <a:t>Metrices:</a:t>
            </a:r>
          </a:p>
          <a:p>
            <a:pPr marL="1045845" lvl="1" indent="-457200">
              <a:spcBef>
                <a:spcPts val="0"/>
              </a:spcBef>
              <a:buSzPct val="64286"/>
              <a:buFont typeface="Wingdings" pitchFamily="2" charset="2"/>
              <a:buChar char="Ø"/>
            </a:pPr>
            <a:r>
              <a:rPr lang="en-US" sz="2000" dirty="0"/>
              <a:t>Delivery Throughput</a:t>
            </a:r>
          </a:p>
          <a:p>
            <a:pPr marL="1045845" lvl="1" indent="-457200">
              <a:spcBef>
                <a:spcPts val="0"/>
              </a:spcBef>
              <a:buSzPct val="64286"/>
              <a:buFont typeface="Wingdings" pitchFamily="2" charset="2"/>
              <a:buChar char="Ø"/>
            </a:pPr>
            <a:r>
              <a:rPr lang="en-US" sz="2000" dirty="0"/>
              <a:t>CPU Utilization</a:t>
            </a:r>
          </a:p>
          <a:p>
            <a:pPr marL="1045845" lvl="1" indent="-457200">
              <a:spcBef>
                <a:spcPts val="0"/>
              </a:spcBef>
              <a:buSzPct val="64286"/>
              <a:buFont typeface="Wingdings" pitchFamily="2" charset="2"/>
              <a:buChar char="Ø"/>
            </a:pPr>
            <a:r>
              <a:rPr lang="en-US" sz="2000" dirty="0"/>
              <a:t>Memory Usage</a:t>
            </a:r>
          </a:p>
          <a:p>
            <a:pPr marL="1045845" lvl="1" indent="-457200">
              <a:spcBef>
                <a:spcPts val="0"/>
              </a:spcBef>
              <a:buSzPct val="64286"/>
              <a:buFont typeface="Wingdings" pitchFamily="2" charset="2"/>
              <a:buChar char="Ø"/>
            </a:pPr>
            <a:r>
              <a:rPr lang="en-US" sz="2000" dirty="0"/>
              <a:t>Latency</a:t>
            </a:r>
          </a:p>
          <a:p>
            <a:pPr marL="1045845" lvl="1" indent="-457200">
              <a:spcBef>
                <a:spcPts val="0"/>
              </a:spcBef>
              <a:buSzPct val="64286"/>
              <a:buFont typeface="Wingdings" pitchFamily="2" charset="2"/>
              <a:buChar char="Ø"/>
            </a:pPr>
            <a:r>
              <a:rPr lang="en-US" sz="2000" dirty="0"/>
              <a:t>Network Bandwidth</a:t>
            </a:r>
          </a:p>
          <a:p>
            <a:pPr marL="1045845" lvl="1" indent="-457200">
              <a:spcBef>
                <a:spcPts val="0"/>
              </a:spcBef>
              <a:buSzPct val="64286"/>
              <a:buFont typeface="Wingdings" pitchFamily="2" charset="2"/>
              <a:buChar char="Ø"/>
            </a:pPr>
            <a:endParaRPr lang="en-US" dirty="0"/>
          </a:p>
          <a:p>
            <a:pPr marL="588645" indent="-457200">
              <a:spcBef>
                <a:spcPts val="0"/>
              </a:spcBef>
              <a:buSzPct val="64286"/>
              <a:buFont typeface="Wingdings" pitchFamily="2" charset="2"/>
              <a:buChar char="v"/>
            </a:pPr>
            <a:endParaRPr dirty="0"/>
          </a:p>
        </p:txBody>
      </p:sp>
      <p:sp>
        <p:nvSpPr>
          <p:cNvPr id="124" name="Google Shape;124;p15"/>
          <p:cNvSpPr txBox="1">
            <a:spLocks noGrp="1"/>
          </p:cNvSpPr>
          <p:nvPr>
            <p:ph type="sldNum" idx="12"/>
          </p:nvPr>
        </p:nvSpPr>
        <p:spPr>
          <a:xfrm>
            <a:off x="3498112" y="6356350"/>
            <a:ext cx="2133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21</a:t>
            </a:fld>
            <a:endParaRPr/>
          </a:p>
        </p:txBody>
      </p:sp>
      <p:pic>
        <p:nvPicPr>
          <p:cNvPr id="6" name="Picture 5">
            <a:extLst>
              <a:ext uri="{FF2B5EF4-FFF2-40B4-BE49-F238E27FC236}">
                <a16:creationId xmlns:a16="http://schemas.microsoft.com/office/drawing/2014/main" id="{2591B7D2-6D5E-673B-9674-BEE3CEF0877A}"/>
              </a:ext>
            </a:extLst>
          </p:cNvPr>
          <p:cNvPicPr>
            <a:picLocks noChangeAspect="1"/>
          </p:cNvPicPr>
          <p:nvPr/>
        </p:nvPicPr>
        <p:blipFill>
          <a:blip r:embed="rId3"/>
          <a:stretch>
            <a:fillRect/>
          </a:stretch>
        </p:blipFill>
        <p:spPr>
          <a:xfrm>
            <a:off x="3498113" y="3920111"/>
            <a:ext cx="5622716" cy="25926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2875F2A-EB4E-05A7-613D-00BFDCE1DE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49DDE6-C2FB-2962-FA55-AFEFBB44E8B5}"/>
              </a:ext>
            </a:extLst>
          </p:cNvPr>
          <p:cNvSpPr>
            <a:spLocks noGrp="1"/>
          </p:cNvSpPr>
          <p:nvPr>
            <p:ph type="title"/>
          </p:nvPr>
        </p:nvSpPr>
        <p:spPr/>
        <p:txBody>
          <a:bodyPr>
            <a:normAutofit fontScale="90000"/>
          </a:bodyPr>
          <a:lstStyle/>
          <a:p>
            <a:r>
              <a:rPr lang="en-US" dirty="0"/>
              <a:t>Exp 4: Payload Sensitivity in Shared-Topic Workloads</a:t>
            </a:r>
          </a:p>
        </p:txBody>
      </p:sp>
      <p:sp>
        <p:nvSpPr>
          <p:cNvPr id="3" name="Text Placeholder 2">
            <a:extLst>
              <a:ext uri="{FF2B5EF4-FFF2-40B4-BE49-F238E27FC236}">
                <a16:creationId xmlns:a16="http://schemas.microsoft.com/office/drawing/2014/main" id="{7658973B-999D-E63C-59B8-E24745BAE44C}"/>
              </a:ext>
            </a:extLst>
          </p:cNvPr>
          <p:cNvSpPr>
            <a:spLocks noGrp="1"/>
          </p:cNvSpPr>
          <p:nvPr>
            <p:ph type="body" idx="1"/>
          </p:nvPr>
        </p:nvSpPr>
        <p:spPr/>
        <p:txBody>
          <a:bodyPr>
            <a:normAutofit/>
          </a:bodyPr>
          <a:lstStyle/>
          <a:p>
            <a:pPr>
              <a:buFont typeface="Wingdings" pitchFamily="2" charset="2"/>
              <a:buChar char="v"/>
            </a:pPr>
            <a:r>
              <a:rPr lang="en-US" sz="2400" b="1" dirty="0"/>
              <a:t>Research question</a:t>
            </a:r>
          </a:p>
          <a:p>
            <a:pPr lvl="1">
              <a:buFont typeface="Wingdings" pitchFamily="2" charset="2"/>
              <a:buChar char="v"/>
            </a:pPr>
            <a:r>
              <a:rPr lang="en-US" sz="2000" dirty="0"/>
              <a:t>How does message payload size affect broker performance in shared-topic communication patterns such as </a:t>
            </a:r>
            <a:r>
              <a:rPr lang="en-US" sz="2000" b="1" dirty="0"/>
              <a:t>fan-in</a:t>
            </a:r>
            <a:r>
              <a:rPr lang="en-US" sz="2000" dirty="0"/>
              <a:t> and </a:t>
            </a:r>
            <a:r>
              <a:rPr lang="en-US" sz="2000" b="1" dirty="0"/>
              <a:t>fan-out</a:t>
            </a:r>
            <a:r>
              <a:rPr lang="en-US" sz="2000" dirty="0"/>
              <a:t>?</a:t>
            </a:r>
          </a:p>
          <a:p>
            <a:pPr>
              <a:buFont typeface="Wingdings" pitchFamily="2" charset="2"/>
              <a:buChar char="v"/>
            </a:pPr>
            <a:endParaRPr lang="en-US" sz="2400" dirty="0"/>
          </a:p>
          <a:p>
            <a:pPr>
              <a:buFont typeface="Wingdings" pitchFamily="2" charset="2"/>
              <a:buChar char="v"/>
            </a:pPr>
            <a:r>
              <a:rPr lang="en-US" sz="2400" dirty="0"/>
              <a:t>Why this experiment?</a:t>
            </a:r>
          </a:p>
          <a:p>
            <a:pPr lvl="1">
              <a:buFont typeface="Wingdings" pitchFamily="2" charset="2"/>
              <a:buChar char="v"/>
            </a:pPr>
            <a:r>
              <a:rPr lang="en-US" sz="2000" dirty="0"/>
              <a:t>Previous paper studied payload size only in small-scale latency tests </a:t>
            </a:r>
          </a:p>
          <a:p>
            <a:pPr lvl="1">
              <a:buFont typeface="Wingdings" pitchFamily="2" charset="2"/>
              <a:buChar char="v"/>
            </a:pPr>
            <a:r>
              <a:rPr lang="en-US" sz="2000" dirty="0"/>
              <a:t>This experiment checks whether broker rankings change when </a:t>
            </a:r>
            <a:r>
              <a:rPr lang="en-US" sz="2000" b="1" dirty="0"/>
              <a:t>payload size</a:t>
            </a:r>
            <a:r>
              <a:rPr lang="en-US" sz="2000" dirty="0"/>
              <a:t> and </a:t>
            </a:r>
            <a:r>
              <a:rPr lang="en-US" sz="2000" b="1" dirty="0"/>
              <a:t>shared-topic topology</a:t>
            </a:r>
            <a:r>
              <a:rPr lang="en-US" sz="2000" dirty="0"/>
              <a:t> interact</a:t>
            </a:r>
          </a:p>
          <a:p>
            <a:pPr marL="571500" lvl="1" indent="0">
              <a:buNone/>
            </a:pPr>
            <a:endParaRPr lang="en-US" sz="2000" dirty="0"/>
          </a:p>
          <a:p>
            <a:pPr>
              <a:buFont typeface="Wingdings" pitchFamily="2" charset="2"/>
              <a:buChar char="v"/>
            </a:pPr>
            <a:r>
              <a:rPr lang="en-US" sz="2400" b="1" dirty="0"/>
              <a:t>Topologies</a:t>
            </a:r>
            <a:endParaRPr lang="en-US" sz="100" dirty="0"/>
          </a:p>
          <a:p>
            <a:pPr lvl="1">
              <a:buFont typeface="Wingdings" pitchFamily="2" charset="2"/>
              <a:buChar char="v"/>
            </a:pPr>
            <a:r>
              <a:rPr lang="en-US" sz="2000" b="1" dirty="0"/>
              <a:t>Fan-Out:</a:t>
            </a:r>
            <a:r>
              <a:rPr lang="en-US" sz="2000" dirty="0"/>
              <a:t> 10 publishers → 1000 subscribers, shared topic </a:t>
            </a:r>
          </a:p>
          <a:p>
            <a:pPr lvl="1">
              <a:buFont typeface="Wingdings" pitchFamily="2" charset="2"/>
              <a:buChar char="v"/>
            </a:pPr>
            <a:r>
              <a:rPr lang="en-US" sz="2000" b="1" dirty="0"/>
              <a:t>Fan-In:</a:t>
            </a:r>
            <a:r>
              <a:rPr lang="en-US" sz="2000" dirty="0"/>
              <a:t> 1000 publishers → 1 subscriber, shared topic</a:t>
            </a:r>
          </a:p>
          <a:p>
            <a:pPr>
              <a:buFont typeface="Wingdings" pitchFamily="2" charset="2"/>
              <a:buChar char="v"/>
            </a:pPr>
            <a:endParaRPr lang="en-US" sz="2600" dirty="0"/>
          </a:p>
        </p:txBody>
      </p:sp>
      <p:sp>
        <p:nvSpPr>
          <p:cNvPr id="4" name="Slide Number Placeholder 3">
            <a:extLst>
              <a:ext uri="{FF2B5EF4-FFF2-40B4-BE49-F238E27FC236}">
                <a16:creationId xmlns:a16="http://schemas.microsoft.com/office/drawing/2014/main" id="{714AF92A-8AF0-C9DB-48E6-7C9485ECACC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22</a:t>
            </a:fld>
            <a:endParaRPr lang="en-US"/>
          </a:p>
        </p:txBody>
      </p:sp>
    </p:spTree>
    <p:extLst>
      <p:ext uri="{BB962C8B-B14F-4D97-AF65-F5344CB8AC3E}">
        <p14:creationId xmlns:p14="http://schemas.microsoft.com/office/powerpoint/2010/main" val="244797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3A054BC-F4F5-B09A-7990-20E912B6BC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098CA1-EF0C-7BAD-3861-153E20175165}"/>
              </a:ext>
            </a:extLst>
          </p:cNvPr>
          <p:cNvSpPr>
            <a:spLocks noGrp="1"/>
          </p:cNvSpPr>
          <p:nvPr>
            <p:ph type="title"/>
          </p:nvPr>
        </p:nvSpPr>
        <p:spPr/>
        <p:txBody>
          <a:bodyPr>
            <a:normAutofit fontScale="90000"/>
          </a:bodyPr>
          <a:lstStyle/>
          <a:p>
            <a:r>
              <a:rPr lang="en-US" dirty="0"/>
              <a:t>Payload Sensitivity in Shared-Topic Workloads</a:t>
            </a:r>
          </a:p>
        </p:txBody>
      </p:sp>
      <p:sp>
        <p:nvSpPr>
          <p:cNvPr id="3" name="Text Placeholder 2">
            <a:extLst>
              <a:ext uri="{FF2B5EF4-FFF2-40B4-BE49-F238E27FC236}">
                <a16:creationId xmlns:a16="http://schemas.microsoft.com/office/drawing/2014/main" id="{53465653-DCB9-64B1-0954-E5B5096CFA62}"/>
              </a:ext>
            </a:extLst>
          </p:cNvPr>
          <p:cNvSpPr>
            <a:spLocks noGrp="1"/>
          </p:cNvSpPr>
          <p:nvPr>
            <p:ph type="body" idx="1"/>
          </p:nvPr>
        </p:nvSpPr>
        <p:spPr>
          <a:xfrm>
            <a:off x="457200" y="1600199"/>
            <a:ext cx="8229600" cy="4817533"/>
          </a:xfrm>
        </p:spPr>
        <p:txBody>
          <a:bodyPr>
            <a:normAutofit/>
          </a:bodyPr>
          <a:lstStyle/>
          <a:p>
            <a:pPr>
              <a:buFont typeface="Wingdings" pitchFamily="2" charset="2"/>
              <a:buChar char="v"/>
            </a:pPr>
            <a:r>
              <a:rPr lang="en-US" sz="2400" dirty="0"/>
              <a:t>Common parameters</a:t>
            </a:r>
          </a:p>
          <a:p>
            <a:pPr lvl="1">
              <a:buFont typeface="Wingdings" pitchFamily="2" charset="2"/>
              <a:buChar char="v"/>
            </a:pPr>
            <a:r>
              <a:rPr lang="en-US" sz="1800" dirty="0"/>
              <a:t>Rate per publisher: </a:t>
            </a:r>
            <a:r>
              <a:rPr lang="en-US" sz="1800" b="1" dirty="0"/>
              <a:t>10 msg/s</a:t>
            </a:r>
          </a:p>
          <a:p>
            <a:pPr lvl="1">
              <a:buFont typeface="Wingdings" pitchFamily="2" charset="2"/>
              <a:buChar char="v"/>
            </a:pPr>
            <a:r>
              <a:rPr lang="en-US" sz="1800" dirty="0"/>
              <a:t>Duration: </a:t>
            </a:r>
            <a:r>
              <a:rPr lang="en-US" sz="1800" b="1" dirty="0"/>
              <a:t>120 s</a:t>
            </a:r>
          </a:p>
          <a:p>
            <a:pPr lvl="1">
              <a:buFont typeface="Wingdings" pitchFamily="2" charset="2"/>
              <a:buChar char="v"/>
            </a:pPr>
            <a:r>
              <a:rPr lang="en-US" sz="1800" dirty="0"/>
              <a:t>Warmup: </a:t>
            </a:r>
            <a:r>
              <a:rPr lang="en-US" sz="1800" b="1" dirty="0"/>
              <a:t>60 s</a:t>
            </a:r>
            <a:r>
              <a:rPr lang="en-US" sz="1800" dirty="0"/>
              <a:t> </a:t>
            </a:r>
          </a:p>
          <a:p>
            <a:pPr lvl="1">
              <a:buFont typeface="Wingdings" pitchFamily="2" charset="2"/>
              <a:buChar char="v"/>
            </a:pPr>
            <a:r>
              <a:rPr lang="en-US" sz="1800" dirty="0"/>
              <a:t>QoS: </a:t>
            </a:r>
            <a:r>
              <a:rPr lang="en-US" sz="1800" b="1" dirty="0"/>
              <a:t>0</a:t>
            </a:r>
          </a:p>
          <a:p>
            <a:pPr lvl="1">
              <a:buFont typeface="Wingdings" pitchFamily="2" charset="2"/>
              <a:buChar char="v"/>
            </a:pPr>
            <a:r>
              <a:rPr lang="en-US" sz="1800" dirty="0"/>
              <a:t>Metrics: p95 Latency</a:t>
            </a:r>
          </a:p>
          <a:p>
            <a:pPr marL="571500" lvl="1" indent="0">
              <a:buNone/>
            </a:pPr>
            <a:endParaRPr lang="en-US" sz="1800" dirty="0"/>
          </a:p>
          <a:p>
            <a:pPr marL="571500" lvl="1" indent="0">
              <a:buNone/>
            </a:pPr>
            <a:endParaRPr lang="en-US" sz="1800" dirty="0"/>
          </a:p>
          <a:p>
            <a:pPr>
              <a:buFont typeface="Wingdings" pitchFamily="2" charset="2"/>
              <a:buChar char="v"/>
            </a:pPr>
            <a:r>
              <a:rPr lang="en-US" sz="2400" dirty="0"/>
              <a:t>Example Use Cases</a:t>
            </a:r>
          </a:p>
          <a:p>
            <a:pPr lvl="1">
              <a:buFont typeface="Wingdings" pitchFamily="2" charset="2"/>
              <a:buChar char="Ø"/>
            </a:pPr>
            <a:r>
              <a:rPr lang="en-US" sz="1800" b="1" dirty="0"/>
              <a:t>Small telemetry</a:t>
            </a:r>
            <a:br>
              <a:rPr lang="en-US" sz="1800" dirty="0"/>
            </a:br>
            <a:r>
              <a:rPr lang="en-US" sz="1800" dirty="0"/>
              <a:t>Temperature, humidity, status flags.</a:t>
            </a:r>
          </a:p>
          <a:p>
            <a:pPr lvl="1">
              <a:buFont typeface="Wingdings" pitchFamily="2" charset="2"/>
              <a:buChar char="Ø"/>
            </a:pPr>
            <a:r>
              <a:rPr lang="en-US" sz="1800" b="1" dirty="0"/>
              <a:t>Rich industrial messages</a:t>
            </a:r>
            <a:br>
              <a:rPr lang="en-US" sz="1800" dirty="0"/>
            </a:br>
            <a:r>
              <a:rPr lang="en-US" sz="1800" dirty="0"/>
              <a:t>Diagnostics, metadata, alarms, state snapshots.</a:t>
            </a:r>
          </a:p>
        </p:txBody>
      </p:sp>
      <p:sp>
        <p:nvSpPr>
          <p:cNvPr id="4" name="Slide Number Placeholder 3">
            <a:extLst>
              <a:ext uri="{FF2B5EF4-FFF2-40B4-BE49-F238E27FC236}">
                <a16:creationId xmlns:a16="http://schemas.microsoft.com/office/drawing/2014/main" id="{CC1EED26-2341-180C-6A23-64670D061A5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23</a:t>
            </a:fld>
            <a:endParaRPr lang="en-US"/>
          </a:p>
        </p:txBody>
      </p:sp>
    </p:spTree>
    <p:extLst>
      <p:ext uri="{BB962C8B-B14F-4D97-AF65-F5344CB8AC3E}">
        <p14:creationId xmlns:p14="http://schemas.microsoft.com/office/powerpoint/2010/main" val="28320762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CA4DA-5081-353B-D37A-1D189396843E}"/>
              </a:ext>
            </a:extLst>
          </p:cNvPr>
          <p:cNvSpPr>
            <a:spLocks noGrp="1"/>
          </p:cNvSpPr>
          <p:nvPr>
            <p:ph type="title"/>
          </p:nvPr>
        </p:nvSpPr>
        <p:spPr/>
        <p:txBody>
          <a:bodyPr>
            <a:normAutofit fontScale="90000"/>
          </a:bodyPr>
          <a:lstStyle/>
          <a:p>
            <a:r>
              <a:rPr lang="en-US" dirty="0"/>
              <a:t>Fan Out Results (Throughput)</a:t>
            </a:r>
            <a:br>
              <a:rPr lang="en-US" dirty="0"/>
            </a:br>
            <a:r>
              <a:rPr lang="en-US" dirty="0"/>
              <a:t>(4 vCPU, 8 GB RAM)</a:t>
            </a:r>
          </a:p>
        </p:txBody>
      </p:sp>
      <p:sp>
        <p:nvSpPr>
          <p:cNvPr id="4" name="Slide Number Placeholder 3">
            <a:extLst>
              <a:ext uri="{FF2B5EF4-FFF2-40B4-BE49-F238E27FC236}">
                <a16:creationId xmlns:a16="http://schemas.microsoft.com/office/drawing/2014/main" id="{B9DDBD77-1783-5D27-535B-30C1225FC81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24</a:t>
            </a:fld>
            <a:endParaRPr lang="en-US"/>
          </a:p>
        </p:txBody>
      </p:sp>
      <p:pic>
        <p:nvPicPr>
          <p:cNvPr id="6" name="Picture 5">
            <a:extLst>
              <a:ext uri="{FF2B5EF4-FFF2-40B4-BE49-F238E27FC236}">
                <a16:creationId xmlns:a16="http://schemas.microsoft.com/office/drawing/2014/main" id="{C0720DFE-2355-95BC-9AF3-95EEB8D7BAE5}"/>
              </a:ext>
            </a:extLst>
          </p:cNvPr>
          <p:cNvPicPr>
            <a:picLocks noChangeAspect="1"/>
          </p:cNvPicPr>
          <p:nvPr/>
        </p:nvPicPr>
        <p:blipFill>
          <a:blip r:embed="rId3"/>
          <a:stretch>
            <a:fillRect/>
          </a:stretch>
        </p:blipFill>
        <p:spPr>
          <a:xfrm>
            <a:off x="556053" y="1846999"/>
            <a:ext cx="7772400" cy="4509351"/>
          </a:xfrm>
          <a:prstGeom prst="rect">
            <a:avLst/>
          </a:prstGeom>
        </p:spPr>
      </p:pic>
      <p:pic>
        <p:nvPicPr>
          <p:cNvPr id="8" name="Picture 7">
            <a:extLst>
              <a:ext uri="{FF2B5EF4-FFF2-40B4-BE49-F238E27FC236}">
                <a16:creationId xmlns:a16="http://schemas.microsoft.com/office/drawing/2014/main" id="{3B599E0E-0A4C-6B95-F774-755195E4767B}"/>
              </a:ext>
            </a:extLst>
          </p:cNvPr>
          <p:cNvPicPr>
            <a:picLocks noChangeAspect="1"/>
          </p:cNvPicPr>
          <p:nvPr/>
        </p:nvPicPr>
        <p:blipFill>
          <a:blip r:embed="rId4"/>
          <a:stretch>
            <a:fillRect/>
          </a:stretch>
        </p:blipFill>
        <p:spPr>
          <a:xfrm>
            <a:off x="807308" y="1526432"/>
            <a:ext cx="7772400" cy="222828"/>
          </a:xfrm>
          <a:prstGeom prst="rect">
            <a:avLst/>
          </a:prstGeom>
        </p:spPr>
      </p:pic>
    </p:spTree>
    <p:extLst>
      <p:ext uri="{BB962C8B-B14F-4D97-AF65-F5344CB8AC3E}">
        <p14:creationId xmlns:p14="http://schemas.microsoft.com/office/powerpoint/2010/main" val="34811612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A31FE-9819-DDBB-CF58-CC5A32C74D6D}"/>
              </a:ext>
            </a:extLst>
          </p:cNvPr>
          <p:cNvSpPr>
            <a:spLocks noGrp="1"/>
          </p:cNvSpPr>
          <p:nvPr>
            <p:ph type="title"/>
          </p:nvPr>
        </p:nvSpPr>
        <p:spPr/>
        <p:txBody>
          <a:bodyPr>
            <a:normAutofit fontScale="90000"/>
          </a:bodyPr>
          <a:lstStyle/>
          <a:p>
            <a:r>
              <a:rPr lang="en-US" dirty="0"/>
              <a:t>Bursty Fan Out</a:t>
            </a:r>
            <a:br>
              <a:rPr lang="en-US" dirty="0"/>
            </a:br>
            <a:r>
              <a:rPr lang="en-US" dirty="0"/>
              <a:t>Experimental Setup</a:t>
            </a:r>
          </a:p>
        </p:txBody>
      </p:sp>
      <p:sp>
        <p:nvSpPr>
          <p:cNvPr id="3" name="Text Placeholder 2">
            <a:extLst>
              <a:ext uri="{FF2B5EF4-FFF2-40B4-BE49-F238E27FC236}">
                <a16:creationId xmlns:a16="http://schemas.microsoft.com/office/drawing/2014/main" id="{C5CD32A6-0F94-A8AB-EE39-A8F0F2AA9B43}"/>
              </a:ext>
            </a:extLst>
          </p:cNvPr>
          <p:cNvSpPr>
            <a:spLocks noGrp="1"/>
          </p:cNvSpPr>
          <p:nvPr>
            <p:ph type="body" idx="1"/>
          </p:nvPr>
        </p:nvSpPr>
        <p:spPr>
          <a:xfrm>
            <a:off x="2323718" y="1397910"/>
            <a:ext cx="4918668" cy="1018902"/>
          </a:xfrm>
        </p:spPr>
        <p:txBody>
          <a:bodyPr/>
          <a:lstStyle/>
          <a:p>
            <a:r>
              <a:rPr lang="en-US" sz="2400" dirty="0"/>
              <a:t>4 vCPU, 8 GB RAM</a:t>
            </a:r>
          </a:p>
          <a:p>
            <a:r>
              <a:rPr lang="en-US" sz="2400" dirty="0"/>
              <a:t>Subscriber: 1000, Publisher: 10</a:t>
            </a:r>
          </a:p>
          <a:p>
            <a:pPr marL="85725" indent="0">
              <a:buNone/>
            </a:pPr>
            <a:endParaRPr lang="en-US" dirty="0"/>
          </a:p>
        </p:txBody>
      </p:sp>
      <p:sp>
        <p:nvSpPr>
          <p:cNvPr id="4" name="Slide Number Placeholder 3">
            <a:extLst>
              <a:ext uri="{FF2B5EF4-FFF2-40B4-BE49-F238E27FC236}">
                <a16:creationId xmlns:a16="http://schemas.microsoft.com/office/drawing/2014/main" id="{3D8721B8-8220-1561-0735-0668EE3E94F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25</a:t>
            </a:fld>
            <a:endParaRPr lang="en-US"/>
          </a:p>
        </p:txBody>
      </p:sp>
      <p:pic>
        <p:nvPicPr>
          <p:cNvPr id="7" name="Picture 6">
            <a:extLst>
              <a:ext uri="{FF2B5EF4-FFF2-40B4-BE49-F238E27FC236}">
                <a16:creationId xmlns:a16="http://schemas.microsoft.com/office/drawing/2014/main" id="{0102AE2D-B15A-15F6-330A-B73A4E3DFAB6}"/>
              </a:ext>
            </a:extLst>
          </p:cNvPr>
          <p:cNvPicPr>
            <a:picLocks noChangeAspect="1"/>
          </p:cNvPicPr>
          <p:nvPr/>
        </p:nvPicPr>
        <p:blipFill>
          <a:blip r:embed="rId2"/>
          <a:stretch>
            <a:fillRect/>
          </a:stretch>
        </p:blipFill>
        <p:spPr>
          <a:xfrm>
            <a:off x="1606669" y="2416812"/>
            <a:ext cx="6352765" cy="4338678"/>
          </a:xfrm>
          <a:prstGeom prst="rect">
            <a:avLst/>
          </a:prstGeom>
        </p:spPr>
      </p:pic>
    </p:spTree>
    <p:extLst>
      <p:ext uri="{BB962C8B-B14F-4D97-AF65-F5344CB8AC3E}">
        <p14:creationId xmlns:p14="http://schemas.microsoft.com/office/powerpoint/2010/main" val="4836085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4DF58-5CB2-C6A2-08F8-7ECB994862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BE3161-12F2-F5BB-6920-069803361EB7}"/>
              </a:ext>
            </a:extLst>
          </p:cNvPr>
          <p:cNvSpPr>
            <a:spLocks noGrp="1"/>
          </p:cNvSpPr>
          <p:nvPr>
            <p:ph type="title"/>
          </p:nvPr>
        </p:nvSpPr>
        <p:spPr/>
        <p:txBody>
          <a:bodyPr>
            <a:normAutofit fontScale="90000"/>
          </a:bodyPr>
          <a:lstStyle/>
          <a:p>
            <a:r>
              <a:rPr lang="en-US" dirty="0"/>
              <a:t>Use cases of Bursty Fan-Out Topology</a:t>
            </a:r>
          </a:p>
        </p:txBody>
      </p:sp>
      <p:sp>
        <p:nvSpPr>
          <p:cNvPr id="3" name="Text Placeholder 2">
            <a:extLst>
              <a:ext uri="{FF2B5EF4-FFF2-40B4-BE49-F238E27FC236}">
                <a16:creationId xmlns:a16="http://schemas.microsoft.com/office/drawing/2014/main" id="{C706A756-7230-1EFF-F5AC-C43C3A845A11}"/>
              </a:ext>
            </a:extLst>
          </p:cNvPr>
          <p:cNvSpPr>
            <a:spLocks noGrp="1"/>
          </p:cNvSpPr>
          <p:nvPr>
            <p:ph type="body" idx="1"/>
          </p:nvPr>
        </p:nvSpPr>
        <p:spPr>
          <a:xfrm>
            <a:off x="322096" y="1664208"/>
            <a:ext cx="8485632" cy="4756150"/>
          </a:xfrm>
        </p:spPr>
        <p:txBody>
          <a:bodyPr>
            <a:normAutofit/>
          </a:bodyPr>
          <a:lstStyle/>
          <a:p>
            <a:r>
              <a:rPr lang="en-US" sz="3200" b="1" dirty="0"/>
              <a:t>Mobile IoT devices </a:t>
            </a:r>
            <a:r>
              <a:rPr lang="en-US" sz="3200" dirty="0"/>
              <a:t>with </a:t>
            </a:r>
            <a:r>
              <a:rPr lang="en-US" sz="3200" b="1" dirty="0"/>
              <a:t>unstable</a:t>
            </a:r>
            <a:r>
              <a:rPr lang="en-US" sz="3200" dirty="0"/>
              <a:t> wireless </a:t>
            </a:r>
            <a:r>
              <a:rPr lang="en-US" sz="3200" b="1" dirty="0"/>
              <a:t>links</a:t>
            </a:r>
            <a:r>
              <a:rPr lang="en-US" sz="3200" dirty="0"/>
              <a:t> </a:t>
            </a:r>
          </a:p>
          <a:p>
            <a:r>
              <a:rPr lang="en-US" sz="3200" dirty="0"/>
              <a:t>Edge gateways </a:t>
            </a:r>
            <a:r>
              <a:rPr lang="en-US" sz="3200" b="1" dirty="0"/>
              <a:t>temporarily</a:t>
            </a:r>
            <a:r>
              <a:rPr lang="en-US" sz="3200" dirty="0"/>
              <a:t> </a:t>
            </a:r>
            <a:r>
              <a:rPr lang="en-US" sz="3200" b="1" dirty="0"/>
              <a:t>losing</a:t>
            </a:r>
            <a:r>
              <a:rPr lang="en-US" sz="3200" dirty="0"/>
              <a:t> connectivity </a:t>
            </a:r>
          </a:p>
          <a:p>
            <a:r>
              <a:rPr lang="en-US" sz="3200" dirty="0"/>
              <a:t>Disaster-response sensors moving </a:t>
            </a:r>
            <a:r>
              <a:rPr lang="en-US" sz="3200" b="1" dirty="0"/>
              <a:t>in and out of coverage </a:t>
            </a:r>
          </a:p>
          <a:p>
            <a:r>
              <a:rPr lang="en-US" sz="3200" b="1" dirty="0"/>
              <a:t>Industrial devices </a:t>
            </a:r>
            <a:r>
              <a:rPr lang="en-US" sz="3200" dirty="0"/>
              <a:t>that sleep, reconnect, and resume receiving data</a:t>
            </a:r>
          </a:p>
        </p:txBody>
      </p:sp>
      <p:sp>
        <p:nvSpPr>
          <p:cNvPr id="4" name="Slide Number Placeholder 3">
            <a:extLst>
              <a:ext uri="{FF2B5EF4-FFF2-40B4-BE49-F238E27FC236}">
                <a16:creationId xmlns:a16="http://schemas.microsoft.com/office/drawing/2014/main" id="{547605FF-3C26-5295-9983-8BCB276EC61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26</a:t>
            </a:fld>
            <a:endParaRPr lang="en-US"/>
          </a:p>
        </p:txBody>
      </p:sp>
    </p:spTree>
    <p:extLst>
      <p:ext uri="{BB962C8B-B14F-4D97-AF65-F5344CB8AC3E}">
        <p14:creationId xmlns:p14="http://schemas.microsoft.com/office/powerpoint/2010/main" val="14683427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9D501-AF9F-675E-D2E2-FF16161BF2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0225A0-4ECB-340F-4130-4BF652926491}"/>
              </a:ext>
            </a:extLst>
          </p:cNvPr>
          <p:cNvSpPr>
            <a:spLocks noGrp="1"/>
          </p:cNvSpPr>
          <p:nvPr>
            <p:ph type="title"/>
          </p:nvPr>
        </p:nvSpPr>
        <p:spPr/>
        <p:txBody>
          <a:bodyPr>
            <a:noAutofit/>
          </a:bodyPr>
          <a:lstStyle/>
          <a:p>
            <a:r>
              <a:rPr lang="en-US" sz="3600" dirty="0"/>
              <a:t>Delivery Throughput (MQTT Brokers)</a:t>
            </a:r>
          </a:p>
        </p:txBody>
      </p:sp>
      <p:sp>
        <p:nvSpPr>
          <p:cNvPr id="4" name="Slide Number Placeholder 3">
            <a:extLst>
              <a:ext uri="{FF2B5EF4-FFF2-40B4-BE49-F238E27FC236}">
                <a16:creationId xmlns:a16="http://schemas.microsoft.com/office/drawing/2014/main" id="{9BCC42BE-6577-5AB9-3E05-E12939399D8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27</a:t>
            </a:fld>
            <a:endParaRPr lang="en-US"/>
          </a:p>
        </p:txBody>
      </p:sp>
      <p:pic>
        <p:nvPicPr>
          <p:cNvPr id="8" name="Picture 7">
            <a:extLst>
              <a:ext uri="{FF2B5EF4-FFF2-40B4-BE49-F238E27FC236}">
                <a16:creationId xmlns:a16="http://schemas.microsoft.com/office/drawing/2014/main" id="{DD6EB8C4-BD1C-6891-A35E-17B21D2C4B8C}"/>
              </a:ext>
            </a:extLst>
          </p:cNvPr>
          <p:cNvPicPr>
            <a:picLocks noChangeAspect="1"/>
          </p:cNvPicPr>
          <p:nvPr/>
        </p:nvPicPr>
        <p:blipFill>
          <a:blip r:embed="rId3"/>
          <a:stretch>
            <a:fillRect/>
          </a:stretch>
        </p:blipFill>
        <p:spPr>
          <a:xfrm>
            <a:off x="1776846" y="1465950"/>
            <a:ext cx="5754270" cy="546595"/>
          </a:xfrm>
          <a:prstGeom prst="rect">
            <a:avLst/>
          </a:prstGeom>
        </p:spPr>
      </p:pic>
      <p:pic>
        <p:nvPicPr>
          <p:cNvPr id="5" name="Picture 4">
            <a:extLst>
              <a:ext uri="{FF2B5EF4-FFF2-40B4-BE49-F238E27FC236}">
                <a16:creationId xmlns:a16="http://schemas.microsoft.com/office/drawing/2014/main" id="{6E3DA035-AAD6-3F22-C74E-649BBD774B75}"/>
              </a:ext>
            </a:extLst>
          </p:cNvPr>
          <p:cNvPicPr>
            <a:picLocks noChangeAspect="1"/>
          </p:cNvPicPr>
          <p:nvPr/>
        </p:nvPicPr>
        <p:blipFill>
          <a:blip r:embed="rId4"/>
          <a:stretch>
            <a:fillRect/>
          </a:stretch>
        </p:blipFill>
        <p:spPr>
          <a:xfrm>
            <a:off x="1410789" y="1998889"/>
            <a:ext cx="6977380" cy="4677266"/>
          </a:xfrm>
          <a:prstGeom prst="rect">
            <a:avLst/>
          </a:prstGeom>
        </p:spPr>
      </p:pic>
    </p:spTree>
    <p:extLst>
      <p:ext uri="{BB962C8B-B14F-4D97-AF65-F5344CB8AC3E}">
        <p14:creationId xmlns:p14="http://schemas.microsoft.com/office/powerpoint/2010/main" val="396855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5AE29-9DD5-23A7-84AE-27EB69C39A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F76593-428F-9CC5-1F9F-25029573E726}"/>
              </a:ext>
            </a:extLst>
          </p:cNvPr>
          <p:cNvSpPr>
            <a:spLocks noGrp="1"/>
          </p:cNvSpPr>
          <p:nvPr>
            <p:ph type="title"/>
          </p:nvPr>
        </p:nvSpPr>
        <p:spPr/>
        <p:txBody>
          <a:bodyPr/>
          <a:lstStyle/>
          <a:p>
            <a:r>
              <a:rPr lang="en-US" dirty="0"/>
              <a:t>CPU Usage (MQTT Brokers)</a:t>
            </a:r>
          </a:p>
        </p:txBody>
      </p:sp>
      <p:sp>
        <p:nvSpPr>
          <p:cNvPr id="4" name="Slide Number Placeholder 3">
            <a:extLst>
              <a:ext uri="{FF2B5EF4-FFF2-40B4-BE49-F238E27FC236}">
                <a16:creationId xmlns:a16="http://schemas.microsoft.com/office/drawing/2014/main" id="{580A1C9A-3A51-FD2A-36FE-C7F109B4489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28</a:t>
            </a:fld>
            <a:endParaRPr lang="en-US"/>
          </a:p>
        </p:txBody>
      </p:sp>
      <p:pic>
        <p:nvPicPr>
          <p:cNvPr id="7" name="Picture 6">
            <a:extLst>
              <a:ext uri="{FF2B5EF4-FFF2-40B4-BE49-F238E27FC236}">
                <a16:creationId xmlns:a16="http://schemas.microsoft.com/office/drawing/2014/main" id="{12715555-20E4-E612-8E39-DE357435EBEF}"/>
              </a:ext>
            </a:extLst>
          </p:cNvPr>
          <p:cNvPicPr>
            <a:picLocks noChangeAspect="1"/>
          </p:cNvPicPr>
          <p:nvPr/>
        </p:nvPicPr>
        <p:blipFill>
          <a:blip r:embed="rId2"/>
          <a:stretch>
            <a:fillRect/>
          </a:stretch>
        </p:blipFill>
        <p:spPr>
          <a:xfrm>
            <a:off x="1776846" y="1465950"/>
            <a:ext cx="5754270" cy="546595"/>
          </a:xfrm>
          <a:prstGeom prst="rect">
            <a:avLst/>
          </a:prstGeom>
        </p:spPr>
      </p:pic>
      <p:pic>
        <p:nvPicPr>
          <p:cNvPr id="6" name="Picture 5">
            <a:extLst>
              <a:ext uri="{FF2B5EF4-FFF2-40B4-BE49-F238E27FC236}">
                <a16:creationId xmlns:a16="http://schemas.microsoft.com/office/drawing/2014/main" id="{0CDFA527-F24B-0101-E6F9-51B226BD8E78}"/>
              </a:ext>
            </a:extLst>
          </p:cNvPr>
          <p:cNvPicPr>
            <a:picLocks noChangeAspect="1"/>
          </p:cNvPicPr>
          <p:nvPr/>
        </p:nvPicPr>
        <p:blipFill>
          <a:blip r:embed="rId3"/>
          <a:stretch>
            <a:fillRect/>
          </a:stretch>
        </p:blipFill>
        <p:spPr>
          <a:xfrm>
            <a:off x="1540394" y="2053020"/>
            <a:ext cx="6227173" cy="4303330"/>
          </a:xfrm>
          <a:prstGeom prst="rect">
            <a:avLst/>
          </a:prstGeom>
        </p:spPr>
      </p:pic>
    </p:spTree>
    <p:extLst>
      <p:ext uri="{BB962C8B-B14F-4D97-AF65-F5344CB8AC3E}">
        <p14:creationId xmlns:p14="http://schemas.microsoft.com/office/powerpoint/2010/main" val="26361576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4BECA-57F4-9857-5950-46E78FA306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C7E540-AB4D-CEBD-825D-E37EF991F773}"/>
              </a:ext>
            </a:extLst>
          </p:cNvPr>
          <p:cNvSpPr>
            <a:spLocks noGrp="1"/>
          </p:cNvSpPr>
          <p:nvPr>
            <p:ph type="title"/>
          </p:nvPr>
        </p:nvSpPr>
        <p:spPr/>
        <p:txBody>
          <a:bodyPr/>
          <a:lstStyle/>
          <a:p>
            <a:r>
              <a:rPr lang="en-US" dirty="0"/>
              <a:t>Memory Usage (MQTT Brokers)</a:t>
            </a:r>
          </a:p>
        </p:txBody>
      </p:sp>
      <p:sp>
        <p:nvSpPr>
          <p:cNvPr id="4" name="Slide Number Placeholder 3">
            <a:extLst>
              <a:ext uri="{FF2B5EF4-FFF2-40B4-BE49-F238E27FC236}">
                <a16:creationId xmlns:a16="http://schemas.microsoft.com/office/drawing/2014/main" id="{872E54B1-AADA-5736-778F-259F44C0FB1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29</a:t>
            </a:fld>
            <a:endParaRPr lang="en-US"/>
          </a:p>
        </p:txBody>
      </p:sp>
      <p:pic>
        <p:nvPicPr>
          <p:cNvPr id="6" name="Picture 5">
            <a:extLst>
              <a:ext uri="{FF2B5EF4-FFF2-40B4-BE49-F238E27FC236}">
                <a16:creationId xmlns:a16="http://schemas.microsoft.com/office/drawing/2014/main" id="{52263C37-A123-F5A0-1917-BD4BD2F41899}"/>
              </a:ext>
            </a:extLst>
          </p:cNvPr>
          <p:cNvPicPr>
            <a:picLocks noChangeAspect="1"/>
          </p:cNvPicPr>
          <p:nvPr/>
        </p:nvPicPr>
        <p:blipFill>
          <a:blip r:embed="rId2"/>
          <a:stretch>
            <a:fillRect/>
          </a:stretch>
        </p:blipFill>
        <p:spPr>
          <a:xfrm>
            <a:off x="1776846" y="1465950"/>
            <a:ext cx="5754270" cy="546595"/>
          </a:xfrm>
          <a:prstGeom prst="rect">
            <a:avLst/>
          </a:prstGeom>
        </p:spPr>
      </p:pic>
      <p:pic>
        <p:nvPicPr>
          <p:cNvPr id="5" name="Picture 4">
            <a:extLst>
              <a:ext uri="{FF2B5EF4-FFF2-40B4-BE49-F238E27FC236}">
                <a16:creationId xmlns:a16="http://schemas.microsoft.com/office/drawing/2014/main" id="{6E0C79FA-C3ED-C974-AC69-1713AE19BF6E}"/>
              </a:ext>
            </a:extLst>
          </p:cNvPr>
          <p:cNvPicPr>
            <a:picLocks noChangeAspect="1"/>
          </p:cNvPicPr>
          <p:nvPr/>
        </p:nvPicPr>
        <p:blipFill>
          <a:blip r:embed="rId3"/>
          <a:stretch>
            <a:fillRect/>
          </a:stretch>
        </p:blipFill>
        <p:spPr>
          <a:xfrm>
            <a:off x="1506583" y="2008888"/>
            <a:ext cx="6819356" cy="4712562"/>
          </a:xfrm>
          <a:prstGeom prst="rect">
            <a:avLst/>
          </a:prstGeom>
        </p:spPr>
      </p:pic>
    </p:spTree>
    <p:extLst>
      <p:ext uri="{BB962C8B-B14F-4D97-AF65-F5344CB8AC3E}">
        <p14:creationId xmlns:p14="http://schemas.microsoft.com/office/powerpoint/2010/main" val="26047230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E8586-DFD3-C673-F229-C98BD8E575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E99E7A-031B-E446-522C-FE8229F40D66}"/>
              </a:ext>
            </a:extLst>
          </p:cNvPr>
          <p:cNvSpPr>
            <a:spLocks noGrp="1"/>
          </p:cNvSpPr>
          <p:nvPr>
            <p:ph type="title"/>
          </p:nvPr>
        </p:nvSpPr>
        <p:spPr/>
        <p:txBody>
          <a:bodyPr>
            <a:noAutofit/>
          </a:bodyPr>
          <a:lstStyle/>
          <a:p>
            <a:r>
              <a:rPr lang="en-US" sz="3600" dirty="0"/>
              <a:t>Delivery Throughput</a:t>
            </a:r>
          </a:p>
        </p:txBody>
      </p:sp>
      <p:sp>
        <p:nvSpPr>
          <p:cNvPr id="4" name="Slide Number Placeholder 3">
            <a:extLst>
              <a:ext uri="{FF2B5EF4-FFF2-40B4-BE49-F238E27FC236}">
                <a16:creationId xmlns:a16="http://schemas.microsoft.com/office/drawing/2014/main" id="{8C3BDCA1-74BE-2541-2772-D6323AB565A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30</a:t>
            </a:fld>
            <a:endParaRPr lang="en-US"/>
          </a:p>
        </p:txBody>
      </p:sp>
      <p:pic>
        <p:nvPicPr>
          <p:cNvPr id="7" name="Picture 6">
            <a:extLst>
              <a:ext uri="{FF2B5EF4-FFF2-40B4-BE49-F238E27FC236}">
                <a16:creationId xmlns:a16="http://schemas.microsoft.com/office/drawing/2014/main" id="{1A957AC1-5414-B808-59D3-E25BD824C77C}"/>
              </a:ext>
            </a:extLst>
          </p:cNvPr>
          <p:cNvPicPr>
            <a:picLocks noChangeAspect="1"/>
          </p:cNvPicPr>
          <p:nvPr/>
        </p:nvPicPr>
        <p:blipFill>
          <a:blip r:embed="rId3"/>
          <a:stretch>
            <a:fillRect/>
          </a:stretch>
        </p:blipFill>
        <p:spPr>
          <a:xfrm>
            <a:off x="93624" y="2468786"/>
            <a:ext cx="4478376" cy="3035582"/>
          </a:xfrm>
          <a:prstGeom prst="rect">
            <a:avLst/>
          </a:prstGeom>
        </p:spPr>
      </p:pic>
      <p:pic>
        <p:nvPicPr>
          <p:cNvPr id="3" name="Picture 2">
            <a:extLst>
              <a:ext uri="{FF2B5EF4-FFF2-40B4-BE49-F238E27FC236}">
                <a16:creationId xmlns:a16="http://schemas.microsoft.com/office/drawing/2014/main" id="{CFAE3488-D5CB-FCF8-37CD-A5B069BFDCCF}"/>
              </a:ext>
            </a:extLst>
          </p:cNvPr>
          <p:cNvPicPr>
            <a:picLocks noChangeAspect="1"/>
          </p:cNvPicPr>
          <p:nvPr/>
        </p:nvPicPr>
        <p:blipFill>
          <a:blip r:embed="rId4"/>
          <a:stretch>
            <a:fillRect/>
          </a:stretch>
        </p:blipFill>
        <p:spPr>
          <a:xfrm>
            <a:off x="4660032" y="2536566"/>
            <a:ext cx="4326150" cy="2900022"/>
          </a:xfrm>
          <a:prstGeom prst="rect">
            <a:avLst/>
          </a:prstGeom>
        </p:spPr>
      </p:pic>
      <p:pic>
        <p:nvPicPr>
          <p:cNvPr id="5" name="Picture 4">
            <a:extLst>
              <a:ext uri="{FF2B5EF4-FFF2-40B4-BE49-F238E27FC236}">
                <a16:creationId xmlns:a16="http://schemas.microsoft.com/office/drawing/2014/main" id="{4F4C2A8A-4DAC-F6C6-2E3F-843149B3DD42}"/>
              </a:ext>
            </a:extLst>
          </p:cNvPr>
          <p:cNvPicPr>
            <a:picLocks noChangeAspect="1"/>
          </p:cNvPicPr>
          <p:nvPr/>
        </p:nvPicPr>
        <p:blipFill>
          <a:blip r:embed="rId5"/>
          <a:stretch>
            <a:fillRect/>
          </a:stretch>
        </p:blipFill>
        <p:spPr>
          <a:xfrm>
            <a:off x="646442" y="1798015"/>
            <a:ext cx="8229600" cy="235936"/>
          </a:xfrm>
          <a:prstGeom prst="rect">
            <a:avLst/>
          </a:prstGeom>
        </p:spPr>
      </p:pic>
      <p:sp>
        <p:nvSpPr>
          <p:cNvPr id="6" name="TextBox 5">
            <a:extLst>
              <a:ext uri="{FF2B5EF4-FFF2-40B4-BE49-F238E27FC236}">
                <a16:creationId xmlns:a16="http://schemas.microsoft.com/office/drawing/2014/main" id="{C839920A-34B5-193C-5C6C-C1119501DB20}"/>
              </a:ext>
            </a:extLst>
          </p:cNvPr>
          <p:cNvSpPr txBox="1"/>
          <p:nvPr/>
        </p:nvSpPr>
        <p:spPr>
          <a:xfrm>
            <a:off x="1413933" y="5719360"/>
            <a:ext cx="2286000" cy="307777"/>
          </a:xfrm>
          <a:prstGeom prst="rect">
            <a:avLst/>
          </a:prstGeom>
          <a:noFill/>
        </p:spPr>
        <p:txBody>
          <a:bodyPr wrap="square" rtlCol="0">
            <a:spAutoFit/>
          </a:bodyPr>
          <a:lstStyle/>
          <a:p>
            <a:r>
              <a:rPr lang="en-US" dirty="0"/>
              <a:t>Non-MQTT Brokers</a:t>
            </a:r>
          </a:p>
        </p:txBody>
      </p:sp>
      <p:sp>
        <p:nvSpPr>
          <p:cNvPr id="9" name="TextBox 8">
            <a:extLst>
              <a:ext uri="{FF2B5EF4-FFF2-40B4-BE49-F238E27FC236}">
                <a16:creationId xmlns:a16="http://schemas.microsoft.com/office/drawing/2014/main" id="{BFADC89B-696C-9704-5A87-00FAE62B2956}"/>
              </a:ext>
            </a:extLst>
          </p:cNvPr>
          <p:cNvSpPr txBox="1"/>
          <p:nvPr/>
        </p:nvSpPr>
        <p:spPr>
          <a:xfrm>
            <a:off x="6382840" y="5742580"/>
            <a:ext cx="1668960" cy="307777"/>
          </a:xfrm>
          <a:prstGeom prst="rect">
            <a:avLst/>
          </a:prstGeom>
          <a:noFill/>
        </p:spPr>
        <p:txBody>
          <a:bodyPr wrap="square" rtlCol="0">
            <a:spAutoFit/>
          </a:bodyPr>
          <a:lstStyle/>
          <a:p>
            <a:r>
              <a:rPr lang="en-US" dirty="0"/>
              <a:t>MQTT Brokers</a:t>
            </a:r>
          </a:p>
        </p:txBody>
      </p:sp>
    </p:spTree>
    <p:extLst>
      <p:ext uri="{BB962C8B-B14F-4D97-AF65-F5344CB8AC3E}">
        <p14:creationId xmlns:p14="http://schemas.microsoft.com/office/powerpoint/2010/main" val="8799713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5D091-37E4-79B8-7788-7E54EF189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AE9560-9757-7D12-DBBD-59A99CE0BBC9}"/>
              </a:ext>
            </a:extLst>
          </p:cNvPr>
          <p:cNvSpPr>
            <a:spLocks noGrp="1"/>
          </p:cNvSpPr>
          <p:nvPr>
            <p:ph type="title"/>
          </p:nvPr>
        </p:nvSpPr>
        <p:spPr/>
        <p:txBody>
          <a:bodyPr>
            <a:normAutofit fontScale="90000"/>
          </a:bodyPr>
          <a:lstStyle/>
          <a:p>
            <a:r>
              <a:rPr lang="en-US" dirty="0"/>
              <a:t>CPU Usage (non-MQTT Brokers)</a:t>
            </a:r>
          </a:p>
        </p:txBody>
      </p:sp>
      <p:sp>
        <p:nvSpPr>
          <p:cNvPr id="4" name="Slide Number Placeholder 3">
            <a:extLst>
              <a:ext uri="{FF2B5EF4-FFF2-40B4-BE49-F238E27FC236}">
                <a16:creationId xmlns:a16="http://schemas.microsoft.com/office/drawing/2014/main" id="{3E199A51-5296-C376-4426-484FBB28AB8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31</a:t>
            </a:fld>
            <a:endParaRPr lang="en-US"/>
          </a:p>
        </p:txBody>
      </p:sp>
      <p:pic>
        <p:nvPicPr>
          <p:cNvPr id="7" name="Picture 6">
            <a:extLst>
              <a:ext uri="{FF2B5EF4-FFF2-40B4-BE49-F238E27FC236}">
                <a16:creationId xmlns:a16="http://schemas.microsoft.com/office/drawing/2014/main" id="{B3D488A4-CD00-B48D-4A88-46C3BAE84245}"/>
              </a:ext>
            </a:extLst>
          </p:cNvPr>
          <p:cNvPicPr>
            <a:picLocks noChangeAspect="1"/>
          </p:cNvPicPr>
          <p:nvPr/>
        </p:nvPicPr>
        <p:blipFill>
          <a:blip r:embed="rId2"/>
          <a:stretch>
            <a:fillRect/>
          </a:stretch>
        </p:blipFill>
        <p:spPr>
          <a:xfrm>
            <a:off x="2192480" y="1471297"/>
            <a:ext cx="4935105" cy="370647"/>
          </a:xfrm>
          <a:prstGeom prst="rect">
            <a:avLst/>
          </a:prstGeom>
        </p:spPr>
      </p:pic>
      <p:pic>
        <p:nvPicPr>
          <p:cNvPr id="5" name="Picture 4">
            <a:extLst>
              <a:ext uri="{FF2B5EF4-FFF2-40B4-BE49-F238E27FC236}">
                <a16:creationId xmlns:a16="http://schemas.microsoft.com/office/drawing/2014/main" id="{F43BE33B-C235-8B98-2EB7-390F70B9E9E3}"/>
              </a:ext>
            </a:extLst>
          </p:cNvPr>
          <p:cNvPicPr>
            <a:picLocks noChangeAspect="1"/>
          </p:cNvPicPr>
          <p:nvPr/>
        </p:nvPicPr>
        <p:blipFill>
          <a:blip r:embed="rId3"/>
          <a:stretch>
            <a:fillRect/>
          </a:stretch>
        </p:blipFill>
        <p:spPr>
          <a:xfrm>
            <a:off x="1158239" y="1865107"/>
            <a:ext cx="7202533" cy="4977360"/>
          </a:xfrm>
          <a:prstGeom prst="rect">
            <a:avLst/>
          </a:prstGeom>
        </p:spPr>
      </p:pic>
    </p:spTree>
    <p:extLst>
      <p:ext uri="{BB962C8B-B14F-4D97-AF65-F5344CB8AC3E}">
        <p14:creationId xmlns:p14="http://schemas.microsoft.com/office/powerpoint/2010/main" val="7009645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DBA6B-B578-D835-C9CB-1C4C292B8F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636FB2-8806-549A-B549-AFDF7AB8EAA0}"/>
              </a:ext>
            </a:extLst>
          </p:cNvPr>
          <p:cNvSpPr>
            <a:spLocks noGrp="1"/>
          </p:cNvSpPr>
          <p:nvPr>
            <p:ph type="title"/>
          </p:nvPr>
        </p:nvSpPr>
        <p:spPr/>
        <p:txBody>
          <a:bodyPr>
            <a:normAutofit fontScale="90000"/>
          </a:bodyPr>
          <a:lstStyle/>
          <a:p>
            <a:r>
              <a:rPr lang="en-US" dirty="0"/>
              <a:t>Memory Usage (non-MQTT Brokers)</a:t>
            </a:r>
          </a:p>
        </p:txBody>
      </p:sp>
      <p:sp>
        <p:nvSpPr>
          <p:cNvPr id="4" name="Slide Number Placeholder 3">
            <a:extLst>
              <a:ext uri="{FF2B5EF4-FFF2-40B4-BE49-F238E27FC236}">
                <a16:creationId xmlns:a16="http://schemas.microsoft.com/office/drawing/2014/main" id="{B8FA3E1C-B980-499C-1162-74BBBC7DA48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32</a:t>
            </a:fld>
            <a:endParaRPr lang="en-US"/>
          </a:p>
        </p:txBody>
      </p:sp>
      <p:pic>
        <p:nvPicPr>
          <p:cNvPr id="7" name="Picture 6">
            <a:extLst>
              <a:ext uri="{FF2B5EF4-FFF2-40B4-BE49-F238E27FC236}">
                <a16:creationId xmlns:a16="http://schemas.microsoft.com/office/drawing/2014/main" id="{847FCF13-64AF-DAB6-C2BF-907592149C42}"/>
              </a:ext>
            </a:extLst>
          </p:cNvPr>
          <p:cNvPicPr>
            <a:picLocks noChangeAspect="1"/>
          </p:cNvPicPr>
          <p:nvPr/>
        </p:nvPicPr>
        <p:blipFill>
          <a:blip r:embed="rId2"/>
          <a:stretch>
            <a:fillRect/>
          </a:stretch>
        </p:blipFill>
        <p:spPr>
          <a:xfrm>
            <a:off x="2192480" y="1471297"/>
            <a:ext cx="4935105" cy="370647"/>
          </a:xfrm>
          <a:prstGeom prst="rect">
            <a:avLst/>
          </a:prstGeom>
        </p:spPr>
      </p:pic>
      <p:pic>
        <p:nvPicPr>
          <p:cNvPr id="6" name="Picture 5">
            <a:extLst>
              <a:ext uri="{FF2B5EF4-FFF2-40B4-BE49-F238E27FC236}">
                <a16:creationId xmlns:a16="http://schemas.microsoft.com/office/drawing/2014/main" id="{48141E1B-0527-C5E4-5C38-05048984C80C}"/>
              </a:ext>
            </a:extLst>
          </p:cNvPr>
          <p:cNvPicPr>
            <a:picLocks noChangeAspect="1"/>
          </p:cNvPicPr>
          <p:nvPr/>
        </p:nvPicPr>
        <p:blipFill>
          <a:blip r:embed="rId3"/>
          <a:stretch>
            <a:fillRect/>
          </a:stretch>
        </p:blipFill>
        <p:spPr>
          <a:xfrm>
            <a:off x="1262540" y="2017841"/>
            <a:ext cx="6604744" cy="4338509"/>
          </a:xfrm>
          <a:prstGeom prst="rect">
            <a:avLst/>
          </a:prstGeom>
        </p:spPr>
      </p:pic>
    </p:spTree>
    <p:extLst>
      <p:ext uri="{BB962C8B-B14F-4D97-AF65-F5344CB8AC3E}">
        <p14:creationId xmlns:p14="http://schemas.microsoft.com/office/powerpoint/2010/main" val="37678839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9C05F-6CBC-C750-9FF1-C337F93C6157}"/>
              </a:ext>
            </a:extLst>
          </p:cNvPr>
          <p:cNvSpPr>
            <a:spLocks noGrp="1"/>
          </p:cNvSpPr>
          <p:nvPr>
            <p:ph type="title"/>
          </p:nvPr>
        </p:nvSpPr>
        <p:spPr/>
        <p:txBody>
          <a:bodyPr/>
          <a:lstStyle/>
          <a:p>
            <a:r>
              <a:rPr lang="en-US" dirty="0"/>
              <a:t>Analysis</a:t>
            </a:r>
          </a:p>
        </p:txBody>
      </p:sp>
      <p:sp>
        <p:nvSpPr>
          <p:cNvPr id="3" name="Text Placeholder 2">
            <a:extLst>
              <a:ext uri="{FF2B5EF4-FFF2-40B4-BE49-F238E27FC236}">
                <a16:creationId xmlns:a16="http://schemas.microsoft.com/office/drawing/2014/main" id="{7801C625-B3A1-A376-208C-CA9A1D6D626A}"/>
              </a:ext>
            </a:extLst>
          </p:cNvPr>
          <p:cNvSpPr>
            <a:spLocks noGrp="1"/>
          </p:cNvSpPr>
          <p:nvPr>
            <p:ph type="body" idx="1"/>
          </p:nvPr>
        </p:nvSpPr>
        <p:spPr>
          <a:xfrm>
            <a:off x="457200" y="1393371"/>
            <a:ext cx="8229600" cy="5328079"/>
          </a:xfrm>
        </p:spPr>
        <p:txBody>
          <a:bodyPr>
            <a:normAutofit fontScale="85000" lnSpcReduction="10000"/>
          </a:bodyPr>
          <a:lstStyle/>
          <a:p>
            <a:pPr>
              <a:lnSpc>
                <a:spcPct val="200000"/>
              </a:lnSpc>
            </a:pPr>
            <a:r>
              <a:rPr lang="en-US" sz="2000" b="1" dirty="0"/>
              <a:t>NATS performed best overall</a:t>
            </a:r>
            <a:r>
              <a:rPr lang="en-US" sz="2000" dirty="0"/>
              <a:t>, sustaining ~10M fan-out msg/s with &lt;1% loss, ~3.3 cores CPU, and only ~123 MiB average memory.</a:t>
            </a:r>
          </a:p>
          <a:p>
            <a:pPr>
              <a:lnSpc>
                <a:spcPct val="200000"/>
              </a:lnSpc>
            </a:pPr>
            <a:r>
              <a:rPr lang="en-US" sz="2000" b="1" dirty="0" err="1"/>
              <a:t>Zenoh</a:t>
            </a:r>
            <a:r>
              <a:rPr lang="en-US" sz="2000" b="1" dirty="0"/>
              <a:t> scaled cleanly to ~2M msg/s</a:t>
            </a:r>
            <a:r>
              <a:rPr lang="en-US" sz="2000" dirty="0"/>
              <a:t>, then throughput plateaued around ~3.4M msg/s while loss and latency increased sharply.</a:t>
            </a:r>
          </a:p>
          <a:p>
            <a:pPr>
              <a:lnSpc>
                <a:spcPct val="200000"/>
              </a:lnSpc>
            </a:pPr>
            <a:r>
              <a:rPr lang="en-US" sz="2000" b="1" dirty="0"/>
              <a:t>Redis was stable up to ~1M msg/s</a:t>
            </a:r>
            <a:r>
              <a:rPr lang="en-US" sz="2000" dirty="0"/>
              <a:t>, but CPU saturated near 4 </a:t>
            </a:r>
            <a:r>
              <a:rPr lang="en-US" sz="2000" dirty="0" err="1"/>
              <a:t>cpu</a:t>
            </a:r>
            <a:r>
              <a:rPr lang="en-US" sz="2000" dirty="0"/>
              <a:t> cores that and throughput stayed around ~2.0M msg/s.</a:t>
            </a:r>
          </a:p>
          <a:p>
            <a:pPr>
              <a:lnSpc>
                <a:spcPct val="200000"/>
              </a:lnSpc>
            </a:pPr>
            <a:r>
              <a:rPr lang="en-US" sz="2000" dirty="0"/>
              <a:t>Across all three, CPU rises with throughput until saturation; after that, extra load mainly becomes latency and loss.</a:t>
            </a:r>
          </a:p>
          <a:p>
            <a:pPr>
              <a:lnSpc>
                <a:spcPct val="200000"/>
              </a:lnSpc>
            </a:pPr>
            <a:r>
              <a:rPr lang="en-US" sz="2000" dirty="0"/>
              <a:t>Memory stayed relatively low overall, with increases mainly during overload/backlog phases rather than normal scaling.</a:t>
            </a:r>
          </a:p>
        </p:txBody>
      </p:sp>
      <p:sp>
        <p:nvSpPr>
          <p:cNvPr id="4" name="Slide Number Placeholder 3">
            <a:extLst>
              <a:ext uri="{FF2B5EF4-FFF2-40B4-BE49-F238E27FC236}">
                <a16:creationId xmlns:a16="http://schemas.microsoft.com/office/drawing/2014/main" id="{6D607A32-FCF8-E2E8-5B76-2F4E979E862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33</a:t>
            </a:fld>
            <a:endParaRPr lang="en-US"/>
          </a:p>
        </p:txBody>
      </p:sp>
    </p:spTree>
    <p:extLst>
      <p:ext uri="{BB962C8B-B14F-4D97-AF65-F5344CB8AC3E}">
        <p14:creationId xmlns:p14="http://schemas.microsoft.com/office/powerpoint/2010/main" val="39821469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20E2FA8B-FFDC-9300-0126-AF4F0EF1694A}"/>
            </a:ext>
          </a:extLst>
        </p:cNvPr>
        <p:cNvGrpSpPr/>
        <p:nvPr/>
      </p:nvGrpSpPr>
      <p:grpSpPr>
        <a:xfrm>
          <a:off x="0" y="0"/>
          <a:ext cx="0" cy="0"/>
          <a:chOff x="0" y="0"/>
          <a:chExt cx="0" cy="0"/>
        </a:xfrm>
      </p:grpSpPr>
      <p:sp>
        <p:nvSpPr>
          <p:cNvPr id="114" name="Google Shape;114;p14">
            <a:extLst>
              <a:ext uri="{FF2B5EF4-FFF2-40B4-BE49-F238E27FC236}">
                <a16:creationId xmlns:a16="http://schemas.microsoft.com/office/drawing/2014/main" id="{CD295CFF-0DEF-82EB-0EAD-D7E0ECAB8C4A}"/>
              </a:ext>
            </a:extLst>
          </p:cNvPr>
          <p:cNvSpPr txBox="1">
            <a:spLocks noGrp="1"/>
          </p:cNvSpPr>
          <p:nvPr>
            <p:ph type="title"/>
          </p:nvPr>
        </p:nvSpPr>
        <p:spPr>
          <a:xfrm>
            <a:off x="1" y="152400"/>
            <a:ext cx="9143998" cy="1143000"/>
          </a:xfrm>
          <a:prstGeom prst="rect">
            <a:avLst/>
          </a:prstGeom>
        </p:spPr>
        <p:txBody>
          <a:bodyPr spcFirstLastPara="1" wrap="square" lIns="91425" tIns="45700" rIns="91425" bIns="45700" anchor="ctr" anchorCtr="0">
            <a:noAutofit/>
          </a:bodyPr>
          <a:lstStyle/>
          <a:p>
            <a:pPr lvl="0">
              <a:buSzPts val="990"/>
            </a:pPr>
            <a:r>
              <a:rPr lang="en-US" sz="3200" dirty="0"/>
              <a:t>Experiment 4: MQTT Message Recovery under Intermittent Connectivity</a:t>
            </a:r>
            <a:endParaRPr sz="3200" dirty="0"/>
          </a:p>
        </p:txBody>
      </p:sp>
      <p:sp>
        <p:nvSpPr>
          <p:cNvPr id="115" name="Google Shape;115;p14">
            <a:extLst>
              <a:ext uri="{FF2B5EF4-FFF2-40B4-BE49-F238E27FC236}">
                <a16:creationId xmlns:a16="http://schemas.microsoft.com/office/drawing/2014/main" id="{D41C4690-FC6D-FE37-051D-6F6D7AA70EB7}"/>
              </a:ext>
            </a:extLst>
          </p:cNvPr>
          <p:cNvSpPr txBox="1">
            <a:spLocks noGrp="1"/>
          </p:cNvSpPr>
          <p:nvPr>
            <p:ph type="body" idx="1"/>
          </p:nvPr>
        </p:nvSpPr>
        <p:spPr>
          <a:xfrm>
            <a:off x="159550" y="1600200"/>
            <a:ext cx="8686800" cy="5257800"/>
          </a:xfrm>
          <a:prstGeom prst="rect">
            <a:avLst/>
          </a:prstGeom>
        </p:spPr>
        <p:txBody>
          <a:bodyPr spcFirstLastPara="1" wrap="square" lIns="91425" tIns="45700" rIns="91425" bIns="45700" anchor="t" anchorCtr="0">
            <a:normAutofit lnSpcReduction="10000"/>
          </a:bodyPr>
          <a:lstStyle/>
          <a:p>
            <a:pPr marL="457200" lvl="0" indent="-350044" algn="l" rtl="0">
              <a:spcBef>
                <a:spcPts val="360"/>
              </a:spcBef>
              <a:spcAft>
                <a:spcPts val="0"/>
              </a:spcAft>
              <a:buSzPct val="66176"/>
              <a:buChar char="❖"/>
            </a:pPr>
            <a:r>
              <a:rPr lang="en-US" dirty="0"/>
              <a:t>Research question</a:t>
            </a:r>
            <a:endParaRPr dirty="0"/>
          </a:p>
          <a:p>
            <a:pPr lvl="1" indent="-325755">
              <a:spcBef>
                <a:spcPts val="0"/>
              </a:spcBef>
              <a:buSzPct val="64286"/>
              <a:buChar char="➢"/>
            </a:pPr>
            <a:r>
              <a:rPr lang="en-US" dirty="0"/>
              <a:t>When subscribers </a:t>
            </a:r>
            <a:r>
              <a:rPr lang="en-US" b="1" dirty="0"/>
              <a:t>disconnect</a:t>
            </a:r>
            <a:r>
              <a:rPr lang="en-US" dirty="0"/>
              <a:t> </a:t>
            </a:r>
            <a:r>
              <a:rPr lang="en-US" b="1" dirty="0"/>
              <a:t>temporarily</a:t>
            </a:r>
            <a:r>
              <a:rPr lang="en-US" dirty="0"/>
              <a:t>, how much data can </a:t>
            </a:r>
            <a:r>
              <a:rPr lang="en-US" b="1" dirty="0"/>
              <a:t>MQTT</a:t>
            </a:r>
            <a:r>
              <a:rPr lang="en-US" dirty="0"/>
              <a:t> persistent sessions </a:t>
            </a:r>
            <a:r>
              <a:rPr lang="en-US" b="1" dirty="0"/>
              <a:t>recover</a:t>
            </a:r>
            <a:r>
              <a:rPr lang="en-US" dirty="0"/>
              <a:t> </a:t>
            </a:r>
            <a:r>
              <a:rPr lang="en-US" b="1" dirty="0"/>
              <a:t>after reconnect</a:t>
            </a:r>
            <a:r>
              <a:rPr lang="en-US" dirty="0"/>
              <a:t>?</a:t>
            </a:r>
          </a:p>
          <a:p>
            <a:pPr lvl="1" indent="-325755">
              <a:spcBef>
                <a:spcPts val="0"/>
              </a:spcBef>
              <a:buSzPct val="64286"/>
              <a:buChar char="➢"/>
            </a:pPr>
            <a:endParaRPr dirty="0"/>
          </a:p>
          <a:p>
            <a:pPr marL="457200" lvl="0" indent="-350044" algn="l" rtl="0">
              <a:spcBef>
                <a:spcPts val="360"/>
              </a:spcBef>
              <a:spcAft>
                <a:spcPts val="0"/>
              </a:spcAft>
              <a:buSzPct val="66176"/>
              <a:buChar char="❖"/>
            </a:pPr>
            <a:r>
              <a:rPr lang="en-US" dirty="0"/>
              <a:t>Topology</a:t>
            </a:r>
            <a:endParaRPr dirty="0"/>
          </a:p>
          <a:p>
            <a:pPr lvl="1" indent="-325755">
              <a:spcBef>
                <a:spcPts val="0"/>
              </a:spcBef>
              <a:buSzPct val="64286"/>
              <a:buChar char="➢"/>
            </a:pPr>
            <a:r>
              <a:rPr lang="en-US" dirty="0"/>
              <a:t>20 publishers → broker → 2000 subscribers</a:t>
            </a:r>
          </a:p>
          <a:p>
            <a:pPr marL="914400" lvl="0" indent="0" algn="l" rtl="0">
              <a:spcBef>
                <a:spcPts val="360"/>
              </a:spcBef>
              <a:spcAft>
                <a:spcPts val="0"/>
              </a:spcAft>
              <a:buNone/>
            </a:pPr>
            <a:endParaRPr dirty="0"/>
          </a:p>
          <a:p>
            <a:pPr marL="457200" lvl="0" indent="-350044" algn="l" rtl="0">
              <a:spcBef>
                <a:spcPts val="360"/>
              </a:spcBef>
              <a:spcAft>
                <a:spcPts val="0"/>
              </a:spcAft>
              <a:buSzPct val="66176"/>
              <a:buChar char="❖"/>
            </a:pPr>
            <a:r>
              <a:rPr lang="en-US" dirty="0"/>
              <a:t>Why this experiment</a:t>
            </a:r>
            <a:endParaRPr dirty="0"/>
          </a:p>
          <a:p>
            <a:pPr lvl="1" indent="-325755">
              <a:spcBef>
                <a:spcPts val="0"/>
              </a:spcBef>
              <a:buSzPct val="64286"/>
              <a:buChar char="➢"/>
            </a:pPr>
            <a:r>
              <a:rPr lang="en-US" b="1" dirty="0"/>
              <a:t>Real IoT</a:t>
            </a:r>
            <a:r>
              <a:rPr lang="en-US" dirty="0"/>
              <a:t> devices often </a:t>
            </a:r>
            <a:r>
              <a:rPr lang="en-US" b="1" dirty="0"/>
              <a:t>disconnect</a:t>
            </a:r>
            <a:r>
              <a:rPr lang="en-US" dirty="0"/>
              <a:t> briefly </a:t>
            </a:r>
          </a:p>
          <a:p>
            <a:pPr lvl="1" indent="-325755">
              <a:spcBef>
                <a:spcPts val="0"/>
              </a:spcBef>
              <a:buSzPct val="64286"/>
              <a:buChar char="➢"/>
            </a:pPr>
            <a:r>
              <a:rPr lang="en-US" b="1" dirty="0"/>
              <a:t>MQTT</a:t>
            </a:r>
            <a:r>
              <a:rPr lang="en-US" dirty="0"/>
              <a:t> has built-in session persistence </a:t>
            </a:r>
            <a:endParaRPr dirty="0"/>
          </a:p>
        </p:txBody>
      </p:sp>
      <p:sp>
        <p:nvSpPr>
          <p:cNvPr id="116" name="Google Shape;116;p14">
            <a:extLst>
              <a:ext uri="{FF2B5EF4-FFF2-40B4-BE49-F238E27FC236}">
                <a16:creationId xmlns:a16="http://schemas.microsoft.com/office/drawing/2014/main" id="{8AD62F1E-617D-4D35-8950-714C33E87E8A}"/>
              </a:ext>
            </a:extLst>
          </p:cNvPr>
          <p:cNvSpPr txBox="1">
            <a:spLocks noGrp="1"/>
          </p:cNvSpPr>
          <p:nvPr>
            <p:ph type="sldNum" idx="12"/>
          </p:nvPr>
        </p:nvSpPr>
        <p:spPr>
          <a:xfrm>
            <a:off x="3498112" y="6356350"/>
            <a:ext cx="2133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2494496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5">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5">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93936-D476-3984-9CF0-F03D759B94B2}"/>
              </a:ext>
            </a:extLst>
          </p:cNvPr>
          <p:cNvSpPr>
            <a:spLocks noGrp="1"/>
          </p:cNvSpPr>
          <p:nvPr>
            <p:ph type="title"/>
          </p:nvPr>
        </p:nvSpPr>
        <p:spPr/>
        <p:txBody>
          <a:bodyPr>
            <a:noAutofit/>
          </a:bodyPr>
          <a:lstStyle/>
          <a:p>
            <a:r>
              <a:rPr lang="en-US" sz="3600" dirty="0"/>
              <a:t>MQTT Message Recovery for Intermittently Powered </a:t>
            </a:r>
            <a:r>
              <a:rPr lang="en-US" sz="3600" dirty="0" err="1"/>
              <a:t>Batteryless</a:t>
            </a:r>
            <a:r>
              <a:rPr lang="en-US" sz="3600" dirty="0"/>
              <a:t> IoT</a:t>
            </a:r>
          </a:p>
        </p:txBody>
      </p:sp>
      <p:sp>
        <p:nvSpPr>
          <p:cNvPr id="3" name="Text Placeholder 2">
            <a:extLst>
              <a:ext uri="{FF2B5EF4-FFF2-40B4-BE49-F238E27FC236}">
                <a16:creationId xmlns:a16="http://schemas.microsoft.com/office/drawing/2014/main" id="{2CCE1599-7391-5D90-9354-3BB278C6E4BE}"/>
              </a:ext>
            </a:extLst>
          </p:cNvPr>
          <p:cNvSpPr>
            <a:spLocks noGrp="1"/>
          </p:cNvSpPr>
          <p:nvPr>
            <p:ph type="body" idx="1"/>
          </p:nvPr>
        </p:nvSpPr>
        <p:spPr/>
        <p:txBody>
          <a:bodyPr/>
          <a:lstStyle/>
          <a:p>
            <a:pPr marL="85725" indent="0">
              <a:buNone/>
            </a:pPr>
            <a:r>
              <a:rPr lang="en-US" b="1" dirty="0"/>
              <a:t>Core idea:</a:t>
            </a:r>
            <a:br>
              <a:rPr lang="en-US" dirty="0"/>
            </a:br>
            <a:r>
              <a:rPr lang="en-US" dirty="0" err="1"/>
              <a:t>Batteryless</a:t>
            </a:r>
            <a:r>
              <a:rPr lang="en-US" dirty="0"/>
              <a:t> IoT devices are not always online or offline. Their real availability is usually somewhere between 0 and 1 because they repeatedly power on, lose energy, recharge, and reconnect. </a:t>
            </a:r>
          </a:p>
        </p:txBody>
      </p:sp>
      <p:sp>
        <p:nvSpPr>
          <p:cNvPr id="4" name="Slide Number Placeholder 3">
            <a:extLst>
              <a:ext uri="{FF2B5EF4-FFF2-40B4-BE49-F238E27FC236}">
                <a16:creationId xmlns:a16="http://schemas.microsoft.com/office/drawing/2014/main" id="{B11961F1-653A-6996-3183-B847AD7CEF9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35</a:t>
            </a:fld>
            <a:endParaRPr lang="en-US"/>
          </a:p>
        </p:txBody>
      </p:sp>
    </p:spTree>
    <p:extLst>
      <p:ext uri="{BB962C8B-B14F-4D97-AF65-F5344CB8AC3E}">
        <p14:creationId xmlns:p14="http://schemas.microsoft.com/office/powerpoint/2010/main" val="29395943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4C40D-F563-B66E-30C6-D29DE6C0978D}"/>
              </a:ext>
            </a:extLst>
          </p:cNvPr>
          <p:cNvSpPr>
            <a:spLocks noGrp="1"/>
          </p:cNvSpPr>
          <p:nvPr>
            <p:ph type="title"/>
          </p:nvPr>
        </p:nvSpPr>
        <p:spPr/>
        <p:txBody>
          <a:bodyPr/>
          <a:lstStyle/>
          <a:p>
            <a:r>
              <a:rPr lang="en-US" dirty="0"/>
              <a:t>Why this experiment?</a:t>
            </a:r>
          </a:p>
        </p:txBody>
      </p:sp>
      <p:sp>
        <p:nvSpPr>
          <p:cNvPr id="4" name="Slide Number Placeholder 3">
            <a:extLst>
              <a:ext uri="{FF2B5EF4-FFF2-40B4-BE49-F238E27FC236}">
                <a16:creationId xmlns:a16="http://schemas.microsoft.com/office/drawing/2014/main" id="{FEC2D997-B3F6-585F-249C-B0F8F9A2B86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36</a:t>
            </a:fld>
            <a:endParaRPr lang="en-US"/>
          </a:p>
        </p:txBody>
      </p:sp>
      <p:sp>
        <p:nvSpPr>
          <p:cNvPr id="5" name="Text 3">
            <a:extLst>
              <a:ext uri="{FF2B5EF4-FFF2-40B4-BE49-F238E27FC236}">
                <a16:creationId xmlns:a16="http://schemas.microsoft.com/office/drawing/2014/main" id="{B8C93CA5-EB6F-D3B2-EA8E-20461C1B80CF}"/>
              </a:ext>
            </a:extLst>
          </p:cNvPr>
          <p:cNvSpPr/>
          <p:nvPr/>
        </p:nvSpPr>
        <p:spPr>
          <a:xfrm>
            <a:off x="457200" y="1805305"/>
            <a:ext cx="4389120" cy="310896"/>
          </a:xfrm>
          <a:prstGeom prst="rect">
            <a:avLst/>
          </a:prstGeom>
          <a:noFill/>
          <a:ln/>
        </p:spPr>
        <p:txBody>
          <a:bodyPr wrap="square" lIns="0" tIns="0" rIns="0" bIns="0" rtlCol="0" anchor="ctr"/>
          <a:lstStyle/>
          <a:p>
            <a:pPr marL="0" indent="0">
              <a:buNone/>
            </a:pPr>
            <a:r>
              <a:rPr lang="en-US" sz="2100" b="1" dirty="0">
                <a:solidFill>
                  <a:srgbClr val="14213D"/>
                </a:solidFill>
              </a:rPr>
              <a:t>Batteryless node life cycle</a:t>
            </a:r>
            <a:endParaRPr lang="en-US" sz="2100" dirty="0"/>
          </a:p>
        </p:txBody>
      </p:sp>
      <p:sp>
        <p:nvSpPr>
          <p:cNvPr id="11" name="Shape 9">
            <a:extLst>
              <a:ext uri="{FF2B5EF4-FFF2-40B4-BE49-F238E27FC236}">
                <a16:creationId xmlns:a16="http://schemas.microsoft.com/office/drawing/2014/main" id="{8A9892E3-44F8-8BF5-00EF-52F6BD9266AC}"/>
              </a:ext>
            </a:extLst>
          </p:cNvPr>
          <p:cNvSpPr/>
          <p:nvPr/>
        </p:nvSpPr>
        <p:spPr>
          <a:xfrm>
            <a:off x="332613" y="2419223"/>
            <a:ext cx="1325880" cy="658368"/>
          </a:xfrm>
          <a:prstGeom prst="roundRect">
            <a:avLst>
              <a:gd name="adj" fmla="val 13889"/>
            </a:avLst>
          </a:prstGeom>
          <a:solidFill>
            <a:srgbClr val="EAF7EA"/>
          </a:solidFill>
          <a:ln w="12700">
            <a:solidFill>
              <a:srgbClr val="0B6E1E"/>
            </a:solidFill>
            <a:prstDash val="solid"/>
          </a:ln>
        </p:spPr>
        <p:txBody>
          <a:bodyPr/>
          <a:lstStyle/>
          <a:p>
            <a:endParaRPr lang="en-US"/>
          </a:p>
        </p:txBody>
      </p:sp>
      <p:sp>
        <p:nvSpPr>
          <p:cNvPr id="12" name="Text 10">
            <a:extLst>
              <a:ext uri="{FF2B5EF4-FFF2-40B4-BE49-F238E27FC236}">
                <a16:creationId xmlns:a16="http://schemas.microsoft.com/office/drawing/2014/main" id="{DB31703C-0889-4559-55ED-034B860D3A78}"/>
              </a:ext>
            </a:extLst>
          </p:cNvPr>
          <p:cNvSpPr/>
          <p:nvPr/>
        </p:nvSpPr>
        <p:spPr>
          <a:xfrm>
            <a:off x="402868" y="2487041"/>
            <a:ext cx="1179576" cy="458470"/>
          </a:xfrm>
          <a:prstGeom prst="rect">
            <a:avLst/>
          </a:prstGeom>
          <a:noFill/>
          <a:ln/>
        </p:spPr>
        <p:txBody>
          <a:bodyPr wrap="square" lIns="0" tIns="0" rIns="0" bIns="0" rtlCol="0" anchor="ctr">
            <a:noAutofit/>
          </a:bodyPr>
          <a:lstStyle/>
          <a:p>
            <a:pPr marL="0" indent="0" algn="ctr">
              <a:buNone/>
            </a:pPr>
            <a:r>
              <a:rPr lang="en-US" b="1" dirty="0">
                <a:solidFill>
                  <a:schemeClr val="tx1"/>
                </a:solidFill>
              </a:rPr>
              <a:t>Harvest</a:t>
            </a:r>
            <a:endParaRPr lang="en-US" dirty="0">
              <a:solidFill>
                <a:schemeClr val="tx1"/>
              </a:solidFill>
            </a:endParaRPr>
          </a:p>
          <a:p>
            <a:pPr marL="0" indent="0" algn="ctr">
              <a:buNone/>
            </a:pPr>
            <a:r>
              <a:rPr lang="en-US" b="1" dirty="0">
                <a:solidFill>
                  <a:schemeClr val="tx1"/>
                </a:solidFill>
              </a:rPr>
              <a:t>energy</a:t>
            </a:r>
            <a:endParaRPr lang="en-US" dirty="0">
              <a:solidFill>
                <a:schemeClr val="tx1"/>
              </a:solidFill>
            </a:endParaRPr>
          </a:p>
        </p:txBody>
      </p:sp>
      <p:sp>
        <p:nvSpPr>
          <p:cNvPr id="13" name="Shape 11">
            <a:extLst>
              <a:ext uri="{FF2B5EF4-FFF2-40B4-BE49-F238E27FC236}">
                <a16:creationId xmlns:a16="http://schemas.microsoft.com/office/drawing/2014/main" id="{128A1D6E-8257-61E6-6EC3-93CE3C627116}"/>
              </a:ext>
            </a:extLst>
          </p:cNvPr>
          <p:cNvSpPr/>
          <p:nvPr/>
        </p:nvSpPr>
        <p:spPr>
          <a:xfrm>
            <a:off x="2172232" y="2411413"/>
            <a:ext cx="1325880" cy="658368"/>
          </a:xfrm>
          <a:prstGeom prst="roundRect">
            <a:avLst>
              <a:gd name="adj" fmla="val 13889"/>
            </a:avLst>
          </a:prstGeom>
          <a:solidFill>
            <a:srgbClr val="EAF3FF"/>
          </a:solidFill>
          <a:ln w="12700">
            <a:solidFill>
              <a:srgbClr val="1265D8"/>
            </a:solidFill>
            <a:prstDash val="solid"/>
          </a:ln>
        </p:spPr>
        <p:txBody>
          <a:bodyPr/>
          <a:lstStyle/>
          <a:p>
            <a:endParaRPr lang="en-US"/>
          </a:p>
        </p:txBody>
      </p:sp>
      <p:sp>
        <p:nvSpPr>
          <p:cNvPr id="14" name="Text 12">
            <a:extLst>
              <a:ext uri="{FF2B5EF4-FFF2-40B4-BE49-F238E27FC236}">
                <a16:creationId xmlns:a16="http://schemas.microsoft.com/office/drawing/2014/main" id="{70D6D58A-15E8-EA5C-D2EB-DD0623770639}"/>
              </a:ext>
            </a:extLst>
          </p:cNvPr>
          <p:cNvSpPr/>
          <p:nvPr/>
        </p:nvSpPr>
        <p:spPr>
          <a:xfrm>
            <a:off x="2245384" y="2494978"/>
            <a:ext cx="1179576" cy="442850"/>
          </a:xfrm>
          <a:prstGeom prst="rect">
            <a:avLst/>
          </a:prstGeom>
          <a:noFill/>
          <a:ln/>
        </p:spPr>
        <p:txBody>
          <a:bodyPr wrap="square" lIns="0" tIns="0" rIns="0" bIns="0" rtlCol="0" anchor="ctr">
            <a:normAutofit/>
          </a:bodyPr>
          <a:lstStyle/>
          <a:p>
            <a:pPr marL="0" indent="0" algn="ctr">
              <a:buNone/>
            </a:pPr>
            <a:r>
              <a:rPr lang="en-US" b="1" dirty="0">
                <a:solidFill>
                  <a:schemeClr val="tx1"/>
                </a:solidFill>
              </a:rPr>
              <a:t>Power ON</a:t>
            </a:r>
            <a:endParaRPr lang="en-US" dirty="0">
              <a:solidFill>
                <a:schemeClr val="tx1"/>
              </a:solidFill>
            </a:endParaRPr>
          </a:p>
          <a:p>
            <a:pPr marL="0" indent="0" algn="ctr">
              <a:buNone/>
            </a:pPr>
            <a:r>
              <a:rPr lang="en-US" b="1" dirty="0">
                <a:solidFill>
                  <a:schemeClr val="tx1"/>
                </a:solidFill>
              </a:rPr>
              <a:t>+ connect</a:t>
            </a:r>
            <a:endParaRPr lang="en-US" dirty="0">
              <a:solidFill>
                <a:schemeClr val="tx1"/>
              </a:solidFill>
            </a:endParaRPr>
          </a:p>
        </p:txBody>
      </p:sp>
      <p:sp>
        <p:nvSpPr>
          <p:cNvPr id="15" name="Shape 13">
            <a:extLst>
              <a:ext uri="{FF2B5EF4-FFF2-40B4-BE49-F238E27FC236}">
                <a16:creationId xmlns:a16="http://schemas.microsoft.com/office/drawing/2014/main" id="{486255D4-27D6-A5B2-7E7B-CEE686C48F72}"/>
              </a:ext>
            </a:extLst>
          </p:cNvPr>
          <p:cNvSpPr/>
          <p:nvPr/>
        </p:nvSpPr>
        <p:spPr>
          <a:xfrm>
            <a:off x="4011851" y="2411413"/>
            <a:ext cx="1325880" cy="658368"/>
          </a:xfrm>
          <a:prstGeom prst="roundRect">
            <a:avLst>
              <a:gd name="adj" fmla="val 13889"/>
            </a:avLst>
          </a:prstGeom>
          <a:solidFill>
            <a:srgbClr val="FFF4D8"/>
          </a:solidFill>
          <a:ln w="12700">
            <a:solidFill>
              <a:srgbClr val="F59E0B"/>
            </a:solidFill>
            <a:prstDash val="solid"/>
          </a:ln>
        </p:spPr>
        <p:txBody>
          <a:bodyPr/>
          <a:lstStyle/>
          <a:p>
            <a:endParaRPr lang="en-US"/>
          </a:p>
        </p:txBody>
      </p:sp>
      <p:sp>
        <p:nvSpPr>
          <p:cNvPr id="16" name="Text 14">
            <a:extLst>
              <a:ext uri="{FF2B5EF4-FFF2-40B4-BE49-F238E27FC236}">
                <a16:creationId xmlns:a16="http://schemas.microsoft.com/office/drawing/2014/main" id="{B29BFE98-9012-DE61-6EBD-FC7708F6DB60}"/>
              </a:ext>
            </a:extLst>
          </p:cNvPr>
          <p:cNvSpPr/>
          <p:nvPr/>
        </p:nvSpPr>
        <p:spPr>
          <a:xfrm>
            <a:off x="4158155" y="2568114"/>
            <a:ext cx="1179576" cy="320040"/>
          </a:xfrm>
          <a:prstGeom prst="rect">
            <a:avLst/>
          </a:prstGeom>
          <a:noFill/>
          <a:ln/>
        </p:spPr>
        <p:txBody>
          <a:bodyPr wrap="square" lIns="0" tIns="0" rIns="0" bIns="0" rtlCol="0" anchor="ctr">
            <a:noAutofit/>
          </a:bodyPr>
          <a:lstStyle/>
          <a:p>
            <a:pPr marL="0" indent="0" algn="ctr">
              <a:buNone/>
            </a:pPr>
            <a:r>
              <a:rPr lang="en-US" b="1" dirty="0">
                <a:solidFill>
                  <a:schemeClr val="tx1"/>
                </a:solidFill>
              </a:rPr>
              <a:t>Receive</a:t>
            </a:r>
            <a:endParaRPr lang="en-US" dirty="0">
              <a:solidFill>
                <a:schemeClr val="tx1"/>
              </a:solidFill>
            </a:endParaRPr>
          </a:p>
          <a:p>
            <a:pPr marL="0" indent="0" algn="ctr">
              <a:buNone/>
            </a:pPr>
            <a:r>
              <a:rPr lang="en-US" b="1" dirty="0">
                <a:solidFill>
                  <a:schemeClr val="tx1"/>
                </a:solidFill>
              </a:rPr>
              <a:t>messages</a:t>
            </a:r>
            <a:endParaRPr lang="en-US" dirty="0">
              <a:solidFill>
                <a:schemeClr val="tx1"/>
              </a:solidFill>
            </a:endParaRPr>
          </a:p>
        </p:txBody>
      </p:sp>
      <p:sp>
        <p:nvSpPr>
          <p:cNvPr id="17" name="Shape 15">
            <a:extLst>
              <a:ext uri="{FF2B5EF4-FFF2-40B4-BE49-F238E27FC236}">
                <a16:creationId xmlns:a16="http://schemas.microsoft.com/office/drawing/2014/main" id="{CEA4EC1A-CD01-62F3-EB9B-FE4CB75721EF}"/>
              </a:ext>
            </a:extLst>
          </p:cNvPr>
          <p:cNvSpPr/>
          <p:nvPr/>
        </p:nvSpPr>
        <p:spPr>
          <a:xfrm>
            <a:off x="2685971" y="3496691"/>
            <a:ext cx="1325880" cy="658368"/>
          </a:xfrm>
          <a:prstGeom prst="roundRect">
            <a:avLst>
              <a:gd name="adj" fmla="val 13889"/>
            </a:avLst>
          </a:prstGeom>
          <a:solidFill>
            <a:srgbClr val="FEE2E2"/>
          </a:solidFill>
          <a:ln w="12700">
            <a:solidFill>
              <a:srgbClr val="DC2626"/>
            </a:solidFill>
            <a:prstDash val="solid"/>
          </a:ln>
        </p:spPr>
        <p:txBody>
          <a:bodyPr/>
          <a:lstStyle/>
          <a:p>
            <a:endParaRPr lang="en-US"/>
          </a:p>
        </p:txBody>
      </p:sp>
      <p:sp>
        <p:nvSpPr>
          <p:cNvPr id="18" name="Text 16">
            <a:extLst>
              <a:ext uri="{FF2B5EF4-FFF2-40B4-BE49-F238E27FC236}">
                <a16:creationId xmlns:a16="http://schemas.microsoft.com/office/drawing/2014/main" id="{651E2517-5AE4-8DB9-2D89-10025291D4E7}"/>
              </a:ext>
            </a:extLst>
          </p:cNvPr>
          <p:cNvSpPr/>
          <p:nvPr/>
        </p:nvSpPr>
        <p:spPr>
          <a:xfrm>
            <a:off x="2759123" y="3633851"/>
            <a:ext cx="1179576" cy="320040"/>
          </a:xfrm>
          <a:prstGeom prst="rect">
            <a:avLst/>
          </a:prstGeom>
          <a:noFill/>
          <a:ln/>
        </p:spPr>
        <p:txBody>
          <a:bodyPr wrap="square" lIns="0" tIns="0" rIns="0" bIns="0" rtlCol="0" anchor="ctr">
            <a:noAutofit/>
          </a:bodyPr>
          <a:lstStyle/>
          <a:p>
            <a:pPr marL="0" indent="0" algn="ctr">
              <a:buNone/>
            </a:pPr>
            <a:r>
              <a:rPr lang="en-US" b="1" dirty="0">
                <a:solidFill>
                  <a:schemeClr val="tx1"/>
                </a:solidFill>
              </a:rPr>
              <a:t>Energy</a:t>
            </a:r>
            <a:endParaRPr lang="en-US" dirty="0">
              <a:solidFill>
                <a:schemeClr val="tx1"/>
              </a:solidFill>
            </a:endParaRPr>
          </a:p>
          <a:p>
            <a:pPr marL="0" indent="0" algn="ctr">
              <a:buNone/>
            </a:pPr>
            <a:r>
              <a:rPr lang="en-US" b="1" dirty="0">
                <a:solidFill>
                  <a:schemeClr val="tx1"/>
                </a:solidFill>
              </a:rPr>
              <a:t>depleted</a:t>
            </a:r>
            <a:endParaRPr lang="en-US" dirty="0">
              <a:solidFill>
                <a:schemeClr val="tx1"/>
              </a:solidFill>
            </a:endParaRPr>
          </a:p>
        </p:txBody>
      </p:sp>
      <p:sp>
        <p:nvSpPr>
          <p:cNvPr id="19" name="Shape 17">
            <a:extLst>
              <a:ext uri="{FF2B5EF4-FFF2-40B4-BE49-F238E27FC236}">
                <a16:creationId xmlns:a16="http://schemas.microsoft.com/office/drawing/2014/main" id="{4C89BE24-7F61-9CB6-936B-B8133516AB0F}"/>
              </a:ext>
            </a:extLst>
          </p:cNvPr>
          <p:cNvSpPr/>
          <p:nvPr/>
        </p:nvSpPr>
        <p:spPr>
          <a:xfrm>
            <a:off x="766493" y="3496691"/>
            <a:ext cx="1325880" cy="658368"/>
          </a:xfrm>
          <a:prstGeom prst="roundRect">
            <a:avLst>
              <a:gd name="adj" fmla="val 13889"/>
            </a:avLst>
          </a:prstGeom>
          <a:solidFill>
            <a:srgbClr val="FEE2E2"/>
          </a:solidFill>
          <a:ln w="12700">
            <a:solidFill>
              <a:srgbClr val="DC2626"/>
            </a:solidFill>
            <a:prstDash val="solid"/>
          </a:ln>
        </p:spPr>
        <p:txBody>
          <a:bodyPr/>
          <a:lstStyle/>
          <a:p>
            <a:endParaRPr lang="en-US"/>
          </a:p>
        </p:txBody>
      </p:sp>
      <p:sp>
        <p:nvSpPr>
          <p:cNvPr id="20" name="Text 18">
            <a:extLst>
              <a:ext uri="{FF2B5EF4-FFF2-40B4-BE49-F238E27FC236}">
                <a16:creationId xmlns:a16="http://schemas.microsoft.com/office/drawing/2014/main" id="{010C9CC9-0F1C-DD2F-3CA9-ADD43A3BECD3}"/>
              </a:ext>
            </a:extLst>
          </p:cNvPr>
          <p:cNvSpPr/>
          <p:nvPr/>
        </p:nvSpPr>
        <p:spPr>
          <a:xfrm>
            <a:off x="839645" y="3665855"/>
            <a:ext cx="1179576" cy="320040"/>
          </a:xfrm>
          <a:prstGeom prst="rect">
            <a:avLst/>
          </a:prstGeom>
          <a:noFill/>
          <a:ln/>
        </p:spPr>
        <p:txBody>
          <a:bodyPr wrap="square" lIns="0" tIns="0" rIns="0" bIns="0" rtlCol="0" anchor="ctr">
            <a:noAutofit/>
          </a:bodyPr>
          <a:lstStyle/>
          <a:p>
            <a:pPr marL="0" indent="0" algn="ctr">
              <a:buNone/>
            </a:pPr>
            <a:r>
              <a:rPr lang="en-US" b="1" dirty="0">
                <a:solidFill>
                  <a:schemeClr val="tx1"/>
                </a:solidFill>
              </a:rPr>
              <a:t>Power OFF</a:t>
            </a:r>
            <a:endParaRPr lang="en-US" dirty="0">
              <a:solidFill>
                <a:schemeClr val="tx1"/>
              </a:solidFill>
            </a:endParaRPr>
          </a:p>
          <a:p>
            <a:pPr marL="0" indent="0" algn="ctr">
              <a:buNone/>
            </a:pPr>
            <a:r>
              <a:rPr lang="en-US" b="1" dirty="0">
                <a:solidFill>
                  <a:schemeClr val="tx1"/>
                </a:solidFill>
              </a:rPr>
              <a:t>+ unavailable</a:t>
            </a:r>
            <a:endParaRPr lang="en-US" dirty="0">
              <a:solidFill>
                <a:schemeClr val="tx1"/>
              </a:solidFill>
            </a:endParaRPr>
          </a:p>
        </p:txBody>
      </p:sp>
      <p:cxnSp>
        <p:nvCxnSpPr>
          <p:cNvPr id="24" name="Straight Arrow Connector 23">
            <a:extLst>
              <a:ext uri="{FF2B5EF4-FFF2-40B4-BE49-F238E27FC236}">
                <a16:creationId xmlns:a16="http://schemas.microsoft.com/office/drawing/2014/main" id="{E9CE3AA3-ACA2-372C-5B46-B85DDFD7EEC7}"/>
              </a:ext>
            </a:extLst>
          </p:cNvPr>
          <p:cNvCxnSpPr>
            <a:stCxn id="11" idx="3"/>
            <a:endCxn id="13" idx="1"/>
          </p:cNvCxnSpPr>
          <p:nvPr/>
        </p:nvCxnSpPr>
        <p:spPr>
          <a:xfrm flipV="1">
            <a:off x="1658493" y="2740597"/>
            <a:ext cx="513739" cy="7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FA9E96A-EA93-FE76-9A15-B26337CCCBF3}"/>
              </a:ext>
            </a:extLst>
          </p:cNvPr>
          <p:cNvCxnSpPr>
            <a:cxnSpLocks/>
            <a:stCxn id="13" idx="3"/>
            <a:endCxn id="15" idx="1"/>
          </p:cNvCxnSpPr>
          <p:nvPr/>
        </p:nvCxnSpPr>
        <p:spPr>
          <a:xfrm>
            <a:off x="3498112" y="2740597"/>
            <a:ext cx="51373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59CFC7D-5E65-3BE3-83E1-BCD3B701B1AF}"/>
              </a:ext>
            </a:extLst>
          </p:cNvPr>
          <p:cNvCxnSpPr>
            <a:stCxn id="15" idx="2"/>
            <a:endCxn id="17" idx="3"/>
          </p:cNvCxnSpPr>
          <p:nvPr/>
        </p:nvCxnSpPr>
        <p:spPr>
          <a:xfrm flipH="1">
            <a:off x="4011851" y="3069781"/>
            <a:ext cx="662940" cy="7560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1CE48573-AFBE-9447-497B-BC016712E3D2}"/>
              </a:ext>
            </a:extLst>
          </p:cNvPr>
          <p:cNvCxnSpPr>
            <a:stCxn id="17" idx="1"/>
            <a:endCxn id="19" idx="3"/>
          </p:cNvCxnSpPr>
          <p:nvPr/>
        </p:nvCxnSpPr>
        <p:spPr>
          <a:xfrm flipH="1">
            <a:off x="2092373" y="3825875"/>
            <a:ext cx="5935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Text 19">
            <a:extLst>
              <a:ext uri="{FF2B5EF4-FFF2-40B4-BE49-F238E27FC236}">
                <a16:creationId xmlns:a16="http://schemas.microsoft.com/office/drawing/2014/main" id="{ACD2DC32-A812-0B7D-0B1B-E37743197500}"/>
              </a:ext>
            </a:extLst>
          </p:cNvPr>
          <p:cNvSpPr/>
          <p:nvPr/>
        </p:nvSpPr>
        <p:spPr>
          <a:xfrm>
            <a:off x="274320" y="4566285"/>
            <a:ext cx="2164080" cy="310896"/>
          </a:xfrm>
          <a:prstGeom prst="rect">
            <a:avLst/>
          </a:prstGeom>
          <a:noFill/>
          <a:ln/>
        </p:spPr>
        <p:txBody>
          <a:bodyPr wrap="square" lIns="0" tIns="0" rIns="0" bIns="0" rtlCol="0" anchor="ctr"/>
          <a:lstStyle/>
          <a:p>
            <a:pPr marL="0" indent="0">
              <a:buNone/>
            </a:pPr>
            <a:r>
              <a:rPr lang="en-US" sz="2100" b="1" dirty="0">
                <a:solidFill>
                  <a:srgbClr val="14213D"/>
                </a:solidFill>
              </a:rPr>
              <a:t>Research gap</a:t>
            </a:r>
            <a:endParaRPr lang="en-US" sz="2100" dirty="0"/>
          </a:p>
        </p:txBody>
      </p:sp>
      <p:sp>
        <p:nvSpPr>
          <p:cNvPr id="34" name="Text 20">
            <a:extLst>
              <a:ext uri="{FF2B5EF4-FFF2-40B4-BE49-F238E27FC236}">
                <a16:creationId xmlns:a16="http://schemas.microsoft.com/office/drawing/2014/main" id="{693CE53B-8096-EB07-1D31-C865EE2B9AB4}"/>
              </a:ext>
            </a:extLst>
          </p:cNvPr>
          <p:cNvSpPr/>
          <p:nvPr/>
        </p:nvSpPr>
        <p:spPr>
          <a:xfrm>
            <a:off x="274320" y="5053711"/>
            <a:ext cx="3519914" cy="256032"/>
          </a:xfrm>
          <a:prstGeom prst="rect">
            <a:avLst/>
          </a:prstGeom>
          <a:noFill/>
          <a:ln/>
        </p:spPr>
        <p:txBody>
          <a:bodyPr wrap="square" lIns="0" tIns="0" rIns="0" bIns="0" rtlCol="0" anchor="ctr"/>
          <a:lstStyle/>
          <a:p>
            <a:pPr marL="0" indent="0">
              <a:buNone/>
            </a:pPr>
            <a:r>
              <a:rPr lang="en-US" sz="1600" dirty="0">
                <a:solidFill>
                  <a:schemeClr val="tx1"/>
                </a:solidFill>
              </a:rPr>
              <a:t>Previous experiments mostly answer:</a:t>
            </a:r>
          </a:p>
        </p:txBody>
      </p:sp>
      <p:sp>
        <p:nvSpPr>
          <p:cNvPr id="35" name="Text 21">
            <a:extLst>
              <a:ext uri="{FF2B5EF4-FFF2-40B4-BE49-F238E27FC236}">
                <a16:creationId xmlns:a16="http://schemas.microsoft.com/office/drawing/2014/main" id="{ADCC922C-8925-7822-A8F1-3B8C27015ECF}"/>
              </a:ext>
            </a:extLst>
          </p:cNvPr>
          <p:cNvSpPr/>
          <p:nvPr/>
        </p:nvSpPr>
        <p:spPr>
          <a:xfrm>
            <a:off x="274320" y="5442585"/>
            <a:ext cx="4343400" cy="566928"/>
          </a:xfrm>
          <a:prstGeom prst="rect">
            <a:avLst/>
          </a:prstGeom>
          <a:noFill/>
          <a:ln/>
        </p:spPr>
        <p:txBody>
          <a:bodyPr wrap="square" lIns="254" tIns="254" rIns="254" bIns="254" rtlCol="0" anchor="ctr">
            <a:normAutofit fontScale="85000" lnSpcReduction="10000"/>
          </a:bodyPr>
          <a:lstStyle/>
          <a:p>
            <a:pPr marL="0" indent="0">
              <a:buNone/>
            </a:pPr>
            <a:r>
              <a:rPr lang="en-US" sz="1800" b="1" i="1" dirty="0">
                <a:solidFill>
                  <a:schemeClr val="accent1"/>
                </a:solidFill>
              </a:rPr>
              <a:t>“How fast can the broker deliver messages when clients remain connected?”</a:t>
            </a:r>
            <a:endParaRPr lang="en-US" sz="1800" dirty="0">
              <a:solidFill>
                <a:schemeClr val="accent1"/>
              </a:solidFill>
            </a:endParaRPr>
          </a:p>
        </p:txBody>
      </p:sp>
      <p:sp>
        <p:nvSpPr>
          <p:cNvPr id="36" name="Text 22">
            <a:extLst>
              <a:ext uri="{FF2B5EF4-FFF2-40B4-BE49-F238E27FC236}">
                <a16:creationId xmlns:a16="http://schemas.microsoft.com/office/drawing/2014/main" id="{9FFAA7C1-04B8-0D23-AD52-943FAC1DEA5D}"/>
              </a:ext>
            </a:extLst>
          </p:cNvPr>
          <p:cNvSpPr/>
          <p:nvPr/>
        </p:nvSpPr>
        <p:spPr>
          <a:xfrm>
            <a:off x="4846320" y="5054092"/>
            <a:ext cx="3110011" cy="256032"/>
          </a:xfrm>
          <a:prstGeom prst="rect">
            <a:avLst/>
          </a:prstGeom>
          <a:noFill/>
          <a:ln/>
        </p:spPr>
        <p:txBody>
          <a:bodyPr wrap="square" lIns="0" tIns="0" rIns="0" bIns="0" rtlCol="0" anchor="ctr"/>
          <a:lstStyle/>
          <a:p>
            <a:pPr marL="0" indent="0">
              <a:buNone/>
            </a:pPr>
            <a:r>
              <a:rPr lang="en-US" sz="1600" dirty="0">
                <a:solidFill>
                  <a:schemeClr val="tx1"/>
                </a:solidFill>
              </a:rPr>
              <a:t>This experiment tries to answer:</a:t>
            </a:r>
          </a:p>
        </p:txBody>
      </p:sp>
      <p:sp>
        <p:nvSpPr>
          <p:cNvPr id="37" name="Text 23">
            <a:extLst>
              <a:ext uri="{FF2B5EF4-FFF2-40B4-BE49-F238E27FC236}">
                <a16:creationId xmlns:a16="http://schemas.microsoft.com/office/drawing/2014/main" id="{E047B59C-82C2-D5D4-0C4D-13E373A33537}"/>
              </a:ext>
            </a:extLst>
          </p:cNvPr>
          <p:cNvSpPr/>
          <p:nvPr/>
        </p:nvSpPr>
        <p:spPr>
          <a:xfrm>
            <a:off x="4846320" y="5480050"/>
            <a:ext cx="4425696" cy="658368"/>
          </a:xfrm>
          <a:prstGeom prst="rect">
            <a:avLst/>
          </a:prstGeom>
          <a:noFill/>
          <a:ln/>
        </p:spPr>
        <p:txBody>
          <a:bodyPr wrap="square" lIns="254" tIns="254" rIns="254" bIns="254" rtlCol="0" anchor="ctr">
            <a:normAutofit fontScale="92500" lnSpcReduction="20000"/>
          </a:bodyPr>
          <a:lstStyle/>
          <a:p>
            <a:pPr marL="0" indent="0">
              <a:buNone/>
            </a:pPr>
            <a:r>
              <a:rPr lang="en-US" sz="1800" b="1" i="1" dirty="0">
                <a:solidFill>
                  <a:schemeClr val="accent1"/>
                </a:solidFill>
              </a:rPr>
              <a:t>“Can the communication semantics maintain continuity when the device repeatedly disappears?”</a:t>
            </a:r>
            <a:endParaRPr lang="en-US" sz="1800" dirty="0">
              <a:solidFill>
                <a:schemeClr val="accent1"/>
              </a:solidFill>
            </a:endParaRPr>
          </a:p>
        </p:txBody>
      </p:sp>
    </p:spTree>
    <p:extLst>
      <p:ext uri="{BB962C8B-B14F-4D97-AF65-F5344CB8AC3E}">
        <p14:creationId xmlns:p14="http://schemas.microsoft.com/office/powerpoint/2010/main" val="30289989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BB208-EEFC-0E03-66BA-A10DD782155D}"/>
              </a:ext>
            </a:extLst>
          </p:cNvPr>
          <p:cNvSpPr>
            <a:spLocks noGrp="1"/>
          </p:cNvSpPr>
          <p:nvPr>
            <p:ph type="title"/>
          </p:nvPr>
        </p:nvSpPr>
        <p:spPr/>
        <p:txBody>
          <a:bodyPr>
            <a:normAutofit/>
          </a:bodyPr>
          <a:lstStyle/>
          <a:p>
            <a:r>
              <a:rPr lang="en-US" b="1" dirty="0"/>
              <a:t>Why availability matters</a:t>
            </a:r>
            <a:endParaRPr lang="en-US" dirty="0"/>
          </a:p>
        </p:txBody>
      </p:sp>
      <p:sp>
        <p:nvSpPr>
          <p:cNvPr id="3" name="Text Placeholder 2">
            <a:extLst>
              <a:ext uri="{FF2B5EF4-FFF2-40B4-BE49-F238E27FC236}">
                <a16:creationId xmlns:a16="http://schemas.microsoft.com/office/drawing/2014/main" id="{9BA47C22-D056-E547-DCAC-DC8A3B625E5F}"/>
              </a:ext>
            </a:extLst>
          </p:cNvPr>
          <p:cNvSpPr>
            <a:spLocks noGrp="1"/>
          </p:cNvSpPr>
          <p:nvPr>
            <p:ph type="body" idx="1"/>
          </p:nvPr>
        </p:nvSpPr>
        <p:spPr/>
        <p:txBody>
          <a:bodyPr>
            <a:normAutofit/>
          </a:bodyPr>
          <a:lstStyle/>
          <a:p>
            <a:pPr lvl="0"/>
            <a:r>
              <a:rPr lang="en-US" sz="2800" dirty="0" err="1"/>
              <a:t>Batteryless</a:t>
            </a:r>
            <a:r>
              <a:rPr lang="en-US" sz="2800" dirty="0"/>
              <a:t> devices depend on harvested energy. </a:t>
            </a:r>
          </a:p>
          <a:p>
            <a:pPr lvl="0"/>
            <a:r>
              <a:rPr lang="en-US" sz="2800" dirty="0"/>
              <a:t>Small energy buffers cause frequent power loss. </a:t>
            </a:r>
          </a:p>
          <a:p>
            <a:pPr lvl="0"/>
            <a:r>
              <a:rPr lang="en-US" sz="2800" dirty="0"/>
              <a:t>Devices may </a:t>
            </a:r>
            <a:r>
              <a:rPr lang="en-US" sz="2800" b="1" dirty="0"/>
              <a:t>miss messages </a:t>
            </a:r>
            <a:r>
              <a:rPr lang="en-US" sz="2800" dirty="0"/>
              <a:t>while powered off. </a:t>
            </a:r>
          </a:p>
          <a:p>
            <a:pPr lvl="0"/>
            <a:r>
              <a:rPr lang="en-US" sz="2800" b="1" dirty="0"/>
              <a:t>MQTT persistent sessions </a:t>
            </a:r>
            <a:r>
              <a:rPr lang="en-US" sz="2800" dirty="0"/>
              <a:t>may help recover those missed messages. </a:t>
            </a:r>
          </a:p>
          <a:p>
            <a:endParaRPr lang="en-US" sz="2800" dirty="0"/>
          </a:p>
        </p:txBody>
      </p:sp>
      <p:sp>
        <p:nvSpPr>
          <p:cNvPr id="4" name="Slide Number Placeholder 3">
            <a:extLst>
              <a:ext uri="{FF2B5EF4-FFF2-40B4-BE49-F238E27FC236}">
                <a16:creationId xmlns:a16="http://schemas.microsoft.com/office/drawing/2014/main" id="{09EF7EE0-7E1F-2715-EBB2-3A9731BECEA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37</a:t>
            </a:fld>
            <a:endParaRPr lang="en-US"/>
          </a:p>
        </p:txBody>
      </p:sp>
    </p:spTree>
    <p:extLst>
      <p:ext uri="{BB962C8B-B14F-4D97-AF65-F5344CB8AC3E}">
        <p14:creationId xmlns:p14="http://schemas.microsoft.com/office/powerpoint/2010/main" val="12252849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C6F13-9FCA-05CE-12CA-B66CAE6D0442}"/>
              </a:ext>
            </a:extLst>
          </p:cNvPr>
          <p:cNvSpPr>
            <a:spLocks noGrp="1"/>
          </p:cNvSpPr>
          <p:nvPr>
            <p:ph type="title"/>
          </p:nvPr>
        </p:nvSpPr>
        <p:spPr/>
        <p:txBody>
          <a:bodyPr/>
          <a:lstStyle/>
          <a:p>
            <a:r>
              <a:rPr lang="en-US" dirty="0"/>
              <a:t>Key Concepts</a:t>
            </a:r>
          </a:p>
        </p:txBody>
      </p:sp>
      <p:sp>
        <p:nvSpPr>
          <p:cNvPr id="3" name="Text Placeholder 2">
            <a:extLst>
              <a:ext uri="{FF2B5EF4-FFF2-40B4-BE49-F238E27FC236}">
                <a16:creationId xmlns:a16="http://schemas.microsoft.com/office/drawing/2014/main" id="{BC841125-40AB-2523-8FD8-1648C2021B6D}"/>
              </a:ext>
            </a:extLst>
          </p:cNvPr>
          <p:cNvSpPr>
            <a:spLocks noGrp="1"/>
          </p:cNvSpPr>
          <p:nvPr>
            <p:ph type="body" idx="1"/>
          </p:nvPr>
        </p:nvSpPr>
        <p:spPr>
          <a:xfrm>
            <a:off x="221512" y="1600200"/>
            <a:ext cx="8686800" cy="5121250"/>
          </a:xfrm>
        </p:spPr>
        <p:txBody>
          <a:bodyPr>
            <a:normAutofit fontScale="85000" lnSpcReduction="20000"/>
          </a:bodyPr>
          <a:lstStyle/>
          <a:p>
            <a:pPr marL="85725" indent="0">
              <a:buNone/>
            </a:pPr>
            <a:endParaRPr lang="en-US" b="1" dirty="0"/>
          </a:p>
          <a:p>
            <a:pPr marL="85725" indent="0">
              <a:buNone/>
            </a:pPr>
            <a:endParaRPr lang="en-US" b="1" dirty="0"/>
          </a:p>
          <a:p>
            <a:endParaRPr lang="en-US" sz="2600" b="1" dirty="0"/>
          </a:p>
          <a:p>
            <a:r>
              <a:rPr lang="en-US" sz="2600" b="1" dirty="0"/>
              <a:t>Device Availability Ratio (DAR)</a:t>
            </a:r>
            <a:r>
              <a:rPr lang="en-US" sz="2600" dirty="0"/>
              <a:t> represents the fraction of an operating cycle during which the intermittently powered IoT device is active and capable of communication.</a:t>
            </a:r>
          </a:p>
          <a:p>
            <a:endParaRPr lang="en-US" sz="2600" dirty="0"/>
          </a:p>
          <a:p>
            <a:r>
              <a:rPr lang="en-US" dirty="0"/>
              <a:t>Examples:</a:t>
            </a:r>
          </a:p>
          <a:p>
            <a:pPr lvl="1"/>
            <a:r>
              <a:rPr lang="en-US" dirty="0"/>
              <a:t>1.0 = always powered </a:t>
            </a:r>
          </a:p>
          <a:p>
            <a:pPr lvl="1"/>
            <a:r>
              <a:rPr lang="en-US" dirty="0"/>
              <a:t>0.75 = mostly available </a:t>
            </a:r>
          </a:p>
          <a:p>
            <a:pPr lvl="1"/>
            <a:r>
              <a:rPr lang="en-US" dirty="0"/>
              <a:t>0.50 = intermittently available </a:t>
            </a:r>
          </a:p>
          <a:p>
            <a:pPr lvl="1"/>
            <a:r>
              <a:rPr lang="en-US" dirty="0"/>
              <a:t>0.25 = mostly unavailable </a:t>
            </a:r>
          </a:p>
          <a:p>
            <a:pPr lvl="1"/>
            <a:r>
              <a:rPr lang="en-US" dirty="0"/>
              <a:t>Real </a:t>
            </a:r>
            <a:r>
              <a:rPr lang="en-US" dirty="0" err="1"/>
              <a:t>batteryless</a:t>
            </a:r>
            <a:r>
              <a:rPr lang="en-US" dirty="0"/>
              <a:t> IoT is mainly in the </a:t>
            </a:r>
            <a:r>
              <a:rPr lang="en-US" b="1" dirty="0"/>
              <a:t>middle region</a:t>
            </a:r>
            <a:r>
              <a:rPr lang="en-US" dirty="0"/>
              <a:t>, not only 0 or 1.</a:t>
            </a:r>
          </a:p>
          <a:p>
            <a:pPr marL="85725" indent="0">
              <a:buNone/>
            </a:pPr>
            <a:endParaRPr lang="en-US" b="1" dirty="0"/>
          </a:p>
        </p:txBody>
      </p:sp>
      <p:sp>
        <p:nvSpPr>
          <p:cNvPr id="4" name="Slide Number Placeholder 3">
            <a:extLst>
              <a:ext uri="{FF2B5EF4-FFF2-40B4-BE49-F238E27FC236}">
                <a16:creationId xmlns:a16="http://schemas.microsoft.com/office/drawing/2014/main" id="{4EFCC3CB-4C64-6363-E1D1-F4F5EFF9A73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38</a:t>
            </a:fld>
            <a:endParaRPr lang="en-US"/>
          </a:p>
        </p:txBody>
      </p:sp>
      <p:pic>
        <p:nvPicPr>
          <p:cNvPr id="8" name="Picture 7">
            <a:extLst>
              <a:ext uri="{FF2B5EF4-FFF2-40B4-BE49-F238E27FC236}">
                <a16:creationId xmlns:a16="http://schemas.microsoft.com/office/drawing/2014/main" id="{88043297-BF23-93D9-1D45-CC9D5C267B1B}"/>
              </a:ext>
            </a:extLst>
          </p:cNvPr>
          <p:cNvPicPr>
            <a:picLocks noChangeAspect="1"/>
          </p:cNvPicPr>
          <p:nvPr/>
        </p:nvPicPr>
        <p:blipFill>
          <a:blip r:embed="rId2"/>
          <a:stretch>
            <a:fillRect/>
          </a:stretch>
        </p:blipFill>
        <p:spPr>
          <a:xfrm>
            <a:off x="2706997" y="1474076"/>
            <a:ext cx="3435716" cy="966295"/>
          </a:xfrm>
          <a:prstGeom prst="rect">
            <a:avLst/>
          </a:prstGeom>
        </p:spPr>
      </p:pic>
    </p:spTree>
    <p:extLst>
      <p:ext uri="{BB962C8B-B14F-4D97-AF65-F5344CB8AC3E}">
        <p14:creationId xmlns:p14="http://schemas.microsoft.com/office/powerpoint/2010/main" val="2149599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E40AB-DD34-0C46-7142-8FD792C92656}"/>
              </a:ext>
            </a:extLst>
          </p:cNvPr>
          <p:cNvSpPr>
            <a:spLocks noGrp="1"/>
          </p:cNvSpPr>
          <p:nvPr>
            <p:ph type="title"/>
          </p:nvPr>
        </p:nvSpPr>
        <p:spPr/>
        <p:txBody>
          <a:bodyPr/>
          <a:lstStyle/>
          <a:p>
            <a:r>
              <a:rPr lang="en-US" dirty="0"/>
              <a:t>Experiment Design</a:t>
            </a:r>
          </a:p>
        </p:txBody>
      </p:sp>
      <p:sp>
        <p:nvSpPr>
          <p:cNvPr id="4" name="Slide Number Placeholder 3">
            <a:extLst>
              <a:ext uri="{FF2B5EF4-FFF2-40B4-BE49-F238E27FC236}">
                <a16:creationId xmlns:a16="http://schemas.microsoft.com/office/drawing/2014/main" id="{44EF53F0-BCBC-66D7-5F42-6F5FCBC7AD2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39</a:t>
            </a:fld>
            <a:endParaRPr lang="en-US"/>
          </a:p>
        </p:txBody>
      </p:sp>
      <p:sp>
        <p:nvSpPr>
          <p:cNvPr id="5" name="Text 4">
            <a:extLst>
              <a:ext uri="{FF2B5EF4-FFF2-40B4-BE49-F238E27FC236}">
                <a16:creationId xmlns:a16="http://schemas.microsoft.com/office/drawing/2014/main" id="{54DF5044-92AB-4153-ACAF-6136D7BA181C}"/>
              </a:ext>
            </a:extLst>
          </p:cNvPr>
          <p:cNvSpPr/>
          <p:nvPr/>
        </p:nvSpPr>
        <p:spPr>
          <a:xfrm>
            <a:off x="423739" y="1846189"/>
            <a:ext cx="7963516" cy="560360"/>
          </a:xfrm>
          <a:prstGeom prst="rect">
            <a:avLst/>
          </a:prstGeom>
          <a:noFill/>
          <a:ln/>
        </p:spPr>
        <p:txBody>
          <a:bodyPr wrap="square" lIns="0" tIns="0" rIns="0" bIns="0" rtlCol="0" anchor="ctr">
            <a:normAutofit/>
          </a:bodyPr>
          <a:lstStyle/>
          <a:p>
            <a:pPr marL="0" indent="0">
              <a:buNone/>
            </a:pPr>
            <a:r>
              <a:rPr lang="en-US" sz="1800" dirty="0">
                <a:solidFill>
                  <a:schemeClr val="tx1"/>
                </a:solidFill>
              </a:rPr>
              <a:t>Each level repeats the same ON/OFF rhythm several times during a run. (</a:t>
            </a:r>
            <a:r>
              <a:rPr lang="en-US" sz="1800" b="1" dirty="0">
                <a:solidFill>
                  <a:schemeClr val="tx1"/>
                </a:solidFill>
              </a:rPr>
              <a:t>Cycle Length: 100s</a:t>
            </a:r>
            <a:r>
              <a:rPr lang="en-US" sz="1800" dirty="0">
                <a:solidFill>
                  <a:schemeClr val="tx1"/>
                </a:solidFill>
              </a:rPr>
              <a:t>)</a:t>
            </a:r>
          </a:p>
        </p:txBody>
      </p:sp>
      <p:graphicFrame>
        <p:nvGraphicFramePr>
          <p:cNvPr id="54" name="Table 53">
            <a:extLst>
              <a:ext uri="{FF2B5EF4-FFF2-40B4-BE49-F238E27FC236}">
                <a16:creationId xmlns:a16="http://schemas.microsoft.com/office/drawing/2014/main" id="{14B46250-2D8D-2673-4317-D81516736399}"/>
              </a:ext>
            </a:extLst>
          </p:cNvPr>
          <p:cNvGraphicFramePr>
            <a:graphicFrameLocks noGrp="1"/>
          </p:cNvGraphicFramePr>
          <p:nvPr>
            <p:extLst>
              <p:ext uri="{D42A27DB-BD31-4B8C-83A1-F6EECF244321}">
                <p14:modId xmlns:p14="http://schemas.microsoft.com/office/powerpoint/2010/main" val="1926713728"/>
              </p:ext>
            </p:extLst>
          </p:nvPr>
        </p:nvGraphicFramePr>
        <p:xfrm>
          <a:off x="199740" y="2794962"/>
          <a:ext cx="4090565" cy="2829804"/>
        </p:xfrm>
        <a:graphic>
          <a:graphicData uri="http://schemas.openxmlformats.org/drawingml/2006/table">
            <a:tbl>
              <a:tblPr firstRow="1" bandRow="1">
                <a:tableStyleId>{5C22544A-7EE6-4342-B048-85BDC9FD1C3A}</a:tableStyleId>
              </a:tblPr>
              <a:tblGrid>
                <a:gridCol w="1468338">
                  <a:extLst>
                    <a:ext uri="{9D8B030D-6E8A-4147-A177-3AD203B41FA5}">
                      <a16:colId xmlns:a16="http://schemas.microsoft.com/office/drawing/2014/main" val="3919808013"/>
                    </a:ext>
                  </a:extLst>
                </a:gridCol>
                <a:gridCol w="1468338">
                  <a:extLst>
                    <a:ext uri="{9D8B030D-6E8A-4147-A177-3AD203B41FA5}">
                      <a16:colId xmlns:a16="http://schemas.microsoft.com/office/drawing/2014/main" val="1523636316"/>
                    </a:ext>
                  </a:extLst>
                </a:gridCol>
                <a:gridCol w="1153889">
                  <a:extLst>
                    <a:ext uri="{9D8B030D-6E8A-4147-A177-3AD203B41FA5}">
                      <a16:colId xmlns:a16="http://schemas.microsoft.com/office/drawing/2014/main" val="3510806209"/>
                    </a:ext>
                  </a:extLst>
                </a:gridCol>
              </a:tblGrid>
              <a:tr h="641494">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1" dirty="0">
                          <a:solidFill>
                            <a:srgbClr val="FFFFFF"/>
                          </a:solidFill>
                        </a:rPr>
                        <a:t>Availability</a:t>
                      </a:r>
                      <a:endParaRPr lang="en-US" sz="1400" dirty="0"/>
                    </a:p>
                  </a:txBody>
                  <a:tcPr anchor="ctr"/>
                </a:tc>
                <a:tc>
                  <a:txBody>
                    <a:bodyPr/>
                    <a:lstStyle/>
                    <a:p>
                      <a:r>
                        <a:rPr lang="en-US" dirty="0"/>
                        <a:t>ON window</a:t>
                      </a:r>
                    </a:p>
                  </a:txBody>
                  <a:tcPr/>
                </a:tc>
                <a:tc>
                  <a:txBody>
                    <a:bodyPr/>
                    <a:lstStyle/>
                    <a:p>
                      <a:r>
                        <a:rPr lang="en-US" dirty="0"/>
                        <a:t>OFF window</a:t>
                      </a:r>
                    </a:p>
                  </a:txBody>
                  <a:tcPr/>
                </a:tc>
                <a:extLst>
                  <a:ext uri="{0D108BD9-81ED-4DB2-BD59-A6C34878D82A}">
                    <a16:rowId xmlns:a16="http://schemas.microsoft.com/office/drawing/2014/main" val="2965481020"/>
                  </a:ext>
                </a:extLst>
              </a:tr>
              <a:tr h="437662">
                <a:tc>
                  <a:txBody>
                    <a:bodyPr/>
                    <a:lstStyle/>
                    <a:p>
                      <a:r>
                        <a:rPr lang="en-US" dirty="0"/>
                        <a:t>100%</a:t>
                      </a:r>
                    </a:p>
                  </a:txBody>
                  <a:tcPr/>
                </a:tc>
                <a:tc>
                  <a:txBody>
                    <a:bodyPr/>
                    <a:lstStyle/>
                    <a:p>
                      <a:r>
                        <a:rPr lang="en-US" dirty="0"/>
                        <a:t>Always ON</a:t>
                      </a:r>
                    </a:p>
                  </a:txBody>
                  <a:tcPr/>
                </a:tc>
                <a:tc>
                  <a:txBody>
                    <a:bodyPr/>
                    <a:lstStyle/>
                    <a:p>
                      <a:r>
                        <a:rPr lang="en-US" dirty="0"/>
                        <a:t>0s OFF</a:t>
                      </a:r>
                    </a:p>
                  </a:txBody>
                  <a:tcPr/>
                </a:tc>
                <a:extLst>
                  <a:ext uri="{0D108BD9-81ED-4DB2-BD59-A6C34878D82A}">
                    <a16:rowId xmlns:a16="http://schemas.microsoft.com/office/drawing/2014/main" val="67976914"/>
                  </a:ext>
                </a:extLst>
              </a:tr>
              <a:tr h="437662">
                <a:tc>
                  <a:txBody>
                    <a:bodyPr/>
                    <a:lstStyle/>
                    <a:p>
                      <a:r>
                        <a:rPr lang="en-US" dirty="0"/>
                        <a:t>80%</a:t>
                      </a:r>
                    </a:p>
                  </a:txBody>
                  <a:tcPr/>
                </a:tc>
                <a:tc>
                  <a:txBody>
                    <a:bodyPr/>
                    <a:lstStyle/>
                    <a:p>
                      <a:r>
                        <a:rPr lang="en-US" dirty="0"/>
                        <a:t>80s ON</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20s OFF</a:t>
                      </a:r>
                    </a:p>
                  </a:txBody>
                  <a:tcPr/>
                </a:tc>
                <a:extLst>
                  <a:ext uri="{0D108BD9-81ED-4DB2-BD59-A6C34878D82A}">
                    <a16:rowId xmlns:a16="http://schemas.microsoft.com/office/drawing/2014/main" val="1045650252"/>
                  </a:ext>
                </a:extLst>
              </a:tr>
              <a:tr h="437662">
                <a:tc>
                  <a:txBody>
                    <a:bodyPr/>
                    <a:lstStyle/>
                    <a:p>
                      <a:r>
                        <a:rPr lang="en-US" dirty="0"/>
                        <a:t>60%</a:t>
                      </a:r>
                    </a:p>
                  </a:txBody>
                  <a:tcPr/>
                </a:tc>
                <a:tc>
                  <a:txBody>
                    <a:bodyPr/>
                    <a:lstStyle/>
                    <a:p>
                      <a:r>
                        <a:rPr lang="en-US" dirty="0"/>
                        <a:t>60s ON</a:t>
                      </a:r>
                    </a:p>
                  </a:txBody>
                  <a:tcPr/>
                </a:tc>
                <a:tc>
                  <a:txBody>
                    <a:bodyPr/>
                    <a:lstStyle/>
                    <a:p>
                      <a:r>
                        <a:rPr lang="en-US" dirty="0"/>
                        <a:t>40s OFF</a:t>
                      </a:r>
                    </a:p>
                  </a:txBody>
                  <a:tcPr/>
                </a:tc>
                <a:extLst>
                  <a:ext uri="{0D108BD9-81ED-4DB2-BD59-A6C34878D82A}">
                    <a16:rowId xmlns:a16="http://schemas.microsoft.com/office/drawing/2014/main" val="2660218164"/>
                  </a:ext>
                </a:extLst>
              </a:tr>
              <a:tr h="437662">
                <a:tc>
                  <a:txBody>
                    <a:bodyPr/>
                    <a:lstStyle/>
                    <a:p>
                      <a:r>
                        <a:rPr lang="en-US" dirty="0"/>
                        <a:t>40%</a:t>
                      </a:r>
                    </a:p>
                  </a:txBody>
                  <a:tcPr/>
                </a:tc>
                <a:tc>
                  <a:txBody>
                    <a:bodyPr/>
                    <a:lstStyle/>
                    <a:p>
                      <a:r>
                        <a:rPr lang="en-US" dirty="0"/>
                        <a:t>40s ON</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60s OFF</a:t>
                      </a:r>
                    </a:p>
                  </a:txBody>
                  <a:tcPr/>
                </a:tc>
                <a:extLst>
                  <a:ext uri="{0D108BD9-81ED-4DB2-BD59-A6C34878D82A}">
                    <a16:rowId xmlns:a16="http://schemas.microsoft.com/office/drawing/2014/main" val="2774605733"/>
                  </a:ext>
                </a:extLst>
              </a:tr>
              <a:tr h="437662">
                <a:tc>
                  <a:txBody>
                    <a:bodyPr/>
                    <a:lstStyle/>
                    <a:p>
                      <a:r>
                        <a:rPr lang="en-US" dirty="0"/>
                        <a:t>20%</a:t>
                      </a:r>
                    </a:p>
                  </a:txBody>
                  <a:tcPr/>
                </a:tc>
                <a:tc>
                  <a:txBody>
                    <a:bodyPr/>
                    <a:lstStyle/>
                    <a:p>
                      <a:r>
                        <a:rPr lang="en-US" dirty="0"/>
                        <a:t>20s ON</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80s OFF</a:t>
                      </a:r>
                    </a:p>
                  </a:txBody>
                  <a:tcPr/>
                </a:tc>
                <a:extLst>
                  <a:ext uri="{0D108BD9-81ED-4DB2-BD59-A6C34878D82A}">
                    <a16:rowId xmlns:a16="http://schemas.microsoft.com/office/drawing/2014/main" val="2542385564"/>
                  </a:ext>
                </a:extLst>
              </a:tr>
            </a:tbl>
          </a:graphicData>
        </a:graphic>
      </p:graphicFrame>
      <p:sp>
        <p:nvSpPr>
          <p:cNvPr id="56" name="Shape 32">
            <a:extLst>
              <a:ext uri="{FF2B5EF4-FFF2-40B4-BE49-F238E27FC236}">
                <a16:creationId xmlns:a16="http://schemas.microsoft.com/office/drawing/2014/main" id="{23A9A178-BDDC-120C-9D99-1CB65B48D48F}"/>
              </a:ext>
            </a:extLst>
          </p:cNvPr>
          <p:cNvSpPr/>
          <p:nvPr/>
        </p:nvSpPr>
        <p:spPr>
          <a:xfrm>
            <a:off x="4484747" y="3974233"/>
            <a:ext cx="3599078" cy="201168"/>
          </a:xfrm>
          <a:prstGeom prst="rect">
            <a:avLst/>
          </a:prstGeom>
          <a:solidFill>
            <a:srgbClr val="0B6E1E"/>
          </a:solidFill>
          <a:ln w="12700">
            <a:solidFill>
              <a:srgbClr val="333333">
                <a:alpha val="0"/>
              </a:srgbClr>
            </a:solidFill>
            <a:prstDash val="solid"/>
          </a:ln>
        </p:spPr>
        <p:txBody>
          <a:bodyPr/>
          <a:lstStyle/>
          <a:p>
            <a:endParaRPr lang="en-US"/>
          </a:p>
        </p:txBody>
      </p:sp>
      <p:sp>
        <p:nvSpPr>
          <p:cNvPr id="57" name="Shape 33">
            <a:extLst>
              <a:ext uri="{FF2B5EF4-FFF2-40B4-BE49-F238E27FC236}">
                <a16:creationId xmlns:a16="http://schemas.microsoft.com/office/drawing/2014/main" id="{B6106844-84FD-15DC-FD8A-244E41958E04}"/>
              </a:ext>
            </a:extLst>
          </p:cNvPr>
          <p:cNvSpPr/>
          <p:nvPr/>
        </p:nvSpPr>
        <p:spPr>
          <a:xfrm>
            <a:off x="8083825" y="3974233"/>
            <a:ext cx="899770" cy="201168"/>
          </a:xfrm>
          <a:prstGeom prst="rect">
            <a:avLst/>
          </a:prstGeom>
          <a:solidFill>
            <a:srgbClr val="DC2626"/>
          </a:solidFill>
          <a:ln w="12700">
            <a:solidFill>
              <a:srgbClr val="333333">
                <a:alpha val="0"/>
              </a:srgbClr>
            </a:solidFill>
            <a:prstDash val="solid"/>
          </a:ln>
        </p:spPr>
        <p:txBody>
          <a:bodyPr/>
          <a:lstStyle/>
          <a:p>
            <a:endParaRPr lang="en-US"/>
          </a:p>
        </p:txBody>
      </p:sp>
      <p:sp>
        <p:nvSpPr>
          <p:cNvPr id="59" name="Shape 35">
            <a:extLst>
              <a:ext uri="{FF2B5EF4-FFF2-40B4-BE49-F238E27FC236}">
                <a16:creationId xmlns:a16="http://schemas.microsoft.com/office/drawing/2014/main" id="{C5B93D60-CD9E-AD8C-CCD7-777BAE511316}"/>
              </a:ext>
            </a:extLst>
          </p:cNvPr>
          <p:cNvSpPr/>
          <p:nvPr/>
        </p:nvSpPr>
        <p:spPr>
          <a:xfrm>
            <a:off x="4484747" y="4414921"/>
            <a:ext cx="2699309" cy="201168"/>
          </a:xfrm>
          <a:prstGeom prst="rect">
            <a:avLst/>
          </a:prstGeom>
          <a:solidFill>
            <a:srgbClr val="0B6E1E"/>
          </a:solidFill>
          <a:ln w="12700">
            <a:solidFill>
              <a:srgbClr val="333333">
                <a:alpha val="0"/>
              </a:srgbClr>
            </a:solidFill>
            <a:prstDash val="solid"/>
          </a:ln>
        </p:spPr>
        <p:txBody>
          <a:bodyPr/>
          <a:lstStyle/>
          <a:p>
            <a:endParaRPr lang="en-US"/>
          </a:p>
        </p:txBody>
      </p:sp>
      <p:sp>
        <p:nvSpPr>
          <p:cNvPr id="60" name="Shape 36">
            <a:extLst>
              <a:ext uri="{FF2B5EF4-FFF2-40B4-BE49-F238E27FC236}">
                <a16:creationId xmlns:a16="http://schemas.microsoft.com/office/drawing/2014/main" id="{043A7C71-13E0-C356-5437-D41CBE38B601}"/>
              </a:ext>
            </a:extLst>
          </p:cNvPr>
          <p:cNvSpPr/>
          <p:nvPr/>
        </p:nvSpPr>
        <p:spPr>
          <a:xfrm>
            <a:off x="7184056" y="4414921"/>
            <a:ext cx="1799539" cy="201168"/>
          </a:xfrm>
          <a:prstGeom prst="rect">
            <a:avLst/>
          </a:prstGeom>
          <a:solidFill>
            <a:srgbClr val="DC2626"/>
          </a:solidFill>
          <a:ln w="12700">
            <a:solidFill>
              <a:srgbClr val="333333">
                <a:alpha val="0"/>
              </a:srgbClr>
            </a:solidFill>
            <a:prstDash val="solid"/>
          </a:ln>
        </p:spPr>
        <p:txBody>
          <a:bodyPr/>
          <a:lstStyle/>
          <a:p>
            <a:endParaRPr lang="en-US"/>
          </a:p>
        </p:txBody>
      </p:sp>
      <p:sp>
        <p:nvSpPr>
          <p:cNvPr id="62" name="Shape 38">
            <a:extLst>
              <a:ext uri="{FF2B5EF4-FFF2-40B4-BE49-F238E27FC236}">
                <a16:creationId xmlns:a16="http://schemas.microsoft.com/office/drawing/2014/main" id="{BCE1EAFA-F0C1-4BDF-AE79-25C8B476BD71}"/>
              </a:ext>
            </a:extLst>
          </p:cNvPr>
          <p:cNvSpPr/>
          <p:nvPr/>
        </p:nvSpPr>
        <p:spPr>
          <a:xfrm>
            <a:off x="4484747" y="4863283"/>
            <a:ext cx="1799539" cy="201168"/>
          </a:xfrm>
          <a:prstGeom prst="rect">
            <a:avLst/>
          </a:prstGeom>
          <a:solidFill>
            <a:srgbClr val="0B6E1E"/>
          </a:solidFill>
          <a:ln w="12700">
            <a:solidFill>
              <a:srgbClr val="333333">
                <a:alpha val="0"/>
              </a:srgbClr>
            </a:solidFill>
            <a:prstDash val="solid"/>
          </a:ln>
        </p:spPr>
        <p:txBody>
          <a:bodyPr/>
          <a:lstStyle/>
          <a:p>
            <a:endParaRPr lang="en-US"/>
          </a:p>
        </p:txBody>
      </p:sp>
      <p:sp>
        <p:nvSpPr>
          <p:cNvPr id="63" name="Shape 39">
            <a:extLst>
              <a:ext uri="{FF2B5EF4-FFF2-40B4-BE49-F238E27FC236}">
                <a16:creationId xmlns:a16="http://schemas.microsoft.com/office/drawing/2014/main" id="{43E3A678-BC13-E423-CA96-401D42A3650D}"/>
              </a:ext>
            </a:extLst>
          </p:cNvPr>
          <p:cNvSpPr/>
          <p:nvPr/>
        </p:nvSpPr>
        <p:spPr>
          <a:xfrm>
            <a:off x="6284286" y="4863283"/>
            <a:ext cx="2699309" cy="201168"/>
          </a:xfrm>
          <a:prstGeom prst="rect">
            <a:avLst/>
          </a:prstGeom>
          <a:solidFill>
            <a:srgbClr val="DC2626"/>
          </a:solidFill>
          <a:ln w="12700">
            <a:solidFill>
              <a:srgbClr val="333333">
                <a:alpha val="0"/>
              </a:srgbClr>
            </a:solidFill>
            <a:prstDash val="solid"/>
          </a:ln>
        </p:spPr>
        <p:txBody>
          <a:bodyPr/>
          <a:lstStyle/>
          <a:p>
            <a:endParaRPr lang="en-US"/>
          </a:p>
        </p:txBody>
      </p:sp>
      <p:sp>
        <p:nvSpPr>
          <p:cNvPr id="65" name="Shape 41">
            <a:extLst>
              <a:ext uri="{FF2B5EF4-FFF2-40B4-BE49-F238E27FC236}">
                <a16:creationId xmlns:a16="http://schemas.microsoft.com/office/drawing/2014/main" id="{EC3BB3DB-4F8F-C5C4-B2E1-5922EDD31455}"/>
              </a:ext>
            </a:extLst>
          </p:cNvPr>
          <p:cNvSpPr/>
          <p:nvPr/>
        </p:nvSpPr>
        <p:spPr>
          <a:xfrm>
            <a:off x="4484747" y="5311645"/>
            <a:ext cx="899770" cy="201168"/>
          </a:xfrm>
          <a:prstGeom prst="rect">
            <a:avLst/>
          </a:prstGeom>
          <a:solidFill>
            <a:srgbClr val="0B6E1E"/>
          </a:solidFill>
          <a:ln w="12700">
            <a:solidFill>
              <a:srgbClr val="333333">
                <a:alpha val="0"/>
              </a:srgbClr>
            </a:solidFill>
            <a:prstDash val="solid"/>
          </a:ln>
        </p:spPr>
        <p:txBody>
          <a:bodyPr/>
          <a:lstStyle/>
          <a:p>
            <a:endParaRPr lang="en-US"/>
          </a:p>
        </p:txBody>
      </p:sp>
      <p:sp>
        <p:nvSpPr>
          <p:cNvPr id="66" name="Shape 42">
            <a:extLst>
              <a:ext uri="{FF2B5EF4-FFF2-40B4-BE49-F238E27FC236}">
                <a16:creationId xmlns:a16="http://schemas.microsoft.com/office/drawing/2014/main" id="{568C4851-F2E6-EB60-D221-8132112F1319}"/>
              </a:ext>
            </a:extLst>
          </p:cNvPr>
          <p:cNvSpPr/>
          <p:nvPr/>
        </p:nvSpPr>
        <p:spPr>
          <a:xfrm>
            <a:off x="5384517" y="5311645"/>
            <a:ext cx="3599078" cy="201168"/>
          </a:xfrm>
          <a:prstGeom prst="rect">
            <a:avLst/>
          </a:prstGeom>
          <a:solidFill>
            <a:srgbClr val="DC2626"/>
          </a:solidFill>
          <a:ln w="12700">
            <a:solidFill>
              <a:srgbClr val="333333">
                <a:alpha val="0"/>
              </a:srgbClr>
            </a:solidFill>
            <a:prstDash val="solid"/>
          </a:ln>
        </p:spPr>
        <p:txBody>
          <a:bodyPr/>
          <a:lstStyle/>
          <a:p>
            <a:endParaRPr lang="en-US"/>
          </a:p>
        </p:txBody>
      </p:sp>
      <p:sp>
        <p:nvSpPr>
          <p:cNvPr id="67" name="Text 43">
            <a:extLst>
              <a:ext uri="{FF2B5EF4-FFF2-40B4-BE49-F238E27FC236}">
                <a16:creationId xmlns:a16="http://schemas.microsoft.com/office/drawing/2014/main" id="{87E1DE18-49C7-1190-136C-70141494B150}"/>
              </a:ext>
            </a:extLst>
          </p:cNvPr>
          <p:cNvSpPr/>
          <p:nvPr/>
        </p:nvSpPr>
        <p:spPr>
          <a:xfrm>
            <a:off x="5384517" y="5686855"/>
            <a:ext cx="402336" cy="146304"/>
          </a:xfrm>
          <a:prstGeom prst="rect">
            <a:avLst/>
          </a:prstGeom>
          <a:noFill/>
          <a:ln/>
        </p:spPr>
        <p:txBody>
          <a:bodyPr wrap="square" lIns="0" tIns="0" rIns="0" bIns="0" rtlCol="0" anchor="ctr"/>
          <a:lstStyle/>
          <a:p>
            <a:pPr marL="0" indent="0">
              <a:buNone/>
            </a:pPr>
            <a:r>
              <a:rPr lang="en-US" sz="1050" b="1" dirty="0">
                <a:solidFill>
                  <a:srgbClr val="0B6E1E"/>
                </a:solidFill>
              </a:rPr>
              <a:t>ON</a:t>
            </a:r>
            <a:endParaRPr lang="en-US" sz="1050" dirty="0"/>
          </a:p>
        </p:txBody>
      </p:sp>
      <p:sp>
        <p:nvSpPr>
          <p:cNvPr id="68" name="Shape 44">
            <a:extLst>
              <a:ext uri="{FF2B5EF4-FFF2-40B4-BE49-F238E27FC236}">
                <a16:creationId xmlns:a16="http://schemas.microsoft.com/office/drawing/2014/main" id="{73A23F14-7CA4-9A8F-8B95-D9AE807022E5}"/>
              </a:ext>
            </a:extLst>
          </p:cNvPr>
          <p:cNvSpPr/>
          <p:nvPr/>
        </p:nvSpPr>
        <p:spPr>
          <a:xfrm>
            <a:off x="5795997" y="5714287"/>
            <a:ext cx="256032" cy="100584"/>
          </a:xfrm>
          <a:prstGeom prst="rect">
            <a:avLst/>
          </a:prstGeom>
          <a:solidFill>
            <a:srgbClr val="0B6E1E"/>
          </a:solidFill>
          <a:ln w="12700">
            <a:solidFill>
              <a:srgbClr val="333333">
                <a:alpha val="0"/>
              </a:srgbClr>
            </a:solidFill>
            <a:prstDash val="solid"/>
          </a:ln>
        </p:spPr>
        <p:txBody>
          <a:bodyPr/>
          <a:lstStyle/>
          <a:p>
            <a:endParaRPr lang="en-US"/>
          </a:p>
        </p:txBody>
      </p:sp>
      <p:sp>
        <p:nvSpPr>
          <p:cNvPr id="69" name="Text 45">
            <a:extLst>
              <a:ext uri="{FF2B5EF4-FFF2-40B4-BE49-F238E27FC236}">
                <a16:creationId xmlns:a16="http://schemas.microsoft.com/office/drawing/2014/main" id="{8F90E5D6-8063-D8B8-64C4-A0667B54759F}"/>
              </a:ext>
            </a:extLst>
          </p:cNvPr>
          <p:cNvSpPr/>
          <p:nvPr/>
        </p:nvSpPr>
        <p:spPr>
          <a:xfrm>
            <a:off x="6436077" y="5686855"/>
            <a:ext cx="438912" cy="146304"/>
          </a:xfrm>
          <a:prstGeom prst="rect">
            <a:avLst/>
          </a:prstGeom>
          <a:noFill/>
          <a:ln/>
        </p:spPr>
        <p:txBody>
          <a:bodyPr wrap="square" lIns="0" tIns="0" rIns="0" bIns="0" rtlCol="0" anchor="ctr"/>
          <a:lstStyle/>
          <a:p>
            <a:pPr marL="0" indent="0">
              <a:buNone/>
            </a:pPr>
            <a:r>
              <a:rPr lang="en-US" sz="1050" b="1" dirty="0">
                <a:solidFill>
                  <a:srgbClr val="DC2626"/>
                </a:solidFill>
              </a:rPr>
              <a:t>OFF</a:t>
            </a:r>
            <a:endParaRPr lang="en-US" sz="1050" dirty="0"/>
          </a:p>
        </p:txBody>
      </p:sp>
      <p:sp>
        <p:nvSpPr>
          <p:cNvPr id="70" name="Shape 46">
            <a:extLst>
              <a:ext uri="{FF2B5EF4-FFF2-40B4-BE49-F238E27FC236}">
                <a16:creationId xmlns:a16="http://schemas.microsoft.com/office/drawing/2014/main" id="{E59147D9-D6D1-A870-085D-CD267D68400B}"/>
              </a:ext>
            </a:extLst>
          </p:cNvPr>
          <p:cNvSpPr/>
          <p:nvPr/>
        </p:nvSpPr>
        <p:spPr>
          <a:xfrm>
            <a:off x="6957285" y="5714287"/>
            <a:ext cx="256032" cy="100584"/>
          </a:xfrm>
          <a:prstGeom prst="rect">
            <a:avLst/>
          </a:prstGeom>
          <a:solidFill>
            <a:srgbClr val="DC2626"/>
          </a:solidFill>
          <a:ln w="12700">
            <a:solidFill>
              <a:srgbClr val="333333">
                <a:alpha val="0"/>
              </a:srgbClr>
            </a:solidFill>
            <a:prstDash val="solid"/>
          </a:ln>
        </p:spPr>
        <p:txBody>
          <a:bodyPr/>
          <a:lstStyle/>
          <a:p>
            <a:endParaRPr lang="en-US"/>
          </a:p>
        </p:txBody>
      </p:sp>
      <p:sp>
        <p:nvSpPr>
          <p:cNvPr id="71" name="Shape 32">
            <a:extLst>
              <a:ext uri="{FF2B5EF4-FFF2-40B4-BE49-F238E27FC236}">
                <a16:creationId xmlns:a16="http://schemas.microsoft.com/office/drawing/2014/main" id="{B7C37F2D-60DD-0E82-70C0-ECBFEF8B5C6C}"/>
              </a:ext>
            </a:extLst>
          </p:cNvPr>
          <p:cNvSpPr/>
          <p:nvPr/>
        </p:nvSpPr>
        <p:spPr>
          <a:xfrm>
            <a:off x="4484747" y="3557466"/>
            <a:ext cx="4482174" cy="223875"/>
          </a:xfrm>
          <a:prstGeom prst="rect">
            <a:avLst/>
          </a:prstGeom>
          <a:solidFill>
            <a:srgbClr val="0B6E1E"/>
          </a:solidFill>
          <a:ln w="12700">
            <a:solidFill>
              <a:srgbClr val="333333">
                <a:alpha val="0"/>
              </a:srgbClr>
            </a:solidFill>
            <a:prstDash val="solid"/>
          </a:ln>
        </p:spPr>
        <p:txBody>
          <a:bodyPr/>
          <a:lstStyle/>
          <a:p>
            <a:endParaRPr lang="en-US"/>
          </a:p>
        </p:txBody>
      </p:sp>
      <p:sp>
        <p:nvSpPr>
          <p:cNvPr id="72" name="TextBox 71">
            <a:extLst>
              <a:ext uri="{FF2B5EF4-FFF2-40B4-BE49-F238E27FC236}">
                <a16:creationId xmlns:a16="http://schemas.microsoft.com/office/drawing/2014/main" id="{06B5D5E9-27F8-40B2-22B8-9A71479F4012}"/>
              </a:ext>
            </a:extLst>
          </p:cNvPr>
          <p:cNvSpPr txBox="1"/>
          <p:nvPr/>
        </p:nvSpPr>
        <p:spPr>
          <a:xfrm>
            <a:off x="4536449" y="2236283"/>
            <a:ext cx="4482174" cy="738664"/>
          </a:xfrm>
          <a:prstGeom prst="rect">
            <a:avLst/>
          </a:prstGeom>
          <a:noFill/>
        </p:spPr>
        <p:txBody>
          <a:bodyPr wrap="square" rtlCol="0">
            <a:spAutoFit/>
          </a:bodyPr>
          <a:lstStyle/>
          <a:p>
            <a:pPr marL="285750" indent="-285750">
              <a:buFont typeface="Arial" panose="020B0604020202020204" pitchFamily="34" charset="0"/>
              <a:buChar char="•"/>
            </a:pPr>
            <a:r>
              <a:rPr lang="en-US" dirty="0"/>
              <a:t>80s -&gt; ON</a:t>
            </a:r>
          </a:p>
          <a:p>
            <a:pPr marL="285750" indent="-285750">
              <a:buFont typeface="Arial" panose="020B0604020202020204" pitchFamily="34" charset="0"/>
              <a:buChar char="•"/>
            </a:pPr>
            <a:r>
              <a:rPr lang="en-US" dirty="0"/>
              <a:t>20s -&gt; OFF</a:t>
            </a:r>
          </a:p>
          <a:p>
            <a:pPr marL="285750" indent="-285750">
              <a:buFont typeface="Arial" panose="020B0604020202020204" pitchFamily="34" charset="0"/>
              <a:buChar char="•"/>
            </a:pPr>
            <a:r>
              <a:rPr lang="en-US" dirty="0"/>
              <a:t>Pick a time randomly when to turn the device OFF</a:t>
            </a:r>
          </a:p>
        </p:txBody>
      </p:sp>
    </p:spTree>
    <p:extLst>
      <p:ext uri="{BB962C8B-B14F-4D97-AF65-F5344CB8AC3E}">
        <p14:creationId xmlns:p14="http://schemas.microsoft.com/office/powerpoint/2010/main" val="9662842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DB1A5-0858-C3AD-B7CD-51872088BDA8}"/>
              </a:ext>
            </a:extLst>
          </p:cNvPr>
          <p:cNvSpPr>
            <a:spLocks noGrp="1"/>
          </p:cNvSpPr>
          <p:nvPr>
            <p:ph type="title"/>
          </p:nvPr>
        </p:nvSpPr>
        <p:spPr/>
        <p:txBody>
          <a:bodyPr/>
          <a:lstStyle/>
          <a:p>
            <a:r>
              <a:rPr lang="en-US" dirty="0"/>
              <a:t>Topology</a:t>
            </a:r>
          </a:p>
        </p:txBody>
      </p:sp>
      <p:sp>
        <p:nvSpPr>
          <p:cNvPr id="4" name="Slide Number Placeholder 3">
            <a:extLst>
              <a:ext uri="{FF2B5EF4-FFF2-40B4-BE49-F238E27FC236}">
                <a16:creationId xmlns:a16="http://schemas.microsoft.com/office/drawing/2014/main" id="{8C8D04C3-F0A4-7EF3-0D22-4050C2CB0F2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40</a:t>
            </a:fld>
            <a:endParaRPr lang="en-US"/>
          </a:p>
        </p:txBody>
      </p:sp>
      <p:sp>
        <p:nvSpPr>
          <p:cNvPr id="23" name="Shape 5">
            <a:extLst>
              <a:ext uri="{FF2B5EF4-FFF2-40B4-BE49-F238E27FC236}">
                <a16:creationId xmlns:a16="http://schemas.microsoft.com/office/drawing/2014/main" id="{656D9EC2-D87F-C346-C45E-6012504CF329}"/>
              </a:ext>
            </a:extLst>
          </p:cNvPr>
          <p:cNvSpPr/>
          <p:nvPr/>
        </p:nvSpPr>
        <p:spPr>
          <a:xfrm>
            <a:off x="315380" y="2045076"/>
            <a:ext cx="1582994" cy="411480"/>
          </a:xfrm>
          <a:prstGeom prst="roundRect">
            <a:avLst>
              <a:gd name="adj" fmla="val 13333"/>
            </a:avLst>
          </a:prstGeom>
          <a:solidFill>
            <a:srgbClr val="EAF3FD"/>
          </a:solidFill>
          <a:ln w="12700">
            <a:solidFill>
              <a:srgbClr val="A9C8EE"/>
            </a:solidFill>
            <a:prstDash val="solid"/>
          </a:ln>
        </p:spPr>
        <p:txBody>
          <a:bodyPr/>
          <a:lstStyle/>
          <a:p>
            <a:endParaRPr lang="en-US"/>
          </a:p>
        </p:txBody>
      </p:sp>
      <p:sp>
        <p:nvSpPr>
          <p:cNvPr id="24" name="Text 6">
            <a:extLst>
              <a:ext uri="{FF2B5EF4-FFF2-40B4-BE49-F238E27FC236}">
                <a16:creationId xmlns:a16="http://schemas.microsoft.com/office/drawing/2014/main" id="{E714A29D-F7CA-F2AC-B411-FBAF78273988}"/>
              </a:ext>
            </a:extLst>
          </p:cNvPr>
          <p:cNvSpPr/>
          <p:nvPr/>
        </p:nvSpPr>
        <p:spPr>
          <a:xfrm>
            <a:off x="362182" y="2081652"/>
            <a:ext cx="1472184" cy="329184"/>
          </a:xfrm>
          <a:prstGeom prst="rect">
            <a:avLst/>
          </a:prstGeom>
          <a:noFill/>
          <a:ln/>
        </p:spPr>
        <p:txBody>
          <a:bodyPr wrap="square" lIns="508" tIns="508" rIns="508" bIns="508" rtlCol="0" anchor="ctr">
            <a:normAutofit/>
          </a:bodyPr>
          <a:lstStyle/>
          <a:p>
            <a:pPr marL="0" indent="0" algn="ctr">
              <a:buNone/>
            </a:pPr>
            <a:r>
              <a:rPr lang="en-US" sz="1000" b="1" dirty="0">
                <a:solidFill>
                  <a:srgbClr val="14233A"/>
                </a:solidFill>
                <a:latin typeface="+mj-lt"/>
                <a:ea typeface="Aptos" pitchFamily="34" charset="-122"/>
                <a:cs typeface="Aptos" pitchFamily="34" charset="-120"/>
              </a:rPr>
              <a:t>Publisher 1</a:t>
            </a:r>
            <a:endParaRPr lang="en-US" sz="1000" dirty="0">
              <a:latin typeface="+mj-lt"/>
            </a:endParaRPr>
          </a:p>
          <a:p>
            <a:pPr marL="0" indent="0" algn="ctr">
              <a:buNone/>
            </a:pPr>
            <a:r>
              <a:rPr lang="en-US" sz="1000" b="1" dirty="0">
                <a:solidFill>
                  <a:srgbClr val="14233A"/>
                </a:solidFill>
                <a:latin typeface="+mj-lt"/>
                <a:ea typeface="Aptos" pitchFamily="34" charset="-122"/>
                <a:cs typeface="Aptos" pitchFamily="34" charset="-120"/>
              </a:rPr>
              <a:t>100 topics</a:t>
            </a:r>
            <a:endParaRPr lang="en-US" sz="1000" dirty="0">
              <a:latin typeface="+mj-lt"/>
            </a:endParaRPr>
          </a:p>
        </p:txBody>
      </p:sp>
      <p:sp>
        <p:nvSpPr>
          <p:cNvPr id="25" name="Shape 7">
            <a:extLst>
              <a:ext uri="{FF2B5EF4-FFF2-40B4-BE49-F238E27FC236}">
                <a16:creationId xmlns:a16="http://schemas.microsoft.com/office/drawing/2014/main" id="{74AD7906-CE28-09AF-EA1F-EE1FAF175859}"/>
              </a:ext>
            </a:extLst>
          </p:cNvPr>
          <p:cNvSpPr/>
          <p:nvPr/>
        </p:nvSpPr>
        <p:spPr>
          <a:xfrm>
            <a:off x="315380" y="2593716"/>
            <a:ext cx="1582994" cy="411480"/>
          </a:xfrm>
          <a:prstGeom prst="roundRect">
            <a:avLst>
              <a:gd name="adj" fmla="val 13333"/>
            </a:avLst>
          </a:prstGeom>
          <a:solidFill>
            <a:srgbClr val="EAF3FD"/>
          </a:solidFill>
          <a:ln w="12700">
            <a:solidFill>
              <a:srgbClr val="A9C8EE"/>
            </a:solidFill>
            <a:prstDash val="solid"/>
          </a:ln>
        </p:spPr>
        <p:txBody>
          <a:bodyPr/>
          <a:lstStyle/>
          <a:p>
            <a:endParaRPr lang="en-US"/>
          </a:p>
        </p:txBody>
      </p:sp>
      <p:sp>
        <p:nvSpPr>
          <p:cNvPr id="26" name="Text 8">
            <a:extLst>
              <a:ext uri="{FF2B5EF4-FFF2-40B4-BE49-F238E27FC236}">
                <a16:creationId xmlns:a16="http://schemas.microsoft.com/office/drawing/2014/main" id="{356DB0BF-3C67-B15A-28E3-089902F122EE}"/>
              </a:ext>
            </a:extLst>
          </p:cNvPr>
          <p:cNvSpPr/>
          <p:nvPr/>
        </p:nvSpPr>
        <p:spPr>
          <a:xfrm>
            <a:off x="362182" y="2630292"/>
            <a:ext cx="1472184" cy="329184"/>
          </a:xfrm>
          <a:prstGeom prst="rect">
            <a:avLst/>
          </a:prstGeom>
          <a:noFill/>
          <a:ln/>
        </p:spPr>
        <p:txBody>
          <a:bodyPr wrap="square" lIns="508" tIns="508" rIns="508" bIns="508" rtlCol="0" anchor="ctr">
            <a:normAutofit/>
          </a:bodyPr>
          <a:lstStyle/>
          <a:p>
            <a:pPr marL="0" indent="0" algn="ctr">
              <a:buNone/>
            </a:pPr>
            <a:r>
              <a:rPr lang="en-US" sz="1000" dirty="0">
                <a:solidFill>
                  <a:srgbClr val="14233A"/>
                </a:solidFill>
                <a:latin typeface="+mj-lt"/>
                <a:ea typeface="Aptos" pitchFamily="34" charset="-122"/>
                <a:cs typeface="Aptos" pitchFamily="34" charset="-120"/>
              </a:rPr>
              <a:t>Publisher</a:t>
            </a:r>
            <a:r>
              <a:rPr lang="en-US" sz="1000" dirty="0">
                <a:solidFill>
                  <a:srgbClr val="14233A"/>
                </a:solidFill>
                <a:latin typeface="Aptos" pitchFamily="34" charset="0"/>
                <a:ea typeface="Aptos" pitchFamily="34" charset="-122"/>
                <a:cs typeface="Aptos" pitchFamily="34" charset="-120"/>
              </a:rPr>
              <a:t> …</a:t>
            </a:r>
            <a:endParaRPr lang="en-US" sz="1000" dirty="0"/>
          </a:p>
        </p:txBody>
      </p:sp>
      <p:sp>
        <p:nvSpPr>
          <p:cNvPr id="27" name="Shape 9">
            <a:extLst>
              <a:ext uri="{FF2B5EF4-FFF2-40B4-BE49-F238E27FC236}">
                <a16:creationId xmlns:a16="http://schemas.microsoft.com/office/drawing/2014/main" id="{73EAC13F-1B17-AA98-FB9E-E534C382CD1A}"/>
              </a:ext>
            </a:extLst>
          </p:cNvPr>
          <p:cNvSpPr/>
          <p:nvPr/>
        </p:nvSpPr>
        <p:spPr>
          <a:xfrm>
            <a:off x="315380" y="3142356"/>
            <a:ext cx="1582994" cy="411480"/>
          </a:xfrm>
          <a:prstGeom prst="roundRect">
            <a:avLst>
              <a:gd name="adj" fmla="val 13333"/>
            </a:avLst>
          </a:prstGeom>
          <a:solidFill>
            <a:srgbClr val="EAF3FD"/>
          </a:solidFill>
          <a:ln w="12700">
            <a:solidFill>
              <a:srgbClr val="A9C8EE"/>
            </a:solidFill>
            <a:prstDash val="solid"/>
          </a:ln>
        </p:spPr>
        <p:txBody>
          <a:bodyPr/>
          <a:lstStyle/>
          <a:p>
            <a:endParaRPr lang="en-US"/>
          </a:p>
        </p:txBody>
      </p:sp>
      <p:sp>
        <p:nvSpPr>
          <p:cNvPr id="28" name="Text 10">
            <a:extLst>
              <a:ext uri="{FF2B5EF4-FFF2-40B4-BE49-F238E27FC236}">
                <a16:creationId xmlns:a16="http://schemas.microsoft.com/office/drawing/2014/main" id="{716B62BA-1C28-A796-F5C3-C37339007CDA}"/>
              </a:ext>
            </a:extLst>
          </p:cNvPr>
          <p:cNvSpPr/>
          <p:nvPr/>
        </p:nvSpPr>
        <p:spPr>
          <a:xfrm>
            <a:off x="362182" y="3178932"/>
            <a:ext cx="1472184" cy="329184"/>
          </a:xfrm>
          <a:prstGeom prst="rect">
            <a:avLst/>
          </a:prstGeom>
          <a:noFill/>
          <a:ln/>
        </p:spPr>
        <p:txBody>
          <a:bodyPr wrap="square" lIns="508" tIns="508" rIns="508" bIns="508" rtlCol="0" anchor="ctr">
            <a:normAutofit/>
          </a:bodyPr>
          <a:lstStyle/>
          <a:p>
            <a:pPr marL="0" indent="0" algn="ctr">
              <a:buNone/>
            </a:pPr>
            <a:r>
              <a:rPr lang="en-US" sz="1000" b="1" dirty="0">
                <a:solidFill>
                  <a:srgbClr val="14233A"/>
                </a:solidFill>
                <a:latin typeface="+mj-lt"/>
                <a:ea typeface="Aptos" pitchFamily="34" charset="-122"/>
                <a:cs typeface="Aptos" pitchFamily="34" charset="-120"/>
              </a:rPr>
              <a:t>Publisher 10</a:t>
            </a:r>
            <a:endParaRPr lang="en-US" sz="1000" dirty="0">
              <a:latin typeface="+mj-lt"/>
            </a:endParaRPr>
          </a:p>
          <a:p>
            <a:pPr marL="0" indent="0" algn="ctr">
              <a:buNone/>
            </a:pPr>
            <a:r>
              <a:rPr lang="en-US" sz="1000" b="1" dirty="0">
                <a:solidFill>
                  <a:srgbClr val="14233A"/>
                </a:solidFill>
                <a:latin typeface="+mj-lt"/>
                <a:ea typeface="Aptos" pitchFamily="34" charset="-122"/>
                <a:cs typeface="Aptos" pitchFamily="34" charset="-120"/>
              </a:rPr>
              <a:t>100 topics</a:t>
            </a:r>
            <a:endParaRPr lang="en-US" sz="1000" dirty="0">
              <a:latin typeface="+mj-lt"/>
            </a:endParaRPr>
          </a:p>
        </p:txBody>
      </p:sp>
      <p:sp>
        <p:nvSpPr>
          <p:cNvPr id="29" name="Text 11">
            <a:extLst>
              <a:ext uri="{FF2B5EF4-FFF2-40B4-BE49-F238E27FC236}">
                <a16:creationId xmlns:a16="http://schemas.microsoft.com/office/drawing/2014/main" id="{7D3172ED-72F0-0442-CBF0-05434C2CE444}"/>
              </a:ext>
            </a:extLst>
          </p:cNvPr>
          <p:cNvSpPr/>
          <p:nvPr/>
        </p:nvSpPr>
        <p:spPr>
          <a:xfrm>
            <a:off x="331210" y="3809868"/>
            <a:ext cx="1567164" cy="274320"/>
          </a:xfrm>
          <a:prstGeom prst="rect">
            <a:avLst/>
          </a:prstGeom>
          <a:noFill/>
          <a:ln/>
        </p:spPr>
        <p:txBody>
          <a:bodyPr wrap="square" lIns="508" tIns="508" rIns="508" bIns="508" rtlCol="0" anchor="ctr">
            <a:normAutofit/>
          </a:bodyPr>
          <a:lstStyle/>
          <a:p>
            <a:pPr marL="0" indent="0" algn="ctr">
              <a:buNone/>
            </a:pPr>
            <a:r>
              <a:rPr lang="en-US" sz="1080" b="1" dirty="0">
                <a:solidFill>
                  <a:srgbClr val="14233A"/>
                </a:solidFill>
                <a:latin typeface="Arial" panose="020B0604020202020204" pitchFamily="34" charset="0"/>
                <a:ea typeface="Aptos" pitchFamily="34" charset="-122"/>
                <a:cs typeface="Arial" panose="020B0604020202020204" pitchFamily="34" charset="0"/>
              </a:rPr>
              <a:t>10 stable publishers</a:t>
            </a:r>
            <a:endParaRPr lang="en-US" sz="1080" dirty="0">
              <a:latin typeface="Arial" panose="020B0604020202020204" pitchFamily="34" charset="0"/>
              <a:cs typeface="Arial" panose="020B0604020202020204" pitchFamily="34" charset="0"/>
            </a:endParaRPr>
          </a:p>
        </p:txBody>
      </p:sp>
      <p:sp>
        <p:nvSpPr>
          <p:cNvPr id="30" name="Shape 12">
            <a:extLst>
              <a:ext uri="{FF2B5EF4-FFF2-40B4-BE49-F238E27FC236}">
                <a16:creationId xmlns:a16="http://schemas.microsoft.com/office/drawing/2014/main" id="{0A888F8C-715C-C46B-08A7-FC13D8863AA2}"/>
              </a:ext>
            </a:extLst>
          </p:cNvPr>
          <p:cNvSpPr/>
          <p:nvPr/>
        </p:nvSpPr>
        <p:spPr>
          <a:xfrm>
            <a:off x="1898374" y="2822316"/>
            <a:ext cx="1508760" cy="0"/>
          </a:xfrm>
          <a:prstGeom prst="line">
            <a:avLst/>
          </a:prstGeom>
          <a:noFill/>
          <a:ln w="20320">
            <a:solidFill>
              <a:srgbClr val="5D6B7B"/>
            </a:solidFill>
            <a:prstDash val="solid"/>
            <a:headEnd type="none"/>
            <a:tailEnd type="triangle"/>
          </a:ln>
        </p:spPr>
        <p:txBody>
          <a:bodyPr/>
          <a:lstStyle/>
          <a:p>
            <a:endParaRPr lang="en-US"/>
          </a:p>
        </p:txBody>
      </p:sp>
      <p:sp>
        <p:nvSpPr>
          <p:cNvPr id="31" name="Shape 13">
            <a:extLst>
              <a:ext uri="{FF2B5EF4-FFF2-40B4-BE49-F238E27FC236}">
                <a16:creationId xmlns:a16="http://schemas.microsoft.com/office/drawing/2014/main" id="{FA9582CA-59F7-D12B-CD74-61AB4DC2E081}"/>
              </a:ext>
            </a:extLst>
          </p:cNvPr>
          <p:cNvSpPr/>
          <p:nvPr/>
        </p:nvSpPr>
        <p:spPr>
          <a:xfrm>
            <a:off x="3407134" y="2227956"/>
            <a:ext cx="1920240" cy="1188720"/>
          </a:xfrm>
          <a:prstGeom prst="roundRect">
            <a:avLst>
              <a:gd name="adj" fmla="val 4615"/>
            </a:avLst>
          </a:prstGeom>
          <a:solidFill>
            <a:srgbClr val="FFFFFF"/>
          </a:solidFill>
          <a:ln w="12700">
            <a:solidFill>
              <a:srgbClr val="95A9BF"/>
            </a:solidFill>
            <a:prstDash val="solid"/>
          </a:ln>
        </p:spPr>
        <p:txBody>
          <a:bodyPr/>
          <a:lstStyle/>
          <a:p>
            <a:endParaRPr lang="en-US"/>
          </a:p>
        </p:txBody>
      </p:sp>
      <p:sp>
        <p:nvSpPr>
          <p:cNvPr id="32" name="Text 14">
            <a:extLst>
              <a:ext uri="{FF2B5EF4-FFF2-40B4-BE49-F238E27FC236}">
                <a16:creationId xmlns:a16="http://schemas.microsoft.com/office/drawing/2014/main" id="{4FE26880-91AA-7904-CFE4-743648DD359C}"/>
              </a:ext>
            </a:extLst>
          </p:cNvPr>
          <p:cNvSpPr/>
          <p:nvPr/>
        </p:nvSpPr>
        <p:spPr>
          <a:xfrm>
            <a:off x="3407134" y="2401692"/>
            <a:ext cx="1920240" cy="731520"/>
          </a:xfrm>
          <a:prstGeom prst="rect">
            <a:avLst/>
          </a:prstGeom>
          <a:noFill/>
          <a:ln/>
        </p:spPr>
        <p:txBody>
          <a:bodyPr wrap="square" lIns="508" tIns="508" rIns="508" bIns="508" rtlCol="0" anchor="ctr">
            <a:normAutofit/>
          </a:bodyPr>
          <a:lstStyle/>
          <a:p>
            <a:pPr marL="0" indent="0" algn="ctr">
              <a:buNone/>
            </a:pPr>
            <a:r>
              <a:rPr lang="en-US" sz="2000" b="1" dirty="0">
                <a:solidFill>
                  <a:srgbClr val="14233A"/>
                </a:solidFill>
                <a:latin typeface="Arial" panose="020B0604020202020204" pitchFamily="34" charset="0"/>
                <a:ea typeface="Aptos" pitchFamily="34" charset="-122"/>
                <a:cs typeface="Arial" panose="020B0604020202020204" pitchFamily="34" charset="0"/>
              </a:rPr>
              <a:t>MQTT</a:t>
            </a:r>
            <a:endParaRPr lang="en-US" sz="2000" dirty="0">
              <a:latin typeface="Arial" panose="020B0604020202020204" pitchFamily="34" charset="0"/>
              <a:cs typeface="Arial" panose="020B0604020202020204" pitchFamily="34" charset="0"/>
            </a:endParaRPr>
          </a:p>
          <a:p>
            <a:pPr marL="0" indent="0" algn="ctr">
              <a:buNone/>
            </a:pPr>
            <a:r>
              <a:rPr lang="en-US" sz="2000" b="1" dirty="0">
                <a:solidFill>
                  <a:srgbClr val="14233A"/>
                </a:solidFill>
                <a:latin typeface="Arial" panose="020B0604020202020204" pitchFamily="34" charset="0"/>
                <a:ea typeface="Aptos" pitchFamily="34" charset="-122"/>
                <a:cs typeface="Arial" panose="020B0604020202020204" pitchFamily="34" charset="0"/>
              </a:rPr>
              <a:t>Broker</a:t>
            </a:r>
            <a:endParaRPr lang="en-US" sz="2000" dirty="0">
              <a:latin typeface="Arial" panose="020B0604020202020204" pitchFamily="34" charset="0"/>
              <a:cs typeface="Arial" panose="020B0604020202020204" pitchFamily="34" charset="0"/>
            </a:endParaRPr>
          </a:p>
        </p:txBody>
      </p:sp>
      <p:sp>
        <p:nvSpPr>
          <p:cNvPr id="33" name="Shape 15">
            <a:extLst>
              <a:ext uri="{FF2B5EF4-FFF2-40B4-BE49-F238E27FC236}">
                <a16:creationId xmlns:a16="http://schemas.microsoft.com/office/drawing/2014/main" id="{64872B0C-9B41-A645-592E-68691778117B}"/>
              </a:ext>
            </a:extLst>
          </p:cNvPr>
          <p:cNvSpPr/>
          <p:nvPr/>
        </p:nvSpPr>
        <p:spPr>
          <a:xfrm>
            <a:off x="5327374" y="2822316"/>
            <a:ext cx="1581912" cy="0"/>
          </a:xfrm>
          <a:prstGeom prst="line">
            <a:avLst/>
          </a:prstGeom>
          <a:noFill/>
          <a:ln w="20320">
            <a:solidFill>
              <a:srgbClr val="5D6B7B"/>
            </a:solidFill>
            <a:prstDash val="solid"/>
            <a:headEnd type="none"/>
            <a:tailEnd type="triangle"/>
          </a:ln>
        </p:spPr>
        <p:txBody>
          <a:bodyPr/>
          <a:lstStyle/>
          <a:p>
            <a:endParaRPr lang="en-US"/>
          </a:p>
        </p:txBody>
      </p:sp>
      <p:sp>
        <p:nvSpPr>
          <p:cNvPr id="34" name="Shape 16">
            <a:extLst>
              <a:ext uri="{FF2B5EF4-FFF2-40B4-BE49-F238E27FC236}">
                <a16:creationId xmlns:a16="http://schemas.microsoft.com/office/drawing/2014/main" id="{8FD6CF37-1F58-EDA5-C5BD-56F031422F65}"/>
              </a:ext>
            </a:extLst>
          </p:cNvPr>
          <p:cNvSpPr/>
          <p:nvPr/>
        </p:nvSpPr>
        <p:spPr>
          <a:xfrm>
            <a:off x="6927574" y="1880484"/>
            <a:ext cx="1997765" cy="475488"/>
          </a:xfrm>
          <a:prstGeom prst="roundRect">
            <a:avLst>
              <a:gd name="adj" fmla="val 11538"/>
            </a:avLst>
          </a:prstGeom>
          <a:solidFill>
            <a:srgbClr val="E8F7F0"/>
          </a:solidFill>
          <a:ln w="12700">
            <a:solidFill>
              <a:srgbClr val="9FCDBB"/>
            </a:solidFill>
            <a:prstDash val="solid"/>
          </a:ln>
        </p:spPr>
        <p:txBody>
          <a:bodyPr/>
          <a:lstStyle/>
          <a:p>
            <a:endParaRPr lang="en-US" dirty="0"/>
          </a:p>
        </p:txBody>
      </p:sp>
      <p:sp>
        <p:nvSpPr>
          <p:cNvPr id="35" name="Text 17">
            <a:extLst>
              <a:ext uri="{FF2B5EF4-FFF2-40B4-BE49-F238E27FC236}">
                <a16:creationId xmlns:a16="http://schemas.microsoft.com/office/drawing/2014/main" id="{68C88920-CE77-80C9-9973-179C423AF85D}"/>
              </a:ext>
            </a:extLst>
          </p:cNvPr>
          <p:cNvSpPr/>
          <p:nvPr/>
        </p:nvSpPr>
        <p:spPr>
          <a:xfrm>
            <a:off x="7028158" y="1971923"/>
            <a:ext cx="1814637" cy="262523"/>
          </a:xfrm>
          <a:prstGeom prst="rect">
            <a:avLst/>
          </a:prstGeom>
          <a:noFill/>
          <a:ln/>
        </p:spPr>
        <p:txBody>
          <a:bodyPr wrap="square" lIns="508" tIns="508" rIns="508" bIns="508" rtlCol="0" anchor="ctr">
            <a:normAutofit lnSpcReduction="10000"/>
          </a:bodyPr>
          <a:lstStyle/>
          <a:p>
            <a:pPr marL="0" indent="0" algn="ctr">
              <a:buNone/>
            </a:pPr>
            <a:r>
              <a:rPr lang="en-US" sz="920" b="1" dirty="0">
                <a:solidFill>
                  <a:srgbClr val="14233A"/>
                </a:solidFill>
                <a:latin typeface="+mj-lt"/>
                <a:ea typeface="Aptos" pitchFamily="34" charset="-122"/>
                <a:cs typeface="Aptos" pitchFamily="34" charset="-120"/>
              </a:rPr>
              <a:t>Subscriber 1  </a:t>
            </a:r>
            <a:br>
              <a:rPr lang="en-US" sz="920" b="1" dirty="0">
                <a:solidFill>
                  <a:srgbClr val="14233A"/>
                </a:solidFill>
                <a:latin typeface="+mj-lt"/>
                <a:ea typeface="Aptos" pitchFamily="34" charset="-122"/>
                <a:cs typeface="Aptos" pitchFamily="34" charset="-120"/>
              </a:rPr>
            </a:br>
            <a:r>
              <a:rPr lang="en-US" sz="920" b="1" dirty="0">
                <a:solidFill>
                  <a:srgbClr val="14233A"/>
                </a:solidFill>
                <a:latin typeface="+mj-lt"/>
                <a:ea typeface="Aptos" pitchFamily="34" charset="-122"/>
                <a:cs typeface="Aptos" pitchFamily="34" charset="-120"/>
              </a:rPr>
              <a:t> topic/device/0001</a:t>
            </a:r>
            <a:endParaRPr lang="en-US" sz="920" dirty="0">
              <a:latin typeface="+mj-lt"/>
            </a:endParaRPr>
          </a:p>
        </p:txBody>
      </p:sp>
      <p:sp>
        <p:nvSpPr>
          <p:cNvPr id="36" name="Shape 18">
            <a:extLst>
              <a:ext uri="{FF2B5EF4-FFF2-40B4-BE49-F238E27FC236}">
                <a16:creationId xmlns:a16="http://schemas.microsoft.com/office/drawing/2014/main" id="{70D1C01C-E391-4D39-9896-99FE3BD84140}"/>
              </a:ext>
            </a:extLst>
          </p:cNvPr>
          <p:cNvSpPr/>
          <p:nvPr/>
        </p:nvSpPr>
        <p:spPr>
          <a:xfrm>
            <a:off x="6927574" y="2520564"/>
            <a:ext cx="1997765" cy="475488"/>
          </a:xfrm>
          <a:prstGeom prst="roundRect">
            <a:avLst>
              <a:gd name="adj" fmla="val 11538"/>
            </a:avLst>
          </a:prstGeom>
          <a:solidFill>
            <a:srgbClr val="FFF1E2"/>
          </a:solidFill>
          <a:ln w="12700">
            <a:solidFill>
              <a:srgbClr val="E8B377"/>
            </a:solidFill>
            <a:prstDash val="solid"/>
          </a:ln>
        </p:spPr>
        <p:txBody>
          <a:bodyPr/>
          <a:lstStyle/>
          <a:p>
            <a:endParaRPr lang="en-US"/>
          </a:p>
        </p:txBody>
      </p:sp>
      <p:sp>
        <p:nvSpPr>
          <p:cNvPr id="37" name="Text 19">
            <a:extLst>
              <a:ext uri="{FF2B5EF4-FFF2-40B4-BE49-F238E27FC236}">
                <a16:creationId xmlns:a16="http://schemas.microsoft.com/office/drawing/2014/main" id="{8C8314E7-EAC4-9096-B59F-72734F698DEA}"/>
              </a:ext>
            </a:extLst>
          </p:cNvPr>
          <p:cNvSpPr/>
          <p:nvPr/>
        </p:nvSpPr>
        <p:spPr>
          <a:xfrm>
            <a:off x="7028158" y="2612004"/>
            <a:ext cx="1814637" cy="256032"/>
          </a:xfrm>
          <a:prstGeom prst="rect">
            <a:avLst/>
          </a:prstGeom>
          <a:noFill/>
          <a:ln/>
        </p:spPr>
        <p:txBody>
          <a:bodyPr wrap="square" lIns="508" tIns="508" rIns="508" bIns="508" rtlCol="0" anchor="ctr">
            <a:normAutofit/>
          </a:bodyPr>
          <a:lstStyle/>
          <a:p>
            <a:pPr marL="0" indent="0" algn="ctr">
              <a:buNone/>
            </a:pPr>
            <a:r>
              <a:rPr lang="en-US" sz="920" dirty="0">
                <a:solidFill>
                  <a:srgbClr val="14233A"/>
                </a:solidFill>
                <a:latin typeface="+mj-lt"/>
                <a:ea typeface="Aptos" pitchFamily="34" charset="-122"/>
                <a:cs typeface="Aptos" pitchFamily="34" charset="-120"/>
              </a:rPr>
              <a:t>Subscriber …  •  unique topic</a:t>
            </a:r>
            <a:endParaRPr lang="en-US" sz="920" dirty="0">
              <a:latin typeface="+mj-lt"/>
            </a:endParaRPr>
          </a:p>
        </p:txBody>
      </p:sp>
      <p:sp>
        <p:nvSpPr>
          <p:cNvPr id="38" name="Shape 20">
            <a:extLst>
              <a:ext uri="{FF2B5EF4-FFF2-40B4-BE49-F238E27FC236}">
                <a16:creationId xmlns:a16="http://schemas.microsoft.com/office/drawing/2014/main" id="{F7D80744-32E4-25B2-83C9-CC260A5C5719}"/>
              </a:ext>
            </a:extLst>
          </p:cNvPr>
          <p:cNvSpPr/>
          <p:nvPr/>
        </p:nvSpPr>
        <p:spPr>
          <a:xfrm>
            <a:off x="6927574" y="3160644"/>
            <a:ext cx="1997765" cy="475488"/>
          </a:xfrm>
          <a:prstGeom prst="roundRect">
            <a:avLst>
              <a:gd name="adj" fmla="val 11538"/>
            </a:avLst>
          </a:prstGeom>
          <a:solidFill>
            <a:srgbClr val="E8F7F0"/>
          </a:solidFill>
          <a:ln w="12700">
            <a:solidFill>
              <a:srgbClr val="9FCDBB"/>
            </a:solidFill>
            <a:prstDash val="solid"/>
          </a:ln>
        </p:spPr>
        <p:txBody>
          <a:bodyPr/>
          <a:lstStyle/>
          <a:p>
            <a:endParaRPr lang="en-US"/>
          </a:p>
        </p:txBody>
      </p:sp>
      <p:sp>
        <p:nvSpPr>
          <p:cNvPr id="39" name="Text 21">
            <a:extLst>
              <a:ext uri="{FF2B5EF4-FFF2-40B4-BE49-F238E27FC236}">
                <a16:creationId xmlns:a16="http://schemas.microsoft.com/office/drawing/2014/main" id="{B057AB18-D30D-DA94-CF81-902FF2CCD58F}"/>
              </a:ext>
            </a:extLst>
          </p:cNvPr>
          <p:cNvSpPr/>
          <p:nvPr/>
        </p:nvSpPr>
        <p:spPr>
          <a:xfrm>
            <a:off x="7028158" y="3252084"/>
            <a:ext cx="1814637" cy="301752"/>
          </a:xfrm>
          <a:prstGeom prst="rect">
            <a:avLst/>
          </a:prstGeom>
          <a:noFill/>
          <a:ln/>
        </p:spPr>
        <p:txBody>
          <a:bodyPr wrap="square" lIns="508" tIns="508" rIns="508" bIns="508" rtlCol="0" anchor="ctr">
            <a:normAutofit/>
          </a:bodyPr>
          <a:lstStyle/>
          <a:p>
            <a:pPr marL="0" indent="0" algn="ctr">
              <a:buNone/>
            </a:pPr>
            <a:r>
              <a:rPr lang="en-US" sz="920" b="1" dirty="0">
                <a:solidFill>
                  <a:srgbClr val="14233A"/>
                </a:solidFill>
                <a:latin typeface="+mj-lt"/>
                <a:ea typeface="Aptos" pitchFamily="34" charset="-122"/>
                <a:cs typeface="Aptos" pitchFamily="34" charset="-120"/>
              </a:rPr>
              <a:t>Subscriber 1000 topic/device/1000</a:t>
            </a:r>
            <a:endParaRPr lang="en-US" sz="920" dirty="0">
              <a:latin typeface="+mj-lt"/>
            </a:endParaRPr>
          </a:p>
        </p:txBody>
      </p:sp>
      <p:sp>
        <p:nvSpPr>
          <p:cNvPr id="40" name="Text 22">
            <a:extLst>
              <a:ext uri="{FF2B5EF4-FFF2-40B4-BE49-F238E27FC236}">
                <a16:creationId xmlns:a16="http://schemas.microsoft.com/office/drawing/2014/main" id="{9E43DDAB-E5C9-F0D5-67B1-438E38BA0B09}"/>
              </a:ext>
            </a:extLst>
          </p:cNvPr>
          <p:cNvSpPr/>
          <p:nvPr/>
        </p:nvSpPr>
        <p:spPr>
          <a:xfrm>
            <a:off x="6537960" y="3745728"/>
            <a:ext cx="2606040" cy="274320"/>
          </a:xfrm>
          <a:prstGeom prst="rect">
            <a:avLst/>
          </a:prstGeom>
          <a:noFill/>
          <a:ln/>
        </p:spPr>
        <p:txBody>
          <a:bodyPr wrap="square" lIns="508" tIns="508" rIns="508" bIns="508" rtlCol="0" anchor="ctr">
            <a:normAutofit fontScale="92500"/>
          </a:bodyPr>
          <a:lstStyle/>
          <a:p>
            <a:pPr marL="0" indent="0" algn="ctr">
              <a:buNone/>
            </a:pPr>
            <a:r>
              <a:rPr lang="en-US" sz="1080" b="1" dirty="0">
                <a:solidFill>
                  <a:srgbClr val="14233A"/>
                </a:solidFill>
                <a:latin typeface="Arial" panose="020B0604020202020204" pitchFamily="34" charset="0"/>
                <a:ea typeface="Aptos" pitchFamily="34" charset="-122"/>
                <a:cs typeface="Arial" panose="020B0604020202020204" pitchFamily="34" charset="0"/>
              </a:rPr>
              <a:t>1000 intermittently powered subscribers</a:t>
            </a:r>
            <a:endParaRPr lang="en-US" sz="1080" dirty="0">
              <a:latin typeface="Arial" panose="020B0604020202020204" pitchFamily="34" charset="0"/>
              <a:cs typeface="Arial" panose="020B0604020202020204" pitchFamily="34" charset="0"/>
            </a:endParaRPr>
          </a:p>
        </p:txBody>
      </p:sp>
      <p:sp>
        <p:nvSpPr>
          <p:cNvPr id="42" name="TextBox 41">
            <a:extLst>
              <a:ext uri="{FF2B5EF4-FFF2-40B4-BE49-F238E27FC236}">
                <a16:creationId xmlns:a16="http://schemas.microsoft.com/office/drawing/2014/main" id="{2614C98E-DDA4-5AE2-6B78-BED2DD43400D}"/>
              </a:ext>
            </a:extLst>
          </p:cNvPr>
          <p:cNvSpPr txBox="1"/>
          <p:nvPr/>
        </p:nvSpPr>
        <p:spPr>
          <a:xfrm>
            <a:off x="3190460" y="4538604"/>
            <a:ext cx="3837698" cy="954107"/>
          </a:xfrm>
          <a:prstGeom prst="rect">
            <a:avLst/>
          </a:prstGeom>
          <a:noFill/>
        </p:spPr>
        <p:txBody>
          <a:bodyPr wrap="square" rtlCol="0">
            <a:spAutoFit/>
          </a:bodyPr>
          <a:lstStyle/>
          <a:p>
            <a:pPr marL="285750" indent="-285750">
              <a:buFont typeface="Arial" panose="020B0604020202020204" pitchFamily="34" charset="0"/>
              <a:buChar char="•"/>
            </a:pPr>
            <a:r>
              <a:rPr lang="en-US" b="1" dirty="0">
                <a:solidFill>
                  <a:srgbClr val="14233A"/>
                </a:solidFill>
                <a:latin typeface="Arial" panose="020B0604020202020204" pitchFamily="34" charset="0"/>
                <a:ea typeface="Aptos" pitchFamily="34" charset="-122"/>
                <a:cs typeface="Arial" panose="020B0604020202020204" pitchFamily="34" charset="0"/>
              </a:rPr>
              <a:t>1000 unique topics</a:t>
            </a:r>
          </a:p>
          <a:p>
            <a:pPr marL="285750" indent="-285750">
              <a:buFont typeface="Arial" panose="020B0604020202020204" pitchFamily="34" charset="0"/>
              <a:buChar char="•"/>
            </a:pPr>
            <a:r>
              <a:rPr lang="en-US" b="1" dirty="0">
                <a:solidFill>
                  <a:srgbClr val="14233A"/>
                </a:solidFill>
                <a:latin typeface="Arial" panose="020B0604020202020204" pitchFamily="34" charset="0"/>
                <a:cs typeface="Arial" panose="020B0604020202020204" pitchFamily="34" charset="0"/>
              </a:rPr>
              <a:t>Each subscriber subscribes to 1 topic</a:t>
            </a: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solidFill>
                  <a:srgbClr val="14233A"/>
                </a:solidFill>
                <a:latin typeface="Arial" panose="020B0604020202020204" pitchFamily="34" charset="0"/>
                <a:ea typeface="Aptos" pitchFamily="34" charset="-122"/>
                <a:cs typeface="Arial" panose="020B0604020202020204" pitchFamily="34" charset="0"/>
              </a:rPr>
              <a:t>Each publisher owns 100 topics</a:t>
            </a: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140021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7E13B-3548-EC57-E876-358A7031280E}"/>
              </a:ext>
            </a:extLst>
          </p:cNvPr>
          <p:cNvSpPr>
            <a:spLocks noGrp="1"/>
          </p:cNvSpPr>
          <p:nvPr>
            <p:ph type="title"/>
          </p:nvPr>
        </p:nvSpPr>
        <p:spPr/>
        <p:txBody>
          <a:bodyPr>
            <a:normAutofit fontScale="90000"/>
          </a:bodyPr>
          <a:lstStyle/>
          <a:p>
            <a:r>
              <a:rPr lang="en-US" dirty="0"/>
              <a:t>Message Generation Configuration</a:t>
            </a:r>
          </a:p>
        </p:txBody>
      </p:sp>
      <p:sp>
        <p:nvSpPr>
          <p:cNvPr id="4" name="Slide Number Placeholder 3">
            <a:extLst>
              <a:ext uri="{FF2B5EF4-FFF2-40B4-BE49-F238E27FC236}">
                <a16:creationId xmlns:a16="http://schemas.microsoft.com/office/drawing/2014/main" id="{D1AD8BD6-70D9-D6F7-8097-14EF1DB970B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41</a:t>
            </a:fld>
            <a:endParaRPr lang="en-US"/>
          </a:p>
        </p:txBody>
      </p:sp>
      <p:graphicFrame>
        <p:nvGraphicFramePr>
          <p:cNvPr id="5" name="Table 0">
            <a:extLst>
              <a:ext uri="{FF2B5EF4-FFF2-40B4-BE49-F238E27FC236}">
                <a16:creationId xmlns:a16="http://schemas.microsoft.com/office/drawing/2014/main" id="{D310DA9A-660D-B163-7EE8-24F897EA2980}"/>
              </a:ext>
            </a:extLst>
          </p:cNvPr>
          <p:cNvGraphicFramePr>
            <a:graphicFrameLocks noGrp="1"/>
          </p:cNvGraphicFramePr>
          <p:nvPr>
            <p:extLst>
              <p:ext uri="{D42A27DB-BD31-4B8C-83A1-F6EECF244321}">
                <p14:modId xmlns:p14="http://schemas.microsoft.com/office/powerpoint/2010/main" val="1112687271"/>
              </p:ext>
            </p:extLst>
          </p:nvPr>
        </p:nvGraphicFramePr>
        <p:xfrm>
          <a:off x="2395331" y="1510747"/>
          <a:ext cx="4850635" cy="4923666"/>
        </p:xfrm>
        <a:graphic>
          <a:graphicData uri="http://schemas.openxmlformats.org/drawingml/2006/table">
            <a:tbl>
              <a:tblPr/>
              <a:tblGrid>
                <a:gridCol w="2505273">
                  <a:extLst>
                    <a:ext uri="{9D8B030D-6E8A-4147-A177-3AD203B41FA5}">
                      <a16:colId xmlns:a16="http://schemas.microsoft.com/office/drawing/2014/main" val="20000"/>
                    </a:ext>
                  </a:extLst>
                </a:gridCol>
                <a:gridCol w="2345362">
                  <a:extLst>
                    <a:ext uri="{9D8B030D-6E8A-4147-A177-3AD203B41FA5}">
                      <a16:colId xmlns:a16="http://schemas.microsoft.com/office/drawing/2014/main" val="20001"/>
                    </a:ext>
                  </a:extLst>
                </a:gridCol>
              </a:tblGrid>
              <a:tr h="547074">
                <a:tc>
                  <a:txBody>
                    <a:bodyPr/>
                    <a:lstStyle/>
                    <a:p>
                      <a:pPr marL="0" indent="0" algn="ctr">
                        <a:buNone/>
                      </a:pPr>
                      <a:r>
                        <a:rPr lang="en-US" sz="1200" b="1" dirty="0">
                          <a:solidFill>
                            <a:schemeClr val="bg1"/>
                          </a:solidFill>
                          <a:latin typeface="Times New Roman" panose="02020603050405020304" pitchFamily="18" charset="0"/>
                          <a:ea typeface="Aptos" pitchFamily="34" charset="-122"/>
                          <a:cs typeface="Times New Roman" panose="02020603050405020304" pitchFamily="18" charset="0"/>
                        </a:rPr>
                        <a:t>Parameter</a:t>
                      </a:r>
                      <a:endParaRPr lang="en-US" sz="1200" dirty="0">
                        <a:solidFill>
                          <a:schemeClr val="bg1"/>
                        </a:solidFill>
                        <a:latin typeface="Times New Roman" panose="02020603050405020304" pitchFamily="18" charset="0"/>
                        <a:ea typeface="Aptos" charset="0"/>
                        <a:cs typeface="Times New Roman" panose="02020603050405020304" pitchFamily="18"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0D2740"/>
                    </a:solidFill>
                  </a:tcPr>
                </a:tc>
                <a:tc>
                  <a:txBody>
                    <a:bodyPr/>
                    <a:lstStyle/>
                    <a:p>
                      <a:pPr marL="0" indent="0" algn="ctr">
                        <a:buNone/>
                      </a:pPr>
                      <a:r>
                        <a:rPr lang="en-US" sz="1200" b="1" dirty="0">
                          <a:solidFill>
                            <a:schemeClr val="bg1"/>
                          </a:solidFill>
                          <a:latin typeface="Times New Roman" panose="02020603050405020304" pitchFamily="18" charset="0"/>
                          <a:ea typeface="Aptos" pitchFamily="34" charset="-122"/>
                          <a:cs typeface="Times New Roman" panose="02020603050405020304" pitchFamily="18" charset="0"/>
                        </a:rPr>
                        <a:t>Primary value</a:t>
                      </a:r>
                      <a:endParaRPr lang="en-US" sz="1200" dirty="0">
                        <a:solidFill>
                          <a:schemeClr val="bg1"/>
                        </a:solidFill>
                        <a:latin typeface="Times New Roman" panose="02020603050405020304" pitchFamily="18" charset="0"/>
                        <a:ea typeface="Aptos" charset="0"/>
                        <a:cs typeface="Times New Roman" panose="02020603050405020304" pitchFamily="18"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0D2740"/>
                    </a:solidFill>
                  </a:tcPr>
                </a:tc>
                <a:extLst>
                  <a:ext uri="{0D108BD9-81ED-4DB2-BD59-A6C34878D82A}">
                    <a16:rowId xmlns:a16="http://schemas.microsoft.com/office/drawing/2014/main" val="10000"/>
                  </a:ext>
                </a:extLst>
              </a:tr>
              <a:tr h="547074">
                <a:tc>
                  <a:txBody>
                    <a:bodyPr/>
                    <a:lstStyle/>
                    <a:p>
                      <a:pPr marL="0" indent="0" algn="ctr">
                        <a:buNone/>
                      </a:pPr>
                      <a:r>
                        <a:rPr lang="en-US" sz="1200" dirty="0">
                          <a:solidFill>
                            <a:schemeClr val="tx1"/>
                          </a:solidFill>
                          <a:latin typeface="Times New Roman" panose="02020603050405020304" pitchFamily="18" charset="0"/>
                          <a:ea typeface="Aptos" pitchFamily="34" charset="-122"/>
                          <a:cs typeface="Times New Roman" panose="02020603050405020304" pitchFamily="18" charset="0"/>
                        </a:rPr>
                        <a:t>Subscribers / topics</a:t>
                      </a:r>
                      <a:endParaRPr lang="en-US" sz="1200" dirty="0">
                        <a:solidFill>
                          <a:schemeClr val="tx1"/>
                        </a:solidFill>
                        <a:latin typeface="Times New Roman" panose="02020603050405020304" pitchFamily="18" charset="0"/>
                        <a:ea typeface="Aptos" charset="0"/>
                        <a:cs typeface="Times New Roman" panose="02020603050405020304" pitchFamily="18"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200" dirty="0">
                          <a:solidFill>
                            <a:schemeClr val="tx1"/>
                          </a:solidFill>
                          <a:latin typeface="Times New Roman" panose="02020603050405020304" pitchFamily="18" charset="0"/>
                          <a:ea typeface="Aptos" pitchFamily="34" charset="-122"/>
                          <a:cs typeface="Times New Roman" panose="02020603050405020304" pitchFamily="18" charset="0"/>
                        </a:rPr>
                        <a:t>1000 / 1000</a:t>
                      </a:r>
                      <a:endParaRPr lang="en-US" sz="1200" dirty="0">
                        <a:solidFill>
                          <a:schemeClr val="tx1"/>
                        </a:solidFill>
                        <a:latin typeface="Times New Roman" panose="02020603050405020304" pitchFamily="18" charset="0"/>
                        <a:ea typeface="Aptos" charset="0"/>
                        <a:cs typeface="Times New Roman" panose="02020603050405020304" pitchFamily="18"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7074">
                <a:tc>
                  <a:txBody>
                    <a:bodyPr/>
                    <a:lstStyle/>
                    <a:p>
                      <a:pPr marL="0" indent="0" algn="ctr">
                        <a:buNone/>
                      </a:pPr>
                      <a:r>
                        <a:rPr lang="en-US" sz="1200" dirty="0">
                          <a:solidFill>
                            <a:schemeClr val="tx1"/>
                          </a:solidFill>
                          <a:latin typeface="Times New Roman" panose="02020603050405020304" pitchFamily="18" charset="0"/>
                          <a:ea typeface="Aptos" pitchFamily="34" charset="-122"/>
                          <a:cs typeface="Times New Roman" panose="02020603050405020304" pitchFamily="18" charset="0"/>
                        </a:rPr>
                        <a:t>Publishers</a:t>
                      </a:r>
                      <a:endParaRPr lang="en-US" sz="1200" dirty="0">
                        <a:solidFill>
                          <a:schemeClr val="tx1"/>
                        </a:solidFill>
                        <a:latin typeface="Times New Roman" panose="02020603050405020304" pitchFamily="18" charset="0"/>
                        <a:ea typeface="Aptos" charset="0"/>
                        <a:cs typeface="Times New Roman" panose="02020603050405020304" pitchFamily="18"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2F6FA"/>
                    </a:solidFill>
                  </a:tcPr>
                </a:tc>
                <a:tc>
                  <a:txBody>
                    <a:bodyPr/>
                    <a:lstStyle/>
                    <a:p>
                      <a:pPr marL="0" indent="0" algn="ctr">
                        <a:buNone/>
                      </a:pPr>
                      <a:r>
                        <a:rPr lang="en-US" sz="1200" dirty="0">
                          <a:solidFill>
                            <a:schemeClr val="tx1"/>
                          </a:solidFill>
                          <a:latin typeface="Times New Roman" panose="02020603050405020304" pitchFamily="18" charset="0"/>
                          <a:ea typeface="Aptos" pitchFamily="34" charset="-122"/>
                          <a:cs typeface="Times New Roman" panose="02020603050405020304" pitchFamily="18" charset="0"/>
                        </a:rPr>
                        <a:t>10</a:t>
                      </a:r>
                      <a:endParaRPr lang="en-US" sz="1200" dirty="0">
                        <a:solidFill>
                          <a:schemeClr val="tx1"/>
                        </a:solidFill>
                        <a:latin typeface="Times New Roman" panose="02020603050405020304" pitchFamily="18" charset="0"/>
                        <a:ea typeface="Aptos" charset="0"/>
                        <a:cs typeface="Times New Roman" panose="02020603050405020304" pitchFamily="18"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2F6FA"/>
                    </a:solidFill>
                  </a:tcPr>
                </a:tc>
                <a:extLst>
                  <a:ext uri="{0D108BD9-81ED-4DB2-BD59-A6C34878D82A}">
                    <a16:rowId xmlns:a16="http://schemas.microsoft.com/office/drawing/2014/main" val="10002"/>
                  </a:ext>
                </a:extLst>
              </a:tr>
              <a:tr h="547074">
                <a:tc>
                  <a:txBody>
                    <a:bodyPr/>
                    <a:lstStyle/>
                    <a:p>
                      <a:pPr marL="0" indent="0" algn="ctr">
                        <a:buNone/>
                      </a:pPr>
                      <a:r>
                        <a:rPr lang="en-US" sz="1200" dirty="0">
                          <a:solidFill>
                            <a:schemeClr val="tx1"/>
                          </a:solidFill>
                          <a:latin typeface="Times New Roman" panose="02020603050405020304" pitchFamily="18" charset="0"/>
                          <a:ea typeface="Aptos" pitchFamily="34" charset="-122"/>
                          <a:cs typeface="Times New Roman" panose="02020603050405020304" pitchFamily="18" charset="0"/>
                        </a:rPr>
                        <a:t>Payload</a:t>
                      </a:r>
                      <a:endParaRPr lang="en-US" sz="1200" dirty="0">
                        <a:solidFill>
                          <a:schemeClr val="tx1"/>
                        </a:solidFill>
                        <a:latin typeface="Times New Roman" panose="02020603050405020304" pitchFamily="18" charset="0"/>
                        <a:ea typeface="Aptos" charset="0"/>
                        <a:cs typeface="Times New Roman" panose="02020603050405020304" pitchFamily="18"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200" dirty="0">
                          <a:solidFill>
                            <a:schemeClr val="tx1"/>
                          </a:solidFill>
                          <a:latin typeface="Times New Roman" panose="02020603050405020304" pitchFamily="18" charset="0"/>
                          <a:ea typeface="Aptos" pitchFamily="34" charset="-122"/>
                          <a:cs typeface="Times New Roman" panose="02020603050405020304" pitchFamily="18" charset="0"/>
                        </a:rPr>
                        <a:t>128 B</a:t>
                      </a:r>
                      <a:endParaRPr lang="en-US" sz="1200" dirty="0">
                        <a:solidFill>
                          <a:schemeClr val="tx1"/>
                        </a:solidFill>
                        <a:latin typeface="Times New Roman" panose="02020603050405020304" pitchFamily="18" charset="0"/>
                        <a:ea typeface="Aptos" charset="0"/>
                        <a:cs typeface="Times New Roman" panose="02020603050405020304" pitchFamily="18"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7074">
                <a:tc>
                  <a:txBody>
                    <a:bodyPr/>
                    <a:lstStyle/>
                    <a:p>
                      <a:pPr marL="0" indent="0" algn="ctr">
                        <a:buNone/>
                      </a:pPr>
                      <a:r>
                        <a:rPr lang="en-US" sz="1200" dirty="0">
                          <a:solidFill>
                            <a:schemeClr val="tx1"/>
                          </a:solidFill>
                          <a:latin typeface="Times New Roman" panose="02020603050405020304" pitchFamily="18" charset="0"/>
                          <a:ea typeface="Aptos" pitchFamily="34" charset="-122"/>
                          <a:cs typeface="Times New Roman" panose="02020603050405020304" pitchFamily="18" charset="0"/>
                        </a:rPr>
                        <a:t>Rate per topic</a:t>
                      </a:r>
                      <a:endParaRPr lang="en-US" sz="1200" dirty="0">
                        <a:solidFill>
                          <a:schemeClr val="tx1"/>
                        </a:solidFill>
                        <a:latin typeface="Times New Roman" panose="02020603050405020304" pitchFamily="18" charset="0"/>
                        <a:ea typeface="Aptos" charset="0"/>
                        <a:cs typeface="Times New Roman" panose="02020603050405020304" pitchFamily="18"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2F6FA"/>
                    </a:solidFill>
                  </a:tcPr>
                </a:tc>
                <a:tc>
                  <a:txBody>
                    <a:bodyPr/>
                    <a:lstStyle/>
                    <a:p>
                      <a:pPr marL="0" indent="0" algn="ctr">
                        <a:buNone/>
                      </a:pPr>
                      <a:r>
                        <a:rPr lang="en-US" sz="1200" dirty="0">
                          <a:solidFill>
                            <a:schemeClr val="tx1"/>
                          </a:solidFill>
                          <a:latin typeface="Times New Roman" panose="02020603050405020304" pitchFamily="18" charset="0"/>
                          <a:ea typeface="Aptos" pitchFamily="34" charset="-122"/>
                          <a:cs typeface="Times New Roman" panose="02020603050405020304" pitchFamily="18" charset="0"/>
                        </a:rPr>
                        <a:t>2 msg/s</a:t>
                      </a:r>
                      <a:endParaRPr lang="en-US" sz="1200" dirty="0">
                        <a:solidFill>
                          <a:schemeClr val="tx1"/>
                        </a:solidFill>
                        <a:latin typeface="Times New Roman" panose="02020603050405020304" pitchFamily="18" charset="0"/>
                        <a:ea typeface="Aptos" charset="0"/>
                        <a:cs typeface="Times New Roman" panose="02020603050405020304" pitchFamily="18"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2F6FA"/>
                    </a:solidFill>
                  </a:tcPr>
                </a:tc>
                <a:extLst>
                  <a:ext uri="{0D108BD9-81ED-4DB2-BD59-A6C34878D82A}">
                    <a16:rowId xmlns:a16="http://schemas.microsoft.com/office/drawing/2014/main" val="10004"/>
                  </a:ext>
                </a:extLst>
              </a:tr>
              <a:tr h="547074">
                <a:tc>
                  <a:txBody>
                    <a:bodyPr/>
                    <a:lstStyle/>
                    <a:p>
                      <a:pPr marL="0" indent="0" algn="ctr">
                        <a:buNone/>
                      </a:pPr>
                      <a:r>
                        <a:rPr lang="en-US" sz="1200" dirty="0">
                          <a:solidFill>
                            <a:schemeClr val="tx1"/>
                          </a:solidFill>
                          <a:latin typeface="Times New Roman" panose="02020603050405020304" pitchFamily="18" charset="0"/>
                          <a:ea typeface="Aptos" pitchFamily="34" charset="-122"/>
                          <a:cs typeface="Times New Roman" panose="02020603050405020304" pitchFamily="18" charset="0"/>
                        </a:rPr>
                        <a:t>Aggregate publish rate</a:t>
                      </a:r>
                      <a:endParaRPr lang="en-US" sz="1200" dirty="0">
                        <a:solidFill>
                          <a:schemeClr val="tx1"/>
                        </a:solidFill>
                        <a:latin typeface="Times New Roman" panose="02020603050405020304" pitchFamily="18" charset="0"/>
                        <a:ea typeface="Aptos" charset="0"/>
                        <a:cs typeface="Times New Roman" panose="02020603050405020304" pitchFamily="18"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200" dirty="0">
                          <a:solidFill>
                            <a:schemeClr val="tx1"/>
                          </a:solidFill>
                          <a:latin typeface="Times New Roman" panose="02020603050405020304" pitchFamily="18" charset="0"/>
                          <a:ea typeface="Aptos" pitchFamily="34" charset="-122"/>
                          <a:cs typeface="Times New Roman" panose="02020603050405020304" pitchFamily="18" charset="0"/>
                        </a:rPr>
                        <a:t>2,000 msg/s</a:t>
                      </a:r>
                      <a:endParaRPr lang="en-US" sz="1200" dirty="0">
                        <a:solidFill>
                          <a:schemeClr val="tx1"/>
                        </a:solidFill>
                        <a:latin typeface="Times New Roman" panose="02020603050405020304" pitchFamily="18" charset="0"/>
                        <a:ea typeface="Aptos" charset="0"/>
                        <a:cs typeface="Times New Roman" panose="02020603050405020304" pitchFamily="18"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7074">
                <a:tc>
                  <a:txBody>
                    <a:bodyPr/>
                    <a:lstStyle/>
                    <a:p>
                      <a:pPr marL="0" indent="0" algn="ctr">
                        <a:buNone/>
                      </a:pPr>
                      <a:r>
                        <a:rPr lang="en-US" sz="1200" dirty="0">
                          <a:solidFill>
                            <a:schemeClr val="tx1"/>
                          </a:solidFill>
                          <a:latin typeface="Times New Roman" panose="02020603050405020304" pitchFamily="18" charset="0"/>
                          <a:ea typeface="Aptos" pitchFamily="34" charset="-122"/>
                          <a:cs typeface="Times New Roman" panose="02020603050405020304" pitchFamily="18" charset="0"/>
                        </a:rPr>
                        <a:t>Traffic pattern</a:t>
                      </a:r>
                      <a:endParaRPr lang="en-US" sz="1200" dirty="0">
                        <a:solidFill>
                          <a:schemeClr val="tx1"/>
                        </a:solidFill>
                        <a:latin typeface="Times New Roman" panose="02020603050405020304" pitchFamily="18" charset="0"/>
                        <a:ea typeface="Aptos" charset="0"/>
                        <a:cs typeface="Times New Roman" panose="02020603050405020304" pitchFamily="18"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2F6FA"/>
                    </a:solidFill>
                  </a:tcPr>
                </a:tc>
                <a:tc>
                  <a:txBody>
                    <a:bodyPr/>
                    <a:lstStyle/>
                    <a:p>
                      <a:pPr marL="0" indent="0" algn="ctr">
                        <a:buNone/>
                      </a:pPr>
                      <a:r>
                        <a:rPr lang="en-US" sz="1200" dirty="0">
                          <a:solidFill>
                            <a:schemeClr val="tx1"/>
                          </a:solidFill>
                          <a:latin typeface="Times New Roman" panose="02020603050405020304" pitchFamily="18" charset="0"/>
                          <a:ea typeface="Aptos" pitchFamily="34" charset="-122"/>
                          <a:cs typeface="Times New Roman" panose="02020603050405020304" pitchFamily="18" charset="0"/>
                        </a:rPr>
                        <a:t>Constant-rate</a:t>
                      </a:r>
                      <a:endParaRPr lang="en-US" sz="1200" dirty="0">
                        <a:solidFill>
                          <a:schemeClr val="tx1"/>
                        </a:solidFill>
                        <a:latin typeface="Times New Roman" panose="02020603050405020304" pitchFamily="18" charset="0"/>
                        <a:ea typeface="Aptos" charset="0"/>
                        <a:cs typeface="Times New Roman" panose="02020603050405020304" pitchFamily="18"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2F6FA"/>
                    </a:solidFill>
                  </a:tcPr>
                </a:tc>
                <a:extLst>
                  <a:ext uri="{0D108BD9-81ED-4DB2-BD59-A6C34878D82A}">
                    <a16:rowId xmlns:a16="http://schemas.microsoft.com/office/drawing/2014/main" val="10006"/>
                  </a:ext>
                </a:extLst>
              </a:tr>
              <a:tr h="547074">
                <a:tc>
                  <a:txBody>
                    <a:bodyPr/>
                    <a:lstStyle/>
                    <a:p>
                      <a:pPr marL="0" indent="0" algn="ctr">
                        <a:buNone/>
                      </a:pPr>
                      <a:r>
                        <a:rPr lang="en-US" sz="1200" dirty="0">
                          <a:solidFill>
                            <a:schemeClr val="tx1"/>
                          </a:solidFill>
                          <a:latin typeface="Times New Roman" panose="02020603050405020304" pitchFamily="18" charset="0"/>
                          <a:ea typeface="Aptos" pitchFamily="34" charset="-122"/>
                          <a:cs typeface="Times New Roman" panose="02020603050405020304" pitchFamily="18" charset="0"/>
                        </a:rPr>
                        <a:t>Retained flag</a:t>
                      </a:r>
                      <a:endParaRPr lang="en-US" sz="1200" dirty="0">
                        <a:solidFill>
                          <a:schemeClr val="tx1"/>
                        </a:solidFill>
                        <a:latin typeface="Times New Roman" panose="02020603050405020304" pitchFamily="18" charset="0"/>
                        <a:ea typeface="Aptos" charset="0"/>
                        <a:cs typeface="Times New Roman" panose="02020603050405020304" pitchFamily="18"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200" dirty="0">
                          <a:solidFill>
                            <a:schemeClr val="tx1"/>
                          </a:solidFill>
                          <a:latin typeface="Times New Roman" panose="02020603050405020304" pitchFamily="18" charset="0"/>
                          <a:ea typeface="Aptos" pitchFamily="34" charset="-122"/>
                          <a:cs typeface="Times New Roman" panose="02020603050405020304" pitchFamily="18" charset="0"/>
                        </a:rPr>
                        <a:t>False</a:t>
                      </a:r>
                      <a:endParaRPr lang="en-US" sz="1200" dirty="0">
                        <a:solidFill>
                          <a:schemeClr val="tx1"/>
                        </a:solidFill>
                        <a:latin typeface="Times New Roman" panose="02020603050405020304" pitchFamily="18" charset="0"/>
                        <a:ea typeface="Aptos" charset="0"/>
                        <a:cs typeface="Times New Roman" panose="02020603050405020304" pitchFamily="18"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47074">
                <a:tc>
                  <a:txBody>
                    <a:bodyPr/>
                    <a:lstStyle/>
                    <a:p>
                      <a:pPr marL="0" indent="0" algn="ctr">
                        <a:buNone/>
                      </a:pPr>
                      <a:r>
                        <a:rPr lang="en-US" sz="1200" dirty="0">
                          <a:solidFill>
                            <a:schemeClr val="tx1"/>
                          </a:solidFill>
                          <a:latin typeface="Times New Roman" panose="02020603050405020304" pitchFamily="18" charset="0"/>
                          <a:ea typeface="Aptos" pitchFamily="34" charset="-122"/>
                          <a:cs typeface="Times New Roman" panose="02020603050405020304" pitchFamily="18" charset="0"/>
                        </a:rPr>
                        <a:t>Publisher availability</a:t>
                      </a:r>
                      <a:endParaRPr lang="en-US" sz="1200" dirty="0">
                        <a:solidFill>
                          <a:schemeClr val="tx1"/>
                        </a:solidFill>
                        <a:latin typeface="Times New Roman" panose="02020603050405020304" pitchFamily="18" charset="0"/>
                        <a:ea typeface="Aptos" charset="0"/>
                        <a:cs typeface="Times New Roman" panose="02020603050405020304" pitchFamily="18"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2F6FA"/>
                    </a:solidFill>
                  </a:tcPr>
                </a:tc>
                <a:tc>
                  <a:txBody>
                    <a:bodyPr/>
                    <a:lstStyle/>
                    <a:p>
                      <a:pPr marL="0" indent="0" algn="ctr">
                        <a:buNone/>
                      </a:pPr>
                      <a:r>
                        <a:rPr lang="en-US" sz="1200" dirty="0">
                          <a:solidFill>
                            <a:schemeClr val="tx1"/>
                          </a:solidFill>
                          <a:latin typeface="Times New Roman" panose="02020603050405020304" pitchFamily="18" charset="0"/>
                          <a:ea typeface="Aptos" pitchFamily="34" charset="-122"/>
                          <a:cs typeface="Times New Roman" panose="02020603050405020304" pitchFamily="18" charset="0"/>
                        </a:rPr>
                        <a:t>Always online</a:t>
                      </a:r>
                      <a:endParaRPr lang="en-US" sz="1200" dirty="0">
                        <a:solidFill>
                          <a:schemeClr val="tx1"/>
                        </a:solidFill>
                        <a:latin typeface="Times New Roman" panose="02020603050405020304" pitchFamily="18" charset="0"/>
                        <a:ea typeface="Aptos" charset="0"/>
                        <a:cs typeface="Times New Roman" panose="02020603050405020304" pitchFamily="18"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2F6FA"/>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9696656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0C9DD-AA94-67D5-E672-887EA96A8AF3}"/>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Modes</a:t>
            </a:r>
          </a:p>
        </p:txBody>
      </p:sp>
      <p:sp>
        <p:nvSpPr>
          <p:cNvPr id="4" name="Slide Number Placeholder 3">
            <a:extLst>
              <a:ext uri="{FF2B5EF4-FFF2-40B4-BE49-F238E27FC236}">
                <a16:creationId xmlns:a16="http://schemas.microsoft.com/office/drawing/2014/main" id="{FAFE6AE8-32BF-1333-EAD8-6F8BB18B7AB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latin typeface="Arial" panose="020B0604020202020204" pitchFamily="34" charset="0"/>
                <a:cs typeface="Arial" panose="020B0604020202020204" pitchFamily="34" charset="0"/>
              </a:rPr>
              <a:t>42</a:t>
            </a:fld>
            <a:endParaRPr lang="en-US">
              <a:latin typeface="Arial" panose="020B0604020202020204" pitchFamily="34" charset="0"/>
              <a:cs typeface="Arial" panose="020B0604020202020204" pitchFamily="34" charset="0"/>
            </a:endParaRPr>
          </a:p>
        </p:txBody>
      </p:sp>
      <p:graphicFrame>
        <p:nvGraphicFramePr>
          <p:cNvPr id="5" name="Table 0">
            <a:extLst>
              <a:ext uri="{FF2B5EF4-FFF2-40B4-BE49-F238E27FC236}">
                <a16:creationId xmlns:a16="http://schemas.microsoft.com/office/drawing/2014/main" id="{9F2D236A-E2E8-7E77-9071-355CC8D6F855}"/>
              </a:ext>
            </a:extLst>
          </p:cNvPr>
          <p:cNvGraphicFramePr>
            <a:graphicFrameLocks noGrp="1"/>
          </p:cNvGraphicFramePr>
          <p:nvPr>
            <p:extLst>
              <p:ext uri="{D42A27DB-BD31-4B8C-83A1-F6EECF244321}">
                <p14:modId xmlns:p14="http://schemas.microsoft.com/office/powerpoint/2010/main" val="1510055260"/>
              </p:ext>
            </p:extLst>
          </p:nvPr>
        </p:nvGraphicFramePr>
        <p:xfrm>
          <a:off x="453525" y="1684682"/>
          <a:ext cx="8222773" cy="2057400"/>
        </p:xfrm>
        <a:graphic>
          <a:graphicData uri="http://schemas.openxmlformats.org/drawingml/2006/table">
            <a:tbl>
              <a:tblPr/>
              <a:tblGrid>
                <a:gridCol w="936266">
                  <a:extLst>
                    <a:ext uri="{9D8B030D-6E8A-4147-A177-3AD203B41FA5}">
                      <a16:colId xmlns:a16="http://schemas.microsoft.com/office/drawing/2014/main" val="20000"/>
                    </a:ext>
                  </a:extLst>
                </a:gridCol>
                <a:gridCol w="1272208">
                  <a:extLst>
                    <a:ext uri="{9D8B030D-6E8A-4147-A177-3AD203B41FA5}">
                      <a16:colId xmlns:a16="http://schemas.microsoft.com/office/drawing/2014/main" val="20001"/>
                    </a:ext>
                  </a:extLst>
                </a:gridCol>
                <a:gridCol w="1124247">
                  <a:extLst>
                    <a:ext uri="{9D8B030D-6E8A-4147-A177-3AD203B41FA5}">
                      <a16:colId xmlns:a16="http://schemas.microsoft.com/office/drawing/2014/main" val="20002"/>
                    </a:ext>
                  </a:extLst>
                </a:gridCol>
                <a:gridCol w="1441174">
                  <a:extLst>
                    <a:ext uri="{9D8B030D-6E8A-4147-A177-3AD203B41FA5}">
                      <a16:colId xmlns:a16="http://schemas.microsoft.com/office/drawing/2014/main" val="20003"/>
                    </a:ext>
                  </a:extLst>
                </a:gridCol>
                <a:gridCol w="3448878">
                  <a:extLst>
                    <a:ext uri="{9D8B030D-6E8A-4147-A177-3AD203B41FA5}">
                      <a16:colId xmlns:a16="http://schemas.microsoft.com/office/drawing/2014/main" val="20004"/>
                    </a:ext>
                  </a:extLst>
                </a:gridCol>
              </a:tblGrid>
              <a:tr h="514350">
                <a:tc>
                  <a:txBody>
                    <a:bodyPr/>
                    <a:lstStyle/>
                    <a:p>
                      <a:pPr marL="0" indent="0" algn="l">
                        <a:buNone/>
                      </a:pPr>
                      <a:r>
                        <a:rPr lang="en-US" sz="1200" b="1" dirty="0">
                          <a:solidFill>
                            <a:srgbClr val="FFFFFF"/>
                          </a:solidFill>
                          <a:latin typeface="Arial" panose="020B0604020202020204" pitchFamily="34" charset="0"/>
                          <a:ea typeface="Aptos" pitchFamily="34" charset="-122"/>
                          <a:cs typeface="Arial" panose="020B0604020202020204" pitchFamily="34" charset="0"/>
                        </a:rPr>
                        <a:t>Mode</a:t>
                      </a:r>
                      <a:endParaRPr lang="en-US" sz="12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0D2740"/>
                    </a:solidFill>
                  </a:tcPr>
                </a:tc>
                <a:tc>
                  <a:txBody>
                    <a:bodyPr/>
                    <a:lstStyle/>
                    <a:p>
                      <a:pPr marL="0" indent="0" algn="ctr">
                        <a:buNone/>
                      </a:pPr>
                      <a:r>
                        <a:rPr lang="en-US" sz="1200" b="1" dirty="0">
                          <a:solidFill>
                            <a:srgbClr val="FFFFFF"/>
                          </a:solidFill>
                          <a:latin typeface="Arial" panose="020B0604020202020204" pitchFamily="34" charset="0"/>
                          <a:ea typeface="Aptos" pitchFamily="34" charset="-122"/>
                          <a:cs typeface="Arial" panose="020B0604020202020204" pitchFamily="34" charset="0"/>
                        </a:rPr>
                        <a:t>Publish QoS</a:t>
                      </a:r>
                      <a:endParaRPr lang="en-US" sz="12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0D2740"/>
                    </a:solidFill>
                  </a:tcPr>
                </a:tc>
                <a:tc>
                  <a:txBody>
                    <a:bodyPr/>
                    <a:lstStyle/>
                    <a:p>
                      <a:pPr marL="0" indent="0" algn="ctr">
                        <a:buNone/>
                      </a:pPr>
                      <a:r>
                        <a:rPr lang="en-US" sz="1200" b="1" dirty="0">
                          <a:solidFill>
                            <a:srgbClr val="FFFFFF"/>
                          </a:solidFill>
                          <a:latin typeface="Arial" panose="020B0604020202020204" pitchFamily="34" charset="0"/>
                          <a:ea typeface="Aptos" pitchFamily="34" charset="-122"/>
                          <a:cs typeface="Arial" panose="020B0604020202020204" pitchFamily="34" charset="0"/>
                        </a:rPr>
                        <a:t>Subscribe QoS</a:t>
                      </a:r>
                      <a:endParaRPr lang="en-US" sz="12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0D2740"/>
                    </a:solidFill>
                  </a:tcPr>
                </a:tc>
                <a:tc>
                  <a:txBody>
                    <a:bodyPr/>
                    <a:lstStyle/>
                    <a:p>
                      <a:pPr marL="0" indent="0" algn="ctr">
                        <a:buNone/>
                      </a:pPr>
                      <a:r>
                        <a:rPr lang="en-US" sz="1200" b="1" dirty="0">
                          <a:solidFill>
                            <a:srgbClr val="FFFFFF"/>
                          </a:solidFill>
                          <a:latin typeface="Arial" panose="020B0604020202020204" pitchFamily="34" charset="0"/>
                          <a:ea typeface="Aptos" pitchFamily="34" charset="-122"/>
                          <a:cs typeface="Arial" panose="020B0604020202020204" pitchFamily="34" charset="0"/>
                        </a:rPr>
                        <a:t>Clean Session</a:t>
                      </a:r>
                      <a:endParaRPr lang="en-US" sz="12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0D2740"/>
                    </a:solidFill>
                  </a:tcPr>
                </a:tc>
                <a:tc>
                  <a:txBody>
                    <a:bodyPr/>
                    <a:lstStyle/>
                    <a:p>
                      <a:pPr marL="0" indent="0" algn="ctr">
                        <a:buNone/>
                      </a:pPr>
                      <a:r>
                        <a:rPr lang="en-US" sz="1200" b="1" dirty="0">
                          <a:solidFill>
                            <a:srgbClr val="FFFFFF"/>
                          </a:solidFill>
                          <a:latin typeface="Arial" panose="020B0604020202020204" pitchFamily="34" charset="0"/>
                          <a:ea typeface="Aptos" pitchFamily="34" charset="-122"/>
                          <a:cs typeface="Arial" panose="020B0604020202020204" pitchFamily="34" charset="0"/>
                        </a:rPr>
                        <a:t>Purpose / expected behavior</a:t>
                      </a:r>
                      <a:endParaRPr lang="en-US" sz="12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0D2740"/>
                    </a:solidFill>
                  </a:tcPr>
                </a:tc>
                <a:extLst>
                  <a:ext uri="{0D108BD9-81ED-4DB2-BD59-A6C34878D82A}">
                    <a16:rowId xmlns:a16="http://schemas.microsoft.com/office/drawing/2014/main" val="10000"/>
                  </a:ext>
                </a:extLst>
              </a:tr>
              <a:tr h="514350">
                <a:tc>
                  <a:txBody>
                    <a:bodyPr/>
                    <a:lstStyle/>
                    <a:p>
                      <a:pPr marL="0" indent="0" algn="l">
                        <a:buNone/>
                      </a:pPr>
                      <a:r>
                        <a:rPr lang="en-US" sz="1200" dirty="0">
                          <a:solidFill>
                            <a:srgbClr val="14233A"/>
                          </a:solidFill>
                          <a:latin typeface="Arial" panose="020B0604020202020204" pitchFamily="34" charset="0"/>
                          <a:ea typeface="Aptos" pitchFamily="34" charset="-122"/>
                          <a:cs typeface="Arial" panose="020B0604020202020204" pitchFamily="34" charset="0"/>
                        </a:rPr>
                        <a:t>Control A</a:t>
                      </a:r>
                      <a:endParaRPr lang="en-US" sz="12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4233A"/>
                          </a:solidFill>
                          <a:latin typeface="Arial" panose="020B0604020202020204" pitchFamily="34" charset="0"/>
                          <a:ea typeface="Aptos" pitchFamily="34" charset="-122"/>
                          <a:cs typeface="Arial" panose="020B0604020202020204" pitchFamily="34" charset="0"/>
                        </a:rPr>
                        <a:t>0</a:t>
                      </a:r>
                      <a:endParaRPr lang="en-US" sz="12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4233A"/>
                          </a:solidFill>
                          <a:latin typeface="Arial" panose="020B0604020202020204" pitchFamily="34" charset="0"/>
                          <a:ea typeface="Aptos" pitchFamily="34" charset="-122"/>
                          <a:cs typeface="Arial" panose="020B0604020202020204" pitchFamily="34" charset="0"/>
                        </a:rPr>
                        <a:t>0</a:t>
                      </a:r>
                      <a:endParaRPr lang="en-US" sz="12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4233A"/>
                          </a:solidFill>
                          <a:latin typeface="Arial" panose="020B0604020202020204" pitchFamily="34" charset="0"/>
                          <a:ea typeface="Aptos" pitchFamily="34" charset="-122"/>
                          <a:cs typeface="Arial" panose="020B0604020202020204" pitchFamily="34" charset="0"/>
                        </a:rPr>
                        <a:t>True</a:t>
                      </a:r>
                      <a:endParaRPr lang="en-US" sz="12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4233A"/>
                          </a:solidFill>
                          <a:latin typeface="Arial" panose="020B0604020202020204" pitchFamily="34" charset="0"/>
                          <a:ea typeface="Aptos" pitchFamily="34" charset="-122"/>
                          <a:cs typeface="Arial" panose="020B0604020202020204" pitchFamily="34" charset="0"/>
                        </a:rPr>
                        <a:t>Best-effort baseline; messages during outage are lost</a:t>
                      </a:r>
                      <a:endParaRPr lang="en-US" sz="12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4350">
                <a:tc>
                  <a:txBody>
                    <a:bodyPr/>
                    <a:lstStyle/>
                    <a:p>
                      <a:pPr marL="0" indent="0" algn="l">
                        <a:buNone/>
                      </a:pPr>
                      <a:r>
                        <a:rPr lang="en-US" sz="1200" dirty="0">
                          <a:solidFill>
                            <a:srgbClr val="14233A"/>
                          </a:solidFill>
                          <a:latin typeface="Arial" panose="020B0604020202020204" pitchFamily="34" charset="0"/>
                          <a:ea typeface="Aptos" pitchFamily="34" charset="-122"/>
                          <a:cs typeface="Arial" panose="020B0604020202020204" pitchFamily="34" charset="0"/>
                        </a:rPr>
                        <a:t>Control B</a:t>
                      </a:r>
                      <a:endParaRPr lang="en-US" sz="12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2F6FA"/>
                    </a:solidFill>
                  </a:tcPr>
                </a:tc>
                <a:tc>
                  <a:txBody>
                    <a:bodyPr/>
                    <a:lstStyle/>
                    <a:p>
                      <a:pPr marL="0" indent="0" algn="ctr">
                        <a:buNone/>
                      </a:pPr>
                      <a:r>
                        <a:rPr lang="en-US" sz="1200" dirty="0">
                          <a:solidFill>
                            <a:srgbClr val="14233A"/>
                          </a:solidFill>
                          <a:latin typeface="Arial" panose="020B0604020202020204" pitchFamily="34" charset="0"/>
                          <a:ea typeface="Aptos" pitchFamily="34" charset="-122"/>
                          <a:cs typeface="Arial" panose="020B0604020202020204" pitchFamily="34" charset="0"/>
                        </a:rPr>
                        <a:t>1</a:t>
                      </a:r>
                      <a:endParaRPr lang="en-US" sz="12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2F6FA"/>
                    </a:solidFill>
                  </a:tcPr>
                </a:tc>
                <a:tc>
                  <a:txBody>
                    <a:bodyPr/>
                    <a:lstStyle/>
                    <a:p>
                      <a:pPr marL="0" indent="0" algn="ctr">
                        <a:buNone/>
                      </a:pPr>
                      <a:r>
                        <a:rPr lang="en-US" sz="1200" dirty="0">
                          <a:solidFill>
                            <a:srgbClr val="14233A"/>
                          </a:solidFill>
                          <a:latin typeface="Arial" panose="020B0604020202020204" pitchFamily="34" charset="0"/>
                          <a:ea typeface="Aptos" pitchFamily="34" charset="-122"/>
                          <a:cs typeface="Arial" panose="020B0604020202020204" pitchFamily="34" charset="0"/>
                        </a:rPr>
                        <a:t>1</a:t>
                      </a:r>
                      <a:endParaRPr lang="en-US" sz="12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2F6FA"/>
                    </a:solidFill>
                  </a:tcPr>
                </a:tc>
                <a:tc>
                  <a:txBody>
                    <a:bodyPr/>
                    <a:lstStyle/>
                    <a:p>
                      <a:pPr marL="0" indent="0" algn="ctr">
                        <a:buNone/>
                      </a:pPr>
                      <a:r>
                        <a:rPr lang="en-US" sz="1200" dirty="0">
                          <a:solidFill>
                            <a:srgbClr val="14233A"/>
                          </a:solidFill>
                          <a:latin typeface="Arial" panose="020B0604020202020204" pitchFamily="34" charset="0"/>
                          <a:ea typeface="Aptos" pitchFamily="34" charset="-122"/>
                          <a:cs typeface="Arial" panose="020B0604020202020204" pitchFamily="34" charset="0"/>
                        </a:rPr>
                        <a:t>True</a:t>
                      </a:r>
                      <a:endParaRPr lang="en-US" sz="12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2F6FA"/>
                    </a:solidFill>
                  </a:tcPr>
                </a:tc>
                <a:tc>
                  <a:txBody>
                    <a:bodyPr/>
                    <a:lstStyle/>
                    <a:p>
                      <a:pPr marL="0" indent="0" algn="ctr">
                        <a:buNone/>
                      </a:pPr>
                      <a:r>
                        <a:rPr lang="en-US" sz="1200" dirty="0">
                          <a:solidFill>
                            <a:srgbClr val="14233A"/>
                          </a:solidFill>
                          <a:latin typeface="Arial" panose="020B0604020202020204" pitchFamily="34" charset="0"/>
                          <a:ea typeface="Aptos" pitchFamily="34" charset="-122"/>
                          <a:cs typeface="Arial" panose="020B0604020202020204" pitchFamily="34" charset="0"/>
                        </a:rPr>
                        <a:t>Reliable while connected; no offline-session recovery</a:t>
                      </a:r>
                      <a:endParaRPr lang="en-US" sz="12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2F6FA"/>
                    </a:solidFill>
                  </a:tcPr>
                </a:tc>
                <a:extLst>
                  <a:ext uri="{0D108BD9-81ED-4DB2-BD59-A6C34878D82A}">
                    <a16:rowId xmlns:a16="http://schemas.microsoft.com/office/drawing/2014/main" val="10002"/>
                  </a:ext>
                </a:extLst>
              </a:tr>
              <a:tr h="514350">
                <a:tc>
                  <a:txBody>
                    <a:bodyPr/>
                    <a:lstStyle/>
                    <a:p>
                      <a:pPr marL="0" indent="0" algn="l">
                        <a:buNone/>
                      </a:pPr>
                      <a:r>
                        <a:rPr lang="en-US" sz="1200" dirty="0">
                          <a:solidFill>
                            <a:srgbClr val="14233A"/>
                          </a:solidFill>
                          <a:latin typeface="Arial" panose="020B0604020202020204" pitchFamily="34" charset="0"/>
                          <a:ea typeface="Aptos" pitchFamily="34" charset="-122"/>
                          <a:cs typeface="Arial" panose="020B0604020202020204" pitchFamily="34" charset="0"/>
                        </a:rPr>
                        <a:t>Target</a:t>
                      </a:r>
                      <a:endParaRPr lang="en-US" sz="12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4233A"/>
                          </a:solidFill>
                          <a:latin typeface="Arial" panose="020B0604020202020204" pitchFamily="34" charset="0"/>
                          <a:ea typeface="Aptos" pitchFamily="34" charset="-122"/>
                          <a:cs typeface="Arial" panose="020B0604020202020204" pitchFamily="34" charset="0"/>
                        </a:rPr>
                        <a:t>1</a:t>
                      </a:r>
                      <a:endParaRPr lang="en-US" sz="12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4233A"/>
                          </a:solidFill>
                          <a:latin typeface="Arial" panose="020B0604020202020204" pitchFamily="34" charset="0"/>
                          <a:ea typeface="Aptos" pitchFamily="34" charset="-122"/>
                          <a:cs typeface="Arial" panose="020B0604020202020204" pitchFamily="34" charset="0"/>
                        </a:rPr>
                        <a:t>1</a:t>
                      </a:r>
                      <a:endParaRPr lang="en-US" sz="12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4233A"/>
                          </a:solidFill>
                          <a:latin typeface="Arial" panose="020B0604020202020204" pitchFamily="34" charset="0"/>
                          <a:ea typeface="Aptos" pitchFamily="34" charset="-122"/>
                          <a:cs typeface="Arial" panose="020B0604020202020204" pitchFamily="34" charset="0"/>
                        </a:rPr>
                        <a:t>False</a:t>
                      </a:r>
                      <a:endParaRPr lang="en-US" sz="12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4233A"/>
                          </a:solidFill>
                          <a:latin typeface="Arial" panose="020B0604020202020204" pitchFamily="34" charset="0"/>
                          <a:ea typeface="Aptos" pitchFamily="34" charset="-122"/>
                          <a:cs typeface="Arial" panose="020B0604020202020204" pitchFamily="34" charset="0"/>
                        </a:rPr>
                        <a:t>Persistent session; eligible offline messages should be queued</a:t>
                      </a:r>
                      <a:endParaRPr lang="en-US" sz="12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4">
            <a:extLst>
              <a:ext uri="{FF2B5EF4-FFF2-40B4-BE49-F238E27FC236}">
                <a16:creationId xmlns:a16="http://schemas.microsoft.com/office/drawing/2014/main" id="{0BD040F6-23B4-E950-6973-CB10D02CE2AD}"/>
              </a:ext>
            </a:extLst>
          </p:cNvPr>
          <p:cNvSpPr/>
          <p:nvPr/>
        </p:nvSpPr>
        <p:spPr>
          <a:xfrm>
            <a:off x="196795" y="4030516"/>
            <a:ext cx="2728005" cy="1436006"/>
          </a:xfrm>
          <a:prstGeom prst="roundRect">
            <a:avLst>
              <a:gd name="adj" fmla="val 3488"/>
            </a:avLst>
          </a:prstGeom>
          <a:solidFill>
            <a:srgbClr val="FDECEC"/>
          </a:solidFill>
          <a:ln w="12700">
            <a:solidFill>
              <a:srgbClr val="F3B1B1"/>
            </a:solidFill>
            <a:prstDash val="solid"/>
          </a:ln>
        </p:spPr>
        <p:txBody>
          <a:bodyPr/>
          <a:lstStyle/>
          <a:p>
            <a:endParaRPr lang="en-US">
              <a:latin typeface="Arial" panose="020B0604020202020204" pitchFamily="34" charset="0"/>
              <a:cs typeface="Arial" panose="020B0604020202020204" pitchFamily="34" charset="0"/>
            </a:endParaRPr>
          </a:p>
        </p:txBody>
      </p:sp>
      <p:sp>
        <p:nvSpPr>
          <p:cNvPr id="7" name="Text 5">
            <a:extLst>
              <a:ext uri="{FF2B5EF4-FFF2-40B4-BE49-F238E27FC236}">
                <a16:creationId xmlns:a16="http://schemas.microsoft.com/office/drawing/2014/main" id="{EC74282F-F340-7D45-4828-D1BBC62DEB83}"/>
              </a:ext>
            </a:extLst>
          </p:cNvPr>
          <p:cNvSpPr/>
          <p:nvPr/>
        </p:nvSpPr>
        <p:spPr>
          <a:xfrm>
            <a:off x="407106" y="4231684"/>
            <a:ext cx="924747" cy="183675"/>
          </a:xfrm>
          <a:prstGeom prst="rect">
            <a:avLst/>
          </a:prstGeom>
          <a:noFill/>
          <a:ln/>
        </p:spPr>
        <p:txBody>
          <a:bodyPr wrap="square" lIns="508" tIns="508" rIns="508" bIns="508" rtlCol="0" anchor="ctr">
            <a:normAutofit/>
          </a:bodyPr>
          <a:lstStyle/>
          <a:p>
            <a:pPr marL="0" indent="0" algn="l">
              <a:buNone/>
            </a:pPr>
            <a:r>
              <a:rPr lang="en-US" sz="700" b="1" dirty="0">
                <a:solidFill>
                  <a:srgbClr val="E84C4C"/>
                </a:solidFill>
                <a:latin typeface="Arial" panose="020B0604020202020204" pitchFamily="34" charset="0"/>
                <a:ea typeface="Aptos" pitchFamily="34" charset="-122"/>
                <a:cs typeface="Arial" panose="020B0604020202020204" pitchFamily="34" charset="0"/>
              </a:rPr>
              <a:t>CONTROL A</a:t>
            </a:r>
            <a:endParaRPr lang="en-US" sz="700" dirty="0">
              <a:latin typeface="Arial" panose="020B0604020202020204" pitchFamily="34" charset="0"/>
              <a:cs typeface="Arial" panose="020B0604020202020204" pitchFamily="34" charset="0"/>
            </a:endParaRPr>
          </a:p>
        </p:txBody>
      </p:sp>
      <p:sp>
        <p:nvSpPr>
          <p:cNvPr id="8" name="Text 6">
            <a:extLst>
              <a:ext uri="{FF2B5EF4-FFF2-40B4-BE49-F238E27FC236}">
                <a16:creationId xmlns:a16="http://schemas.microsoft.com/office/drawing/2014/main" id="{C9689A44-3D08-FE34-BA4E-D58EC6688D51}"/>
              </a:ext>
            </a:extLst>
          </p:cNvPr>
          <p:cNvSpPr/>
          <p:nvPr/>
        </p:nvSpPr>
        <p:spPr>
          <a:xfrm>
            <a:off x="407107" y="4506004"/>
            <a:ext cx="2311868" cy="317257"/>
          </a:xfrm>
          <a:prstGeom prst="rect">
            <a:avLst/>
          </a:prstGeom>
          <a:noFill/>
          <a:ln/>
        </p:spPr>
        <p:txBody>
          <a:bodyPr wrap="square" lIns="508" tIns="508" rIns="508" bIns="508" rtlCol="0" anchor="ctr">
            <a:normAutofit/>
          </a:bodyPr>
          <a:lstStyle/>
          <a:p>
            <a:pPr marL="0" indent="0" algn="l">
              <a:buNone/>
            </a:pPr>
            <a:r>
              <a:rPr lang="en-US" sz="1600" b="1" dirty="0">
                <a:solidFill>
                  <a:srgbClr val="14233A"/>
                </a:solidFill>
                <a:latin typeface="Arial" panose="020B0604020202020204" pitchFamily="34" charset="0"/>
                <a:ea typeface="Aptos" pitchFamily="34" charset="-122"/>
                <a:cs typeface="Arial" panose="020B0604020202020204" pitchFamily="34" charset="0"/>
              </a:rPr>
              <a:t>QoS 0 + Clean</a:t>
            </a:r>
            <a:endParaRPr lang="en-US" sz="1600" dirty="0">
              <a:latin typeface="Arial" panose="020B0604020202020204" pitchFamily="34" charset="0"/>
              <a:cs typeface="Arial" panose="020B0604020202020204" pitchFamily="34" charset="0"/>
            </a:endParaRPr>
          </a:p>
        </p:txBody>
      </p:sp>
      <p:sp>
        <p:nvSpPr>
          <p:cNvPr id="9" name="Text 7">
            <a:extLst>
              <a:ext uri="{FF2B5EF4-FFF2-40B4-BE49-F238E27FC236}">
                <a16:creationId xmlns:a16="http://schemas.microsoft.com/office/drawing/2014/main" id="{B0DFFFE5-270E-7E87-BBB7-C3F97DC022D6}"/>
              </a:ext>
            </a:extLst>
          </p:cNvPr>
          <p:cNvSpPr/>
          <p:nvPr/>
        </p:nvSpPr>
        <p:spPr>
          <a:xfrm>
            <a:off x="407106" y="4935772"/>
            <a:ext cx="2728005" cy="417444"/>
          </a:xfrm>
          <a:prstGeom prst="rect">
            <a:avLst/>
          </a:prstGeom>
          <a:noFill/>
          <a:ln/>
        </p:spPr>
        <p:txBody>
          <a:bodyPr wrap="square" lIns="508" tIns="508" rIns="508" bIns="508" rtlCol="0" anchor="ctr">
            <a:normAutofit/>
          </a:bodyPr>
          <a:lstStyle/>
          <a:p>
            <a:pPr marL="0" indent="0" algn="l">
              <a:buNone/>
            </a:pPr>
            <a:r>
              <a:rPr lang="en-US" sz="1030" dirty="0">
                <a:solidFill>
                  <a:srgbClr val="5D6B7B"/>
                </a:solidFill>
                <a:latin typeface="Arial" panose="020B0604020202020204" pitchFamily="34" charset="0"/>
                <a:ea typeface="Aptos" pitchFamily="34" charset="-122"/>
                <a:cs typeface="Arial" panose="020B0604020202020204" pitchFamily="34" charset="0"/>
              </a:rPr>
              <a:t>Separates best-effort loss from persistence behavior.</a:t>
            </a:r>
            <a:endParaRPr lang="en-US" sz="1030" dirty="0">
              <a:latin typeface="Arial" panose="020B0604020202020204" pitchFamily="34" charset="0"/>
              <a:cs typeface="Arial" panose="020B0604020202020204" pitchFamily="34" charset="0"/>
            </a:endParaRPr>
          </a:p>
        </p:txBody>
      </p:sp>
      <p:sp>
        <p:nvSpPr>
          <p:cNvPr id="10" name="Shape 8">
            <a:extLst>
              <a:ext uri="{FF2B5EF4-FFF2-40B4-BE49-F238E27FC236}">
                <a16:creationId xmlns:a16="http://schemas.microsoft.com/office/drawing/2014/main" id="{C23CE974-6E12-6EFD-9F26-7FDDB0C54959}"/>
              </a:ext>
            </a:extLst>
          </p:cNvPr>
          <p:cNvSpPr/>
          <p:nvPr/>
        </p:nvSpPr>
        <p:spPr>
          <a:xfrm>
            <a:off x="3216233" y="4030516"/>
            <a:ext cx="2728005" cy="1436006"/>
          </a:xfrm>
          <a:prstGeom prst="roundRect">
            <a:avLst>
              <a:gd name="adj" fmla="val 3488"/>
            </a:avLst>
          </a:prstGeom>
          <a:solidFill>
            <a:srgbClr val="FFF1E2"/>
          </a:solidFill>
          <a:ln w="12700">
            <a:solidFill>
              <a:srgbClr val="F0C08C"/>
            </a:solidFill>
            <a:prstDash val="solid"/>
          </a:ln>
        </p:spPr>
        <p:txBody>
          <a:bodyPr/>
          <a:lstStyle/>
          <a:p>
            <a:endParaRPr lang="en-US">
              <a:latin typeface="Arial" panose="020B0604020202020204" pitchFamily="34" charset="0"/>
              <a:cs typeface="Arial" panose="020B0604020202020204" pitchFamily="34" charset="0"/>
            </a:endParaRPr>
          </a:p>
        </p:txBody>
      </p:sp>
      <p:sp>
        <p:nvSpPr>
          <p:cNvPr id="11" name="Text 9">
            <a:extLst>
              <a:ext uri="{FF2B5EF4-FFF2-40B4-BE49-F238E27FC236}">
                <a16:creationId xmlns:a16="http://schemas.microsoft.com/office/drawing/2014/main" id="{A6E156CF-308C-E47F-CB8F-6A8679290A85}"/>
              </a:ext>
            </a:extLst>
          </p:cNvPr>
          <p:cNvSpPr/>
          <p:nvPr/>
        </p:nvSpPr>
        <p:spPr>
          <a:xfrm>
            <a:off x="3426544" y="4231684"/>
            <a:ext cx="822731" cy="183675"/>
          </a:xfrm>
          <a:prstGeom prst="rect">
            <a:avLst/>
          </a:prstGeom>
          <a:noFill/>
          <a:ln/>
        </p:spPr>
        <p:txBody>
          <a:bodyPr wrap="square" lIns="508" tIns="508" rIns="508" bIns="508" rtlCol="0" anchor="ctr">
            <a:normAutofit/>
          </a:bodyPr>
          <a:lstStyle/>
          <a:p>
            <a:pPr marL="0" indent="0" algn="l">
              <a:buNone/>
            </a:pPr>
            <a:r>
              <a:rPr lang="en-US" sz="700" b="1" dirty="0">
                <a:solidFill>
                  <a:srgbClr val="F08A24"/>
                </a:solidFill>
                <a:latin typeface="Arial" panose="020B0604020202020204" pitchFamily="34" charset="0"/>
                <a:ea typeface="Aptos" pitchFamily="34" charset="-122"/>
                <a:cs typeface="Arial" panose="020B0604020202020204" pitchFamily="34" charset="0"/>
              </a:rPr>
              <a:t>CONTROL B</a:t>
            </a:r>
            <a:endParaRPr lang="en-US" sz="700" dirty="0">
              <a:latin typeface="Arial" panose="020B0604020202020204" pitchFamily="34" charset="0"/>
              <a:cs typeface="Arial" panose="020B0604020202020204" pitchFamily="34" charset="0"/>
            </a:endParaRPr>
          </a:p>
        </p:txBody>
      </p:sp>
      <p:sp>
        <p:nvSpPr>
          <p:cNvPr id="12" name="Text 10">
            <a:extLst>
              <a:ext uri="{FF2B5EF4-FFF2-40B4-BE49-F238E27FC236}">
                <a16:creationId xmlns:a16="http://schemas.microsoft.com/office/drawing/2014/main" id="{5C265B4E-A62E-1F8C-AB9C-9FEAD9EA82C4}"/>
              </a:ext>
            </a:extLst>
          </p:cNvPr>
          <p:cNvSpPr/>
          <p:nvPr/>
        </p:nvSpPr>
        <p:spPr>
          <a:xfrm>
            <a:off x="3426545" y="4506004"/>
            <a:ext cx="2056828" cy="317257"/>
          </a:xfrm>
          <a:prstGeom prst="rect">
            <a:avLst/>
          </a:prstGeom>
          <a:noFill/>
          <a:ln/>
        </p:spPr>
        <p:txBody>
          <a:bodyPr wrap="square" lIns="508" tIns="508" rIns="508" bIns="508" rtlCol="0" anchor="ctr">
            <a:normAutofit/>
          </a:bodyPr>
          <a:lstStyle/>
          <a:p>
            <a:pPr marL="0" indent="0" algn="l">
              <a:buNone/>
            </a:pPr>
            <a:r>
              <a:rPr lang="en-US" sz="1600" b="1" dirty="0">
                <a:solidFill>
                  <a:srgbClr val="14233A"/>
                </a:solidFill>
                <a:latin typeface="Arial" panose="020B0604020202020204" pitchFamily="34" charset="0"/>
                <a:ea typeface="Aptos" pitchFamily="34" charset="-122"/>
                <a:cs typeface="Arial" panose="020B0604020202020204" pitchFamily="34" charset="0"/>
              </a:rPr>
              <a:t>QoS 1 + Clean</a:t>
            </a:r>
            <a:endParaRPr lang="en-US" sz="1600" dirty="0">
              <a:latin typeface="Arial" panose="020B0604020202020204" pitchFamily="34" charset="0"/>
              <a:cs typeface="Arial" panose="020B0604020202020204" pitchFamily="34" charset="0"/>
            </a:endParaRPr>
          </a:p>
        </p:txBody>
      </p:sp>
      <p:sp>
        <p:nvSpPr>
          <p:cNvPr id="13" name="Text 11">
            <a:extLst>
              <a:ext uri="{FF2B5EF4-FFF2-40B4-BE49-F238E27FC236}">
                <a16:creationId xmlns:a16="http://schemas.microsoft.com/office/drawing/2014/main" id="{60A96666-807F-16CB-4ED9-3E8E93FE7C37}"/>
              </a:ext>
            </a:extLst>
          </p:cNvPr>
          <p:cNvSpPr/>
          <p:nvPr/>
        </p:nvSpPr>
        <p:spPr>
          <a:xfrm>
            <a:off x="3426544" y="4935772"/>
            <a:ext cx="2427057" cy="417444"/>
          </a:xfrm>
          <a:prstGeom prst="rect">
            <a:avLst/>
          </a:prstGeom>
          <a:noFill/>
          <a:ln/>
        </p:spPr>
        <p:txBody>
          <a:bodyPr wrap="square" lIns="508" tIns="508" rIns="508" bIns="508" rtlCol="0" anchor="ctr">
            <a:normAutofit/>
          </a:bodyPr>
          <a:lstStyle/>
          <a:p>
            <a:pPr marL="0" indent="0" algn="l">
              <a:buNone/>
            </a:pPr>
            <a:r>
              <a:rPr lang="en-US" sz="1030" dirty="0">
                <a:solidFill>
                  <a:srgbClr val="5D6B7B"/>
                </a:solidFill>
                <a:latin typeface="Arial" panose="020B0604020202020204" pitchFamily="34" charset="0"/>
                <a:ea typeface="Aptos" pitchFamily="34" charset="-122"/>
                <a:cs typeface="Arial" panose="020B0604020202020204" pitchFamily="34" charset="0"/>
              </a:rPr>
              <a:t>Shows that QoS alone does not preserve offline messages.</a:t>
            </a:r>
            <a:endParaRPr lang="en-US" sz="1030" dirty="0">
              <a:latin typeface="Arial" panose="020B0604020202020204" pitchFamily="34" charset="0"/>
              <a:cs typeface="Arial" panose="020B0604020202020204" pitchFamily="34" charset="0"/>
            </a:endParaRPr>
          </a:p>
        </p:txBody>
      </p:sp>
      <p:sp>
        <p:nvSpPr>
          <p:cNvPr id="14" name="Shape 12">
            <a:extLst>
              <a:ext uri="{FF2B5EF4-FFF2-40B4-BE49-F238E27FC236}">
                <a16:creationId xmlns:a16="http://schemas.microsoft.com/office/drawing/2014/main" id="{B6884129-ABF5-9925-03DD-6478D6BCED3D}"/>
              </a:ext>
            </a:extLst>
          </p:cNvPr>
          <p:cNvSpPr/>
          <p:nvPr/>
        </p:nvSpPr>
        <p:spPr>
          <a:xfrm>
            <a:off x="6235671" y="4030516"/>
            <a:ext cx="2728005" cy="1436006"/>
          </a:xfrm>
          <a:prstGeom prst="roundRect">
            <a:avLst>
              <a:gd name="adj" fmla="val 3488"/>
            </a:avLst>
          </a:prstGeom>
          <a:solidFill>
            <a:srgbClr val="E8F7F0"/>
          </a:solidFill>
          <a:ln w="12700">
            <a:solidFill>
              <a:srgbClr val="A7D8C0"/>
            </a:solidFill>
            <a:prstDash val="solid"/>
          </a:ln>
        </p:spPr>
        <p:txBody>
          <a:bodyPr/>
          <a:lstStyle/>
          <a:p>
            <a:endParaRPr lang="en-US">
              <a:latin typeface="Arial" panose="020B0604020202020204" pitchFamily="34" charset="0"/>
              <a:cs typeface="Arial" panose="020B0604020202020204" pitchFamily="34" charset="0"/>
            </a:endParaRPr>
          </a:p>
        </p:txBody>
      </p:sp>
      <p:sp>
        <p:nvSpPr>
          <p:cNvPr id="15" name="Text 13">
            <a:extLst>
              <a:ext uri="{FF2B5EF4-FFF2-40B4-BE49-F238E27FC236}">
                <a16:creationId xmlns:a16="http://schemas.microsoft.com/office/drawing/2014/main" id="{272DE2AD-703D-0C46-DABE-60DC85DF1C06}"/>
              </a:ext>
            </a:extLst>
          </p:cNvPr>
          <p:cNvSpPr/>
          <p:nvPr/>
        </p:nvSpPr>
        <p:spPr>
          <a:xfrm>
            <a:off x="6445983" y="4231684"/>
            <a:ext cx="739798" cy="183675"/>
          </a:xfrm>
          <a:prstGeom prst="rect">
            <a:avLst/>
          </a:prstGeom>
          <a:noFill/>
          <a:ln/>
        </p:spPr>
        <p:txBody>
          <a:bodyPr wrap="square" lIns="508" tIns="508" rIns="508" bIns="508" rtlCol="0" anchor="ctr">
            <a:normAutofit/>
          </a:bodyPr>
          <a:lstStyle/>
          <a:p>
            <a:pPr marL="0" indent="0" algn="l">
              <a:buNone/>
            </a:pPr>
            <a:r>
              <a:rPr lang="en-US" sz="700" b="1" dirty="0">
                <a:solidFill>
                  <a:srgbClr val="22B573"/>
                </a:solidFill>
                <a:latin typeface="Arial" panose="020B0604020202020204" pitchFamily="34" charset="0"/>
                <a:ea typeface="Aptos" pitchFamily="34" charset="-122"/>
                <a:cs typeface="Arial" panose="020B0604020202020204" pitchFamily="34" charset="0"/>
              </a:rPr>
              <a:t>TARGET</a:t>
            </a:r>
            <a:endParaRPr lang="en-US" sz="700" dirty="0">
              <a:latin typeface="Arial" panose="020B0604020202020204" pitchFamily="34" charset="0"/>
              <a:cs typeface="Arial" panose="020B0604020202020204" pitchFamily="34" charset="0"/>
            </a:endParaRPr>
          </a:p>
        </p:txBody>
      </p:sp>
      <p:sp>
        <p:nvSpPr>
          <p:cNvPr id="16" name="Text 14">
            <a:extLst>
              <a:ext uri="{FF2B5EF4-FFF2-40B4-BE49-F238E27FC236}">
                <a16:creationId xmlns:a16="http://schemas.microsoft.com/office/drawing/2014/main" id="{B740F949-1EAE-1DB4-BCCA-01305EE8782C}"/>
              </a:ext>
            </a:extLst>
          </p:cNvPr>
          <p:cNvSpPr/>
          <p:nvPr/>
        </p:nvSpPr>
        <p:spPr>
          <a:xfrm>
            <a:off x="6445982" y="4506004"/>
            <a:ext cx="2728005" cy="317257"/>
          </a:xfrm>
          <a:prstGeom prst="rect">
            <a:avLst/>
          </a:prstGeom>
          <a:noFill/>
          <a:ln/>
        </p:spPr>
        <p:txBody>
          <a:bodyPr wrap="square" lIns="508" tIns="508" rIns="508" bIns="508" rtlCol="0" anchor="ctr">
            <a:normAutofit/>
          </a:bodyPr>
          <a:lstStyle/>
          <a:p>
            <a:pPr marL="0" indent="0" algn="l">
              <a:buNone/>
            </a:pPr>
            <a:r>
              <a:rPr lang="en-US" sz="1600" b="1" dirty="0">
                <a:solidFill>
                  <a:srgbClr val="14233A"/>
                </a:solidFill>
                <a:latin typeface="Arial" panose="020B0604020202020204" pitchFamily="34" charset="0"/>
                <a:ea typeface="Aptos" pitchFamily="34" charset="-122"/>
                <a:cs typeface="Arial" panose="020B0604020202020204" pitchFamily="34" charset="0"/>
              </a:rPr>
              <a:t>QoS 1 + Persistent</a:t>
            </a:r>
            <a:endParaRPr lang="en-US" sz="1600" dirty="0">
              <a:latin typeface="Arial" panose="020B0604020202020204" pitchFamily="34" charset="0"/>
              <a:cs typeface="Arial" panose="020B0604020202020204" pitchFamily="34" charset="0"/>
            </a:endParaRPr>
          </a:p>
        </p:txBody>
      </p:sp>
      <p:sp>
        <p:nvSpPr>
          <p:cNvPr id="17" name="Text 15">
            <a:extLst>
              <a:ext uri="{FF2B5EF4-FFF2-40B4-BE49-F238E27FC236}">
                <a16:creationId xmlns:a16="http://schemas.microsoft.com/office/drawing/2014/main" id="{39FC2478-797D-D4B5-333E-3EDF177C64CF}"/>
              </a:ext>
            </a:extLst>
          </p:cNvPr>
          <p:cNvSpPr/>
          <p:nvPr/>
        </p:nvSpPr>
        <p:spPr>
          <a:xfrm>
            <a:off x="6445982" y="4935772"/>
            <a:ext cx="2501223" cy="417444"/>
          </a:xfrm>
          <a:prstGeom prst="rect">
            <a:avLst/>
          </a:prstGeom>
          <a:noFill/>
          <a:ln/>
        </p:spPr>
        <p:txBody>
          <a:bodyPr wrap="square" lIns="508" tIns="508" rIns="508" bIns="508" rtlCol="0" anchor="ctr">
            <a:normAutofit/>
          </a:bodyPr>
          <a:lstStyle/>
          <a:p>
            <a:pPr marL="0" indent="0" algn="l">
              <a:buNone/>
            </a:pPr>
            <a:r>
              <a:rPr lang="en-US" sz="1030" dirty="0">
                <a:solidFill>
                  <a:srgbClr val="5D6B7B"/>
                </a:solidFill>
                <a:latin typeface="Arial" panose="020B0604020202020204" pitchFamily="34" charset="0"/>
                <a:ea typeface="Aptos" pitchFamily="34" charset="-122"/>
                <a:cs typeface="Arial" panose="020B0604020202020204" pitchFamily="34" charset="0"/>
              </a:rPr>
              <a:t>Same Client ID after restart; broker maintains session state.</a:t>
            </a:r>
            <a:endParaRPr lang="en-US" sz="103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91179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05003-7EC0-DD44-4B13-C099C920B3DE}"/>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Outage Design</a:t>
            </a:r>
          </a:p>
        </p:txBody>
      </p:sp>
      <p:sp>
        <p:nvSpPr>
          <p:cNvPr id="3" name="Text Placeholder 2">
            <a:extLst>
              <a:ext uri="{FF2B5EF4-FFF2-40B4-BE49-F238E27FC236}">
                <a16:creationId xmlns:a16="http://schemas.microsoft.com/office/drawing/2014/main" id="{A7D8F78A-967E-A445-B2C8-F1A966685FF4}"/>
              </a:ext>
            </a:extLst>
          </p:cNvPr>
          <p:cNvSpPr>
            <a:spLocks noGrp="1"/>
          </p:cNvSpPr>
          <p:nvPr>
            <p:ph type="body" idx="1"/>
          </p:nvPr>
        </p:nvSpPr>
        <p:spPr>
          <a:xfrm>
            <a:off x="139148" y="1649895"/>
            <a:ext cx="3945835" cy="832502"/>
          </a:xfrm>
        </p:spPr>
        <p:txBody>
          <a:bodyPr/>
          <a:lstStyle/>
          <a:p>
            <a:r>
              <a:rPr lang="en-US" sz="1600" b="1" dirty="0">
                <a:solidFill>
                  <a:srgbClr val="FF0000"/>
                </a:solidFill>
                <a:latin typeface="Arial" panose="020B0604020202020204" pitchFamily="34" charset="0"/>
                <a:ea typeface="Aptos" pitchFamily="34" charset="-122"/>
                <a:cs typeface="Arial" panose="020B0604020202020204" pitchFamily="34" charset="0"/>
              </a:rPr>
              <a:t>OFF duration = 100 × (1 − DAR)</a:t>
            </a:r>
          </a:p>
          <a:p>
            <a:r>
              <a:rPr lang="en-US" sz="1600" b="1" dirty="0">
                <a:solidFill>
                  <a:srgbClr val="22B573"/>
                </a:solidFill>
                <a:latin typeface="Aptos" pitchFamily="34" charset="0"/>
                <a:ea typeface="Aptos" pitchFamily="34" charset="-122"/>
                <a:cs typeface="Aptos" pitchFamily="34" charset="-120"/>
              </a:rPr>
              <a:t>ON duration = 100 × DAR</a:t>
            </a:r>
            <a:endParaRPr lang="en-US" sz="1600" dirty="0"/>
          </a:p>
        </p:txBody>
      </p:sp>
      <p:sp>
        <p:nvSpPr>
          <p:cNvPr id="4" name="Slide Number Placeholder 3">
            <a:extLst>
              <a:ext uri="{FF2B5EF4-FFF2-40B4-BE49-F238E27FC236}">
                <a16:creationId xmlns:a16="http://schemas.microsoft.com/office/drawing/2014/main" id="{84DF26B0-338D-5D99-D630-AA632940AEBB}"/>
              </a:ext>
            </a:extLst>
          </p:cNvPr>
          <p:cNvSpPr>
            <a:spLocks noGrp="1"/>
          </p:cNvSpPr>
          <p:nvPr>
            <p:ph type="sldNum" idx="12"/>
          </p:nvPr>
        </p:nvSpPr>
        <p:spPr>
          <a:xfrm>
            <a:off x="3454657" y="6340500"/>
            <a:ext cx="2016026" cy="365100"/>
          </a:xfrm>
        </p:spPr>
        <p:txBody>
          <a:bodyPr/>
          <a:lstStyle/>
          <a:p>
            <a:pPr marL="0" lvl="0" indent="0" algn="ctr" rtl="0">
              <a:spcBef>
                <a:spcPts val="0"/>
              </a:spcBef>
              <a:spcAft>
                <a:spcPts val="0"/>
              </a:spcAft>
              <a:buNone/>
            </a:pPr>
            <a:fld id="{00000000-1234-1234-1234-123412341234}" type="slidenum">
              <a:rPr lang="en-US" smtClean="0">
                <a:latin typeface="Arial" panose="020B0604020202020204" pitchFamily="34" charset="0"/>
                <a:cs typeface="Arial" panose="020B0604020202020204" pitchFamily="34" charset="0"/>
              </a:rPr>
              <a:t>43</a:t>
            </a:fld>
            <a:endParaRPr lang="en-US">
              <a:latin typeface="Arial" panose="020B0604020202020204" pitchFamily="34" charset="0"/>
              <a:cs typeface="Arial" panose="020B0604020202020204" pitchFamily="34" charset="0"/>
            </a:endParaRPr>
          </a:p>
        </p:txBody>
      </p:sp>
      <p:graphicFrame>
        <p:nvGraphicFramePr>
          <p:cNvPr id="5" name="Table 0">
            <a:extLst>
              <a:ext uri="{FF2B5EF4-FFF2-40B4-BE49-F238E27FC236}">
                <a16:creationId xmlns:a16="http://schemas.microsoft.com/office/drawing/2014/main" id="{DD657BA1-BEBC-CFC2-62D3-3949577AD043}"/>
              </a:ext>
            </a:extLst>
          </p:cNvPr>
          <p:cNvGraphicFramePr>
            <a:graphicFrameLocks noGrp="1"/>
          </p:cNvGraphicFramePr>
          <p:nvPr>
            <p:extLst>
              <p:ext uri="{D42A27DB-BD31-4B8C-83A1-F6EECF244321}">
                <p14:modId xmlns:p14="http://schemas.microsoft.com/office/powerpoint/2010/main" val="3687760756"/>
              </p:ext>
            </p:extLst>
          </p:nvPr>
        </p:nvGraphicFramePr>
        <p:xfrm>
          <a:off x="4462670" y="1649895"/>
          <a:ext cx="4658999" cy="2544417"/>
        </p:xfrm>
        <a:graphic>
          <a:graphicData uri="http://schemas.openxmlformats.org/drawingml/2006/table">
            <a:tbl>
              <a:tblPr/>
              <a:tblGrid>
                <a:gridCol w="626165">
                  <a:extLst>
                    <a:ext uri="{9D8B030D-6E8A-4147-A177-3AD203B41FA5}">
                      <a16:colId xmlns:a16="http://schemas.microsoft.com/office/drawing/2014/main" val="20000"/>
                    </a:ext>
                  </a:extLst>
                </a:gridCol>
                <a:gridCol w="1192695">
                  <a:extLst>
                    <a:ext uri="{9D8B030D-6E8A-4147-A177-3AD203B41FA5}">
                      <a16:colId xmlns:a16="http://schemas.microsoft.com/office/drawing/2014/main" val="20001"/>
                    </a:ext>
                  </a:extLst>
                </a:gridCol>
                <a:gridCol w="1033670">
                  <a:extLst>
                    <a:ext uri="{9D8B030D-6E8A-4147-A177-3AD203B41FA5}">
                      <a16:colId xmlns:a16="http://schemas.microsoft.com/office/drawing/2014/main" val="20002"/>
                    </a:ext>
                  </a:extLst>
                </a:gridCol>
                <a:gridCol w="1806469">
                  <a:extLst>
                    <a:ext uri="{9D8B030D-6E8A-4147-A177-3AD203B41FA5}">
                      <a16:colId xmlns:a16="http://schemas.microsoft.com/office/drawing/2014/main" val="20003"/>
                    </a:ext>
                  </a:extLst>
                </a:gridCol>
              </a:tblGrid>
              <a:tr h="436492">
                <a:tc>
                  <a:txBody>
                    <a:bodyPr/>
                    <a:lstStyle/>
                    <a:p>
                      <a:pPr marL="0" indent="0" algn="l">
                        <a:buNone/>
                      </a:pPr>
                      <a:r>
                        <a:rPr lang="en-US" sz="1400" b="1" dirty="0">
                          <a:solidFill>
                            <a:srgbClr val="FFFFFF"/>
                          </a:solidFill>
                          <a:latin typeface="Arial" panose="020B0604020202020204" pitchFamily="34" charset="0"/>
                          <a:ea typeface="Aptos" pitchFamily="34" charset="-122"/>
                          <a:cs typeface="Arial" panose="020B0604020202020204" pitchFamily="34" charset="0"/>
                        </a:rPr>
                        <a:t>DAR</a:t>
                      </a:r>
                      <a:endParaRPr lang="en-US" sz="14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0D2740"/>
                    </a:solidFill>
                  </a:tcPr>
                </a:tc>
                <a:tc>
                  <a:txBody>
                    <a:bodyPr/>
                    <a:lstStyle/>
                    <a:p>
                      <a:pPr marL="0" indent="0" algn="ctr">
                        <a:buNone/>
                      </a:pPr>
                      <a:r>
                        <a:rPr lang="en-US" sz="1400" b="1" dirty="0">
                          <a:solidFill>
                            <a:srgbClr val="FFFFFF"/>
                          </a:solidFill>
                          <a:latin typeface="Arial" panose="020B0604020202020204" pitchFamily="34" charset="0"/>
                          <a:ea typeface="Aptos" pitchFamily="34" charset="-122"/>
                          <a:cs typeface="Arial" panose="020B0604020202020204" pitchFamily="34" charset="0"/>
                        </a:rPr>
                        <a:t>OFF / cycle</a:t>
                      </a:r>
                      <a:endParaRPr lang="en-US" sz="14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0D2740"/>
                    </a:solidFill>
                  </a:tcPr>
                </a:tc>
                <a:tc>
                  <a:txBody>
                    <a:bodyPr/>
                    <a:lstStyle/>
                    <a:p>
                      <a:pPr marL="0" indent="0" algn="ctr">
                        <a:buNone/>
                      </a:pPr>
                      <a:r>
                        <a:rPr lang="en-US" sz="1400" b="1" dirty="0">
                          <a:solidFill>
                            <a:srgbClr val="FFFFFF"/>
                          </a:solidFill>
                          <a:latin typeface="Arial" panose="020B0604020202020204" pitchFamily="34" charset="0"/>
                          <a:ea typeface="Aptos" pitchFamily="34" charset="-122"/>
                          <a:cs typeface="Arial" panose="020B0604020202020204" pitchFamily="34" charset="0"/>
                        </a:rPr>
                        <a:t>ON / cycle</a:t>
                      </a:r>
                      <a:endParaRPr lang="en-US" sz="14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0D2740"/>
                    </a:solidFill>
                  </a:tcPr>
                </a:tc>
                <a:tc>
                  <a:txBody>
                    <a:bodyPr/>
                    <a:lstStyle/>
                    <a:p>
                      <a:pPr marL="0" indent="0" algn="ctr">
                        <a:buNone/>
                      </a:pPr>
                      <a:r>
                        <a:rPr lang="en-US" sz="1400" b="1" dirty="0">
                          <a:solidFill>
                            <a:srgbClr val="FFFFFF"/>
                          </a:solidFill>
                          <a:latin typeface="Arial" panose="020B0604020202020204" pitchFamily="34" charset="0"/>
                          <a:ea typeface="Aptos" pitchFamily="34" charset="-122"/>
                          <a:cs typeface="Arial" panose="020B0604020202020204" pitchFamily="34" charset="0"/>
                        </a:rPr>
                        <a:t>Random OFF start</a:t>
                      </a:r>
                      <a:endParaRPr lang="en-US" sz="14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0D2740"/>
                    </a:solidFill>
                  </a:tcPr>
                </a:tc>
                <a:extLst>
                  <a:ext uri="{0D108BD9-81ED-4DB2-BD59-A6C34878D82A}">
                    <a16:rowId xmlns:a16="http://schemas.microsoft.com/office/drawing/2014/main" val="10000"/>
                  </a:ext>
                </a:extLst>
              </a:tr>
              <a:tr h="421585">
                <a:tc>
                  <a:txBody>
                    <a:bodyPr/>
                    <a:lstStyle/>
                    <a:p>
                      <a:pPr marL="0" indent="0" algn="l">
                        <a:buNone/>
                      </a:pPr>
                      <a:r>
                        <a:rPr lang="en-US" sz="1400" dirty="0">
                          <a:solidFill>
                            <a:srgbClr val="14233A"/>
                          </a:solidFill>
                          <a:latin typeface="Arial" panose="020B0604020202020204" pitchFamily="34" charset="0"/>
                          <a:ea typeface="Aptos" pitchFamily="34" charset="-122"/>
                          <a:cs typeface="Arial" panose="020B0604020202020204" pitchFamily="34" charset="0"/>
                        </a:rPr>
                        <a:t>100%</a:t>
                      </a:r>
                      <a:endParaRPr lang="en-US" sz="14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4233A"/>
                          </a:solidFill>
                          <a:latin typeface="Arial" panose="020B0604020202020204" pitchFamily="34" charset="0"/>
                          <a:ea typeface="Aptos" pitchFamily="34" charset="-122"/>
                          <a:cs typeface="Arial" panose="020B0604020202020204" pitchFamily="34" charset="0"/>
                        </a:rPr>
                        <a:t>0 s</a:t>
                      </a:r>
                      <a:endParaRPr lang="en-US" sz="14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4233A"/>
                          </a:solidFill>
                          <a:latin typeface="Arial" panose="020B0604020202020204" pitchFamily="34" charset="0"/>
                          <a:ea typeface="Aptos" pitchFamily="34" charset="-122"/>
                          <a:cs typeface="Arial" panose="020B0604020202020204" pitchFamily="34" charset="0"/>
                        </a:rPr>
                        <a:t>100 s</a:t>
                      </a:r>
                      <a:endParaRPr lang="en-US" sz="14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4233A"/>
                          </a:solidFill>
                          <a:latin typeface="Arial" panose="020B0604020202020204" pitchFamily="34" charset="0"/>
                          <a:ea typeface="Aptos" pitchFamily="34" charset="-122"/>
                          <a:cs typeface="Arial" panose="020B0604020202020204" pitchFamily="34" charset="0"/>
                        </a:rPr>
                        <a:t>No outage</a:t>
                      </a:r>
                      <a:endParaRPr lang="en-US" sz="14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1585">
                <a:tc>
                  <a:txBody>
                    <a:bodyPr/>
                    <a:lstStyle/>
                    <a:p>
                      <a:pPr marL="0" indent="0" algn="l">
                        <a:buNone/>
                      </a:pPr>
                      <a:r>
                        <a:rPr lang="en-US" sz="1400" dirty="0">
                          <a:solidFill>
                            <a:srgbClr val="14233A"/>
                          </a:solidFill>
                          <a:latin typeface="Arial" panose="020B0604020202020204" pitchFamily="34" charset="0"/>
                          <a:ea typeface="Aptos" pitchFamily="34" charset="-122"/>
                          <a:cs typeface="Arial" panose="020B0604020202020204" pitchFamily="34" charset="0"/>
                        </a:rPr>
                        <a:t>80%</a:t>
                      </a:r>
                      <a:endParaRPr lang="en-US" sz="14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2F6FA"/>
                    </a:solidFill>
                  </a:tcPr>
                </a:tc>
                <a:tc>
                  <a:txBody>
                    <a:bodyPr/>
                    <a:lstStyle/>
                    <a:p>
                      <a:pPr marL="0" indent="0" algn="ctr">
                        <a:buNone/>
                      </a:pPr>
                      <a:r>
                        <a:rPr lang="en-US" sz="1400" dirty="0">
                          <a:solidFill>
                            <a:srgbClr val="14233A"/>
                          </a:solidFill>
                          <a:latin typeface="Arial" panose="020B0604020202020204" pitchFamily="34" charset="0"/>
                          <a:ea typeface="Aptos" pitchFamily="34" charset="-122"/>
                          <a:cs typeface="Arial" panose="020B0604020202020204" pitchFamily="34" charset="0"/>
                        </a:rPr>
                        <a:t>20 s</a:t>
                      </a:r>
                      <a:endParaRPr lang="en-US" sz="14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2F6FA"/>
                    </a:solidFill>
                  </a:tcPr>
                </a:tc>
                <a:tc>
                  <a:txBody>
                    <a:bodyPr/>
                    <a:lstStyle/>
                    <a:p>
                      <a:pPr marL="0" indent="0" algn="ctr">
                        <a:buNone/>
                      </a:pPr>
                      <a:r>
                        <a:rPr lang="en-US" sz="1400" dirty="0">
                          <a:solidFill>
                            <a:srgbClr val="14233A"/>
                          </a:solidFill>
                          <a:latin typeface="Arial" panose="020B0604020202020204" pitchFamily="34" charset="0"/>
                          <a:ea typeface="Aptos" pitchFamily="34" charset="-122"/>
                          <a:cs typeface="Arial" panose="020B0604020202020204" pitchFamily="34" charset="0"/>
                        </a:rPr>
                        <a:t>80 s</a:t>
                      </a:r>
                      <a:endParaRPr lang="en-US" sz="14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2F6FA"/>
                    </a:solidFill>
                  </a:tcPr>
                </a:tc>
                <a:tc>
                  <a:txBody>
                    <a:bodyPr/>
                    <a:lstStyle/>
                    <a:p>
                      <a:pPr marL="0" indent="0" algn="ctr">
                        <a:buNone/>
                      </a:pPr>
                      <a:r>
                        <a:rPr lang="en-US" sz="1400" dirty="0">
                          <a:solidFill>
                            <a:srgbClr val="14233A"/>
                          </a:solidFill>
                          <a:latin typeface="Arial" panose="020B0604020202020204" pitchFamily="34" charset="0"/>
                          <a:ea typeface="Aptos" pitchFamily="34" charset="-122"/>
                          <a:cs typeface="Arial" panose="020B0604020202020204" pitchFamily="34" charset="0"/>
                        </a:rPr>
                        <a:t>U(5, 75) s</a:t>
                      </a:r>
                      <a:endParaRPr lang="en-US" sz="14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2F6FA"/>
                    </a:solidFill>
                  </a:tcPr>
                </a:tc>
                <a:extLst>
                  <a:ext uri="{0D108BD9-81ED-4DB2-BD59-A6C34878D82A}">
                    <a16:rowId xmlns:a16="http://schemas.microsoft.com/office/drawing/2014/main" val="10002"/>
                  </a:ext>
                </a:extLst>
              </a:tr>
              <a:tr h="421585">
                <a:tc>
                  <a:txBody>
                    <a:bodyPr/>
                    <a:lstStyle/>
                    <a:p>
                      <a:pPr marL="0" indent="0" algn="l">
                        <a:buNone/>
                      </a:pPr>
                      <a:r>
                        <a:rPr lang="en-US" sz="1400" dirty="0">
                          <a:solidFill>
                            <a:srgbClr val="14233A"/>
                          </a:solidFill>
                          <a:latin typeface="Arial" panose="020B0604020202020204" pitchFamily="34" charset="0"/>
                          <a:ea typeface="Aptos" pitchFamily="34" charset="-122"/>
                          <a:cs typeface="Arial" panose="020B0604020202020204" pitchFamily="34" charset="0"/>
                        </a:rPr>
                        <a:t>60%</a:t>
                      </a:r>
                      <a:endParaRPr lang="en-US" sz="14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4233A"/>
                          </a:solidFill>
                          <a:latin typeface="Arial" panose="020B0604020202020204" pitchFamily="34" charset="0"/>
                          <a:ea typeface="Aptos" pitchFamily="34" charset="-122"/>
                          <a:cs typeface="Arial" panose="020B0604020202020204" pitchFamily="34" charset="0"/>
                        </a:rPr>
                        <a:t>40 s</a:t>
                      </a:r>
                      <a:endParaRPr lang="en-US" sz="14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4233A"/>
                          </a:solidFill>
                          <a:latin typeface="Arial" panose="020B0604020202020204" pitchFamily="34" charset="0"/>
                          <a:ea typeface="Aptos" pitchFamily="34" charset="-122"/>
                          <a:cs typeface="Arial" panose="020B0604020202020204" pitchFamily="34" charset="0"/>
                        </a:rPr>
                        <a:t>60 s</a:t>
                      </a:r>
                      <a:endParaRPr lang="en-US" sz="14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4233A"/>
                          </a:solidFill>
                          <a:latin typeface="Arial" panose="020B0604020202020204" pitchFamily="34" charset="0"/>
                          <a:ea typeface="Aptos" pitchFamily="34" charset="-122"/>
                          <a:cs typeface="Arial" panose="020B0604020202020204" pitchFamily="34" charset="0"/>
                        </a:rPr>
                        <a:t>U(5, 55) s</a:t>
                      </a:r>
                      <a:endParaRPr lang="en-US" sz="14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1585">
                <a:tc>
                  <a:txBody>
                    <a:bodyPr/>
                    <a:lstStyle/>
                    <a:p>
                      <a:pPr marL="0" indent="0" algn="l">
                        <a:buNone/>
                      </a:pPr>
                      <a:r>
                        <a:rPr lang="en-US" sz="1400" dirty="0">
                          <a:solidFill>
                            <a:srgbClr val="14233A"/>
                          </a:solidFill>
                          <a:latin typeface="Arial" panose="020B0604020202020204" pitchFamily="34" charset="0"/>
                          <a:ea typeface="Aptos" pitchFamily="34" charset="-122"/>
                          <a:cs typeface="Arial" panose="020B0604020202020204" pitchFamily="34" charset="0"/>
                        </a:rPr>
                        <a:t>40%</a:t>
                      </a:r>
                      <a:endParaRPr lang="en-US" sz="14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2F6FA"/>
                    </a:solidFill>
                  </a:tcPr>
                </a:tc>
                <a:tc>
                  <a:txBody>
                    <a:bodyPr/>
                    <a:lstStyle/>
                    <a:p>
                      <a:pPr marL="0" indent="0" algn="ctr">
                        <a:buNone/>
                      </a:pPr>
                      <a:r>
                        <a:rPr lang="en-US" sz="1400" dirty="0">
                          <a:solidFill>
                            <a:srgbClr val="14233A"/>
                          </a:solidFill>
                          <a:latin typeface="Arial" panose="020B0604020202020204" pitchFamily="34" charset="0"/>
                          <a:ea typeface="Aptos" pitchFamily="34" charset="-122"/>
                          <a:cs typeface="Arial" panose="020B0604020202020204" pitchFamily="34" charset="0"/>
                        </a:rPr>
                        <a:t>60 s</a:t>
                      </a:r>
                      <a:endParaRPr lang="en-US" sz="14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2F6FA"/>
                    </a:solidFill>
                  </a:tcPr>
                </a:tc>
                <a:tc>
                  <a:txBody>
                    <a:bodyPr/>
                    <a:lstStyle/>
                    <a:p>
                      <a:pPr marL="0" indent="0" algn="ctr">
                        <a:buNone/>
                      </a:pPr>
                      <a:r>
                        <a:rPr lang="en-US" sz="1400" dirty="0">
                          <a:solidFill>
                            <a:srgbClr val="14233A"/>
                          </a:solidFill>
                          <a:latin typeface="Arial" panose="020B0604020202020204" pitchFamily="34" charset="0"/>
                          <a:ea typeface="Aptos" pitchFamily="34" charset="-122"/>
                          <a:cs typeface="Arial" panose="020B0604020202020204" pitchFamily="34" charset="0"/>
                        </a:rPr>
                        <a:t>40 s</a:t>
                      </a:r>
                      <a:endParaRPr lang="en-US" sz="14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2F6FA"/>
                    </a:solidFill>
                  </a:tcPr>
                </a:tc>
                <a:tc>
                  <a:txBody>
                    <a:bodyPr/>
                    <a:lstStyle/>
                    <a:p>
                      <a:pPr marL="0" indent="0" algn="ctr">
                        <a:buNone/>
                      </a:pPr>
                      <a:r>
                        <a:rPr lang="en-US" sz="1400" dirty="0">
                          <a:solidFill>
                            <a:srgbClr val="14233A"/>
                          </a:solidFill>
                          <a:latin typeface="Arial" panose="020B0604020202020204" pitchFamily="34" charset="0"/>
                          <a:ea typeface="Aptos" pitchFamily="34" charset="-122"/>
                          <a:cs typeface="Arial" panose="020B0604020202020204" pitchFamily="34" charset="0"/>
                        </a:rPr>
                        <a:t>U(5, 35) s</a:t>
                      </a:r>
                      <a:endParaRPr lang="en-US" sz="14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2F6FA"/>
                    </a:solidFill>
                  </a:tcPr>
                </a:tc>
                <a:extLst>
                  <a:ext uri="{0D108BD9-81ED-4DB2-BD59-A6C34878D82A}">
                    <a16:rowId xmlns:a16="http://schemas.microsoft.com/office/drawing/2014/main" val="10004"/>
                  </a:ext>
                </a:extLst>
              </a:tr>
              <a:tr h="421585">
                <a:tc>
                  <a:txBody>
                    <a:bodyPr/>
                    <a:lstStyle/>
                    <a:p>
                      <a:pPr marL="0" indent="0" algn="l">
                        <a:buNone/>
                      </a:pPr>
                      <a:r>
                        <a:rPr lang="en-US" sz="1400" dirty="0">
                          <a:solidFill>
                            <a:srgbClr val="14233A"/>
                          </a:solidFill>
                          <a:latin typeface="Arial" panose="020B0604020202020204" pitchFamily="34" charset="0"/>
                          <a:ea typeface="Aptos" pitchFamily="34" charset="-122"/>
                          <a:cs typeface="Arial" panose="020B0604020202020204" pitchFamily="34" charset="0"/>
                        </a:rPr>
                        <a:t>20%</a:t>
                      </a:r>
                      <a:endParaRPr lang="en-US" sz="14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4233A"/>
                          </a:solidFill>
                          <a:latin typeface="Arial" panose="020B0604020202020204" pitchFamily="34" charset="0"/>
                          <a:ea typeface="Aptos" pitchFamily="34" charset="-122"/>
                          <a:cs typeface="Arial" panose="020B0604020202020204" pitchFamily="34" charset="0"/>
                        </a:rPr>
                        <a:t>80 s</a:t>
                      </a:r>
                      <a:endParaRPr lang="en-US" sz="14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4233A"/>
                          </a:solidFill>
                          <a:latin typeface="Arial" panose="020B0604020202020204" pitchFamily="34" charset="0"/>
                          <a:ea typeface="Aptos" pitchFamily="34" charset="-122"/>
                          <a:cs typeface="Arial" panose="020B0604020202020204" pitchFamily="34" charset="0"/>
                        </a:rPr>
                        <a:t>20 s</a:t>
                      </a:r>
                      <a:endParaRPr lang="en-US" sz="14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4233A"/>
                          </a:solidFill>
                          <a:latin typeface="Arial" panose="020B0604020202020204" pitchFamily="34" charset="0"/>
                          <a:ea typeface="Aptos" pitchFamily="34" charset="-122"/>
                          <a:cs typeface="Arial" panose="020B0604020202020204" pitchFamily="34" charset="0"/>
                        </a:rPr>
                        <a:t>U(5, 15) s</a:t>
                      </a:r>
                      <a:endParaRPr lang="en-US" sz="1400" dirty="0">
                        <a:latin typeface="Arial" panose="020B0604020202020204" pitchFamily="34" charset="0"/>
                        <a:ea typeface="Aptos" charset="0"/>
                        <a:cs typeface="Arial" panose="020B0604020202020204" pitchFamily="34" charset="0"/>
                      </a:endParaRPr>
                    </a:p>
                  </a:txBody>
                  <a:tcPr marL="54864" marR="54864" marT="54864" marB="54864">
                    <a:lnL w="7620" cap="flat" cmpd="sng" algn="ctr">
                      <a:solidFill>
                        <a:srgbClr val="D9E2EC"/>
                      </a:solidFill>
                      <a:prstDash val="solid"/>
                      <a:round/>
                      <a:headEnd type="none" w="med" len="med"/>
                      <a:tailEnd type="none" w="med" len="med"/>
                    </a:lnL>
                    <a:lnR w="7620" cap="flat" cmpd="sng" algn="ctr">
                      <a:solidFill>
                        <a:srgbClr val="D9E2EC"/>
                      </a:solidFill>
                      <a:prstDash val="solid"/>
                      <a:round/>
                      <a:headEnd type="none" w="med" len="med"/>
                      <a:tailEnd type="none" w="med" len="med"/>
                    </a:lnR>
                    <a:lnT w="7620" cap="flat" cmpd="sng" algn="ctr">
                      <a:solidFill>
                        <a:srgbClr val="D9E2EC"/>
                      </a:solidFill>
                      <a:prstDash val="solid"/>
                      <a:round/>
                      <a:headEnd type="none" w="med" len="med"/>
                      <a:tailEnd type="none" w="med" len="med"/>
                    </a:lnT>
                    <a:lnB w="7620" cap="flat" cmpd="sng" algn="ctr">
                      <a:solidFill>
                        <a:srgbClr val="D9E2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Text 12">
            <a:extLst>
              <a:ext uri="{FF2B5EF4-FFF2-40B4-BE49-F238E27FC236}">
                <a16:creationId xmlns:a16="http://schemas.microsoft.com/office/drawing/2014/main" id="{02B7F531-1ADB-BF36-AFA0-4AAA41520CF0}"/>
              </a:ext>
            </a:extLst>
          </p:cNvPr>
          <p:cNvSpPr/>
          <p:nvPr/>
        </p:nvSpPr>
        <p:spPr>
          <a:xfrm>
            <a:off x="457200" y="3452088"/>
            <a:ext cx="3870695" cy="219854"/>
          </a:xfrm>
          <a:prstGeom prst="rect">
            <a:avLst/>
          </a:prstGeom>
          <a:noFill/>
          <a:ln/>
        </p:spPr>
        <p:txBody>
          <a:bodyPr wrap="square" lIns="508" tIns="508" rIns="508" bIns="508" rtlCol="0" anchor="ctr">
            <a:normAutofit fontScale="92500" lnSpcReduction="10000"/>
          </a:bodyPr>
          <a:lstStyle/>
          <a:p>
            <a:pPr marL="0" indent="0" algn="l">
              <a:buNone/>
            </a:pPr>
            <a:r>
              <a:rPr lang="en-US" sz="1600" b="1" dirty="0">
                <a:solidFill>
                  <a:schemeClr val="tx1"/>
                </a:solidFill>
                <a:latin typeface="Arial" panose="020B0604020202020204" pitchFamily="34" charset="0"/>
                <a:ea typeface="Aptos" pitchFamily="34" charset="-122"/>
                <a:cs typeface="Arial" panose="020B0604020202020204" pitchFamily="34" charset="0"/>
              </a:rPr>
              <a:t>Example — 60% DAR, one subscriber</a:t>
            </a:r>
            <a:endParaRPr lang="en-US" sz="1600" dirty="0">
              <a:solidFill>
                <a:schemeClr val="tx1"/>
              </a:solidFill>
              <a:latin typeface="Arial" panose="020B0604020202020204" pitchFamily="34" charset="0"/>
              <a:cs typeface="Arial" panose="020B0604020202020204" pitchFamily="34" charset="0"/>
            </a:endParaRPr>
          </a:p>
        </p:txBody>
      </p:sp>
      <p:sp>
        <p:nvSpPr>
          <p:cNvPr id="12" name="Shape 14">
            <a:extLst>
              <a:ext uri="{FF2B5EF4-FFF2-40B4-BE49-F238E27FC236}">
                <a16:creationId xmlns:a16="http://schemas.microsoft.com/office/drawing/2014/main" id="{02CC1F54-1BB6-30EB-6818-E278B268273E}"/>
              </a:ext>
            </a:extLst>
          </p:cNvPr>
          <p:cNvSpPr/>
          <p:nvPr/>
        </p:nvSpPr>
        <p:spPr>
          <a:xfrm>
            <a:off x="242913" y="3795321"/>
            <a:ext cx="1051560" cy="365760"/>
          </a:xfrm>
          <a:prstGeom prst="rect">
            <a:avLst/>
          </a:prstGeom>
          <a:solidFill>
            <a:srgbClr val="22B573"/>
          </a:solidFill>
          <a:ln w="12700">
            <a:solidFill>
              <a:srgbClr val="22B573"/>
            </a:solidFill>
            <a:prstDash val="solid"/>
          </a:ln>
        </p:spPr>
        <p:txBody>
          <a:bodyPr/>
          <a:lstStyle/>
          <a:p>
            <a:r>
              <a:rPr lang="en-US" dirty="0"/>
              <a:t>ONLINE</a:t>
            </a:r>
          </a:p>
        </p:txBody>
      </p:sp>
      <p:sp>
        <p:nvSpPr>
          <p:cNvPr id="13" name="Shape 15">
            <a:extLst>
              <a:ext uri="{FF2B5EF4-FFF2-40B4-BE49-F238E27FC236}">
                <a16:creationId xmlns:a16="http://schemas.microsoft.com/office/drawing/2014/main" id="{420D1973-9DA8-FF3A-063F-CE0FB9B6C6BC}"/>
              </a:ext>
            </a:extLst>
          </p:cNvPr>
          <p:cNvSpPr/>
          <p:nvPr/>
        </p:nvSpPr>
        <p:spPr>
          <a:xfrm>
            <a:off x="1294473" y="3795321"/>
            <a:ext cx="1554480" cy="365760"/>
          </a:xfrm>
          <a:prstGeom prst="rect">
            <a:avLst/>
          </a:prstGeom>
          <a:solidFill>
            <a:srgbClr val="E84C4C"/>
          </a:solidFill>
          <a:ln w="12700">
            <a:solidFill>
              <a:srgbClr val="E84C4C"/>
            </a:solidFill>
            <a:prstDash val="solid"/>
          </a:ln>
        </p:spPr>
        <p:txBody>
          <a:bodyPr/>
          <a:lstStyle/>
          <a:p>
            <a:r>
              <a:rPr lang="en-US" dirty="0"/>
              <a:t>OFFLINE (40s(</a:t>
            </a:r>
          </a:p>
        </p:txBody>
      </p:sp>
      <p:sp>
        <p:nvSpPr>
          <p:cNvPr id="14" name="Shape 16">
            <a:extLst>
              <a:ext uri="{FF2B5EF4-FFF2-40B4-BE49-F238E27FC236}">
                <a16:creationId xmlns:a16="http://schemas.microsoft.com/office/drawing/2014/main" id="{EC4C83D2-CA5E-BB39-B9FE-3195C795F2DE}"/>
              </a:ext>
            </a:extLst>
          </p:cNvPr>
          <p:cNvSpPr/>
          <p:nvPr/>
        </p:nvSpPr>
        <p:spPr>
          <a:xfrm>
            <a:off x="2848953" y="3795321"/>
            <a:ext cx="1280160" cy="365760"/>
          </a:xfrm>
          <a:prstGeom prst="rect">
            <a:avLst/>
          </a:prstGeom>
          <a:solidFill>
            <a:srgbClr val="22B573"/>
          </a:solidFill>
          <a:ln w="12700">
            <a:solidFill>
              <a:srgbClr val="22B573"/>
            </a:solidFill>
            <a:prstDash val="solid"/>
          </a:ln>
        </p:spPr>
        <p:txBody>
          <a:bodyPr/>
          <a:lstStyle/>
          <a:p>
            <a:r>
              <a:rPr lang="en-US" dirty="0"/>
              <a:t>ONLINE</a:t>
            </a:r>
          </a:p>
        </p:txBody>
      </p:sp>
      <p:sp>
        <p:nvSpPr>
          <p:cNvPr id="15" name="TextBox 14">
            <a:extLst>
              <a:ext uri="{FF2B5EF4-FFF2-40B4-BE49-F238E27FC236}">
                <a16:creationId xmlns:a16="http://schemas.microsoft.com/office/drawing/2014/main" id="{F4193C6A-8FCD-1E4D-545F-CEC487076DEF}"/>
              </a:ext>
            </a:extLst>
          </p:cNvPr>
          <p:cNvSpPr txBox="1"/>
          <p:nvPr/>
        </p:nvSpPr>
        <p:spPr>
          <a:xfrm>
            <a:off x="377688" y="2480144"/>
            <a:ext cx="3518452" cy="738664"/>
          </a:xfrm>
          <a:prstGeom prst="rect">
            <a:avLst/>
          </a:prstGeom>
          <a:noFill/>
        </p:spPr>
        <p:txBody>
          <a:bodyPr wrap="square" rtlCol="0">
            <a:spAutoFit/>
          </a:bodyPr>
          <a:lstStyle/>
          <a:p>
            <a:r>
              <a:rPr lang="en-US" b="1" i="1" dirty="0"/>
              <a:t>U(a, b) s</a:t>
            </a:r>
            <a:r>
              <a:rPr lang="en-US" b="1" dirty="0"/>
              <a:t>:</a:t>
            </a:r>
            <a:r>
              <a:rPr lang="en-US" dirty="0"/>
              <a:t> Randomly select the outage start time between </a:t>
            </a:r>
            <a:r>
              <a:rPr lang="en-US" i="1" dirty="0"/>
              <a:t>a</a:t>
            </a:r>
            <a:r>
              <a:rPr lang="en-US" dirty="0"/>
              <a:t> s and </a:t>
            </a:r>
            <a:r>
              <a:rPr lang="en-US" i="1" dirty="0"/>
              <a:t>b</a:t>
            </a:r>
            <a:r>
              <a:rPr lang="en-US" dirty="0"/>
              <a:t> s within each 100 s cycle.</a:t>
            </a:r>
          </a:p>
        </p:txBody>
      </p:sp>
      <p:sp>
        <p:nvSpPr>
          <p:cNvPr id="16" name="Shape 4">
            <a:extLst>
              <a:ext uri="{FF2B5EF4-FFF2-40B4-BE49-F238E27FC236}">
                <a16:creationId xmlns:a16="http://schemas.microsoft.com/office/drawing/2014/main" id="{179F9BC0-61CA-D982-B38B-295DC70C7F3C}"/>
              </a:ext>
            </a:extLst>
          </p:cNvPr>
          <p:cNvSpPr/>
          <p:nvPr/>
        </p:nvSpPr>
        <p:spPr>
          <a:xfrm>
            <a:off x="88921" y="5028595"/>
            <a:ext cx="1399698" cy="960120"/>
          </a:xfrm>
          <a:prstGeom prst="roundRect">
            <a:avLst>
              <a:gd name="adj" fmla="val 5714"/>
            </a:avLst>
          </a:prstGeom>
          <a:solidFill>
            <a:srgbClr val="EAF3FD"/>
          </a:solidFill>
          <a:ln w="12700">
            <a:solidFill>
              <a:srgbClr val="9FC2E8"/>
            </a:solidFill>
            <a:prstDash val="solid"/>
          </a:ln>
        </p:spPr>
        <p:txBody>
          <a:bodyPr/>
          <a:lstStyle/>
          <a:p>
            <a:endParaRPr lang="en-US">
              <a:latin typeface="Arial" panose="020B0604020202020204" pitchFamily="34" charset="0"/>
              <a:cs typeface="Arial" panose="020B0604020202020204" pitchFamily="34" charset="0"/>
            </a:endParaRPr>
          </a:p>
        </p:txBody>
      </p:sp>
      <p:sp>
        <p:nvSpPr>
          <p:cNvPr id="17" name="Text 5">
            <a:extLst>
              <a:ext uri="{FF2B5EF4-FFF2-40B4-BE49-F238E27FC236}">
                <a16:creationId xmlns:a16="http://schemas.microsoft.com/office/drawing/2014/main" id="{26B62364-29AA-02BA-B6B8-DF972A8D47BB}"/>
              </a:ext>
            </a:extLst>
          </p:cNvPr>
          <p:cNvSpPr/>
          <p:nvPr/>
        </p:nvSpPr>
        <p:spPr>
          <a:xfrm>
            <a:off x="88921" y="5138323"/>
            <a:ext cx="1399698" cy="201168"/>
          </a:xfrm>
          <a:prstGeom prst="rect">
            <a:avLst/>
          </a:prstGeom>
          <a:noFill/>
          <a:ln/>
        </p:spPr>
        <p:txBody>
          <a:bodyPr wrap="square" lIns="508" tIns="508" rIns="508" bIns="508" rtlCol="0" anchor="ctr">
            <a:normAutofit/>
          </a:bodyPr>
          <a:lstStyle/>
          <a:p>
            <a:pPr marL="0" indent="0" algn="ctr">
              <a:buNone/>
            </a:pPr>
            <a:r>
              <a:rPr lang="en-US" sz="700" b="1" dirty="0">
                <a:solidFill>
                  <a:srgbClr val="2A7DE1"/>
                </a:solidFill>
                <a:latin typeface="Arial" panose="020B0604020202020204" pitchFamily="34" charset="0"/>
                <a:ea typeface="Aptos" pitchFamily="34" charset="-122"/>
                <a:cs typeface="Arial" panose="020B0604020202020204" pitchFamily="34" charset="0"/>
              </a:rPr>
              <a:t>WARM-UP</a:t>
            </a:r>
            <a:endParaRPr lang="en-US" sz="700" dirty="0">
              <a:latin typeface="Arial" panose="020B0604020202020204" pitchFamily="34" charset="0"/>
              <a:cs typeface="Arial" panose="020B0604020202020204" pitchFamily="34" charset="0"/>
            </a:endParaRPr>
          </a:p>
        </p:txBody>
      </p:sp>
      <p:sp>
        <p:nvSpPr>
          <p:cNvPr id="18" name="Text 6">
            <a:extLst>
              <a:ext uri="{FF2B5EF4-FFF2-40B4-BE49-F238E27FC236}">
                <a16:creationId xmlns:a16="http://schemas.microsoft.com/office/drawing/2014/main" id="{594F3A38-4DA1-E520-4604-4E4E2C23FA85}"/>
              </a:ext>
            </a:extLst>
          </p:cNvPr>
          <p:cNvSpPr/>
          <p:nvPr/>
        </p:nvSpPr>
        <p:spPr>
          <a:xfrm>
            <a:off x="88921" y="5394355"/>
            <a:ext cx="1399698" cy="292608"/>
          </a:xfrm>
          <a:prstGeom prst="rect">
            <a:avLst/>
          </a:prstGeom>
          <a:noFill/>
          <a:ln/>
        </p:spPr>
        <p:txBody>
          <a:bodyPr wrap="square" lIns="508" tIns="508" rIns="508" bIns="508" rtlCol="0" anchor="ctr">
            <a:normAutofit/>
          </a:bodyPr>
          <a:lstStyle/>
          <a:p>
            <a:pPr marL="0" indent="0" algn="ctr">
              <a:buNone/>
            </a:pPr>
            <a:r>
              <a:rPr lang="en-US" sz="1700" b="1" dirty="0">
                <a:solidFill>
                  <a:srgbClr val="14233A"/>
                </a:solidFill>
                <a:latin typeface="Arial" panose="020B0604020202020204" pitchFamily="34" charset="0"/>
                <a:ea typeface="Aptos" pitchFamily="34" charset="-122"/>
                <a:cs typeface="Arial" panose="020B0604020202020204" pitchFamily="34" charset="0"/>
              </a:rPr>
              <a:t>60 s</a:t>
            </a:r>
            <a:endParaRPr lang="en-US" sz="1700" dirty="0">
              <a:latin typeface="Arial" panose="020B0604020202020204" pitchFamily="34" charset="0"/>
              <a:cs typeface="Arial" panose="020B0604020202020204" pitchFamily="34" charset="0"/>
            </a:endParaRPr>
          </a:p>
        </p:txBody>
      </p:sp>
      <p:sp>
        <p:nvSpPr>
          <p:cNvPr id="19" name="Text 7">
            <a:extLst>
              <a:ext uri="{FF2B5EF4-FFF2-40B4-BE49-F238E27FC236}">
                <a16:creationId xmlns:a16="http://schemas.microsoft.com/office/drawing/2014/main" id="{503E90E3-8FF3-46D6-9095-34F204011C82}"/>
              </a:ext>
            </a:extLst>
          </p:cNvPr>
          <p:cNvSpPr/>
          <p:nvPr/>
        </p:nvSpPr>
        <p:spPr>
          <a:xfrm>
            <a:off x="88921" y="5723539"/>
            <a:ext cx="1399698" cy="164592"/>
          </a:xfrm>
          <a:prstGeom prst="rect">
            <a:avLst/>
          </a:prstGeom>
          <a:noFill/>
          <a:ln/>
        </p:spPr>
        <p:txBody>
          <a:bodyPr wrap="square" lIns="508" tIns="508" rIns="508" bIns="508" rtlCol="0" anchor="ctr">
            <a:normAutofit/>
          </a:bodyPr>
          <a:lstStyle/>
          <a:p>
            <a:pPr marL="0" indent="0" algn="ctr">
              <a:buNone/>
            </a:pPr>
            <a:r>
              <a:rPr lang="en-US" sz="850" dirty="0">
                <a:solidFill>
                  <a:srgbClr val="5D6B7B"/>
                </a:solidFill>
                <a:latin typeface="Arial" panose="020B0604020202020204" pitchFamily="34" charset="0"/>
                <a:ea typeface="Aptos" pitchFamily="34" charset="-122"/>
                <a:cs typeface="Arial" panose="020B0604020202020204" pitchFamily="34" charset="0"/>
              </a:rPr>
              <a:t>All online</a:t>
            </a:r>
            <a:endParaRPr lang="en-US" sz="850" dirty="0">
              <a:latin typeface="Arial" panose="020B0604020202020204" pitchFamily="34" charset="0"/>
              <a:cs typeface="Arial" panose="020B0604020202020204" pitchFamily="34" charset="0"/>
            </a:endParaRPr>
          </a:p>
        </p:txBody>
      </p:sp>
      <p:sp>
        <p:nvSpPr>
          <p:cNvPr id="20" name="Shape 8">
            <a:extLst>
              <a:ext uri="{FF2B5EF4-FFF2-40B4-BE49-F238E27FC236}">
                <a16:creationId xmlns:a16="http://schemas.microsoft.com/office/drawing/2014/main" id="{8822070E-D9E3-076D-CA16-3C390C2F6BD5}"/>
              </a:ext>
            </a:extLst>
          </p:cNvPr>
          <p:cNvSpPr/>
          <p:nvPr/>
        </p:nvSpPr>
        <p:spPr>
          <a:xfrm>
            <a:off x="1560311" y="5532651"/>
            <a:ext cx="345604" cy="0"/>
          </a:xfrm>
          <a:prstGeom prst="line">
            <a:avLst/>
          </a:prstGeom>
          <a:noFill/>
          <a:ln w="17780">
            <a:solidFill>
              <a:srgbClr val="5D6B7B"/>
            </a:solidFill>
            <a:prstDash val="solid"/>
            <a:headEnd type="none"/>
            <a:tailEnd type="triangle"/>
          </a:ln>
        </p:spPr>
        <p:txBody>
          <a:bodyPr/>
          <a:lstStyle/>
          <a:p>
            <a:endParaRPr lang="en-US">
              <a:latin typeface="Arial" panose="020B0604020202020204" pitchFamily="34" charset="0"/>
              <a:cs typeface="Arial" panose="020B0604020202020204" pitchFamily="34" charset="0"/>
            </a:endParaRPr>
          </a:p>
        </p:txBody>
      </p:sp>
      <p:sp>
        <p:nvSpPr>
          <p:cNvPr id="21" name="Shape 9">
            <a:extLst>
              <a:ext uri="{FF2B5EF4-FFF2-40B4-BE49-F238E27FC236}">
                <a16:creationId xmlns:a16="http://schemas.microsoft.com/office/drawing/2014/main" id="{54939F23-E5F0-1048-5F85-4E111C209015}"/>
              </a:ext>
            </a:extLst>
          </p:cNvPr>
          <p:cNvSpPr/>
          <p:nvPr/>
        </p:nvSpPr>
        <p:spPr>
          <a:xfrm>
            <a:off x="1990873" y="5028595"/>
            <a:ext cx="1399699" cy="960120"/>
          </a:xfrm>
          <a:prstGeom prst="roundRect">
            <a:avLst>
              <a:gd name="adj" fmla="val 5714"/>
            </a:avLst>
          </a:prstGeom>
          <a:solidFill>
            <a:srgbClr val="FFFFFF"/>
          </a:solidFill>
          <a:ln w="12700">
            <a:solidFill>
              <a:srgbClr val="B7C7D8"/>
            </a:solidFill>
            <a:prstDash val="solid"/>
          </a:ln>
        </p:spPr>
        <p:txBody>
          <a:bodyPr/>
          <a:lstStyle/>
          <a:p>
            <a:endParaRPr lang="en-US">
              <a:latin typeface="Arial" panose="020B0604020202020204" pitchFamily="34" charset="0"/>
              <a:cs typeface="Arial" panose="020B0604020202020204" pitchFamily="34" charset="0"/>
            </a:endParaRPr>
          </a:p>
        </p:txBody>
      </p:sp>
      <p:sp>
        <p:nvSpPr>
          <p:cNvPr id="22" name="Text 10">
            <a:extLst>
              <a:ext uri="{FF2B5EF4-FFF2-40B4-BE49-F238E27FC236}">
                <a16:creationId xmlns:a16="http://schemas.microsoft.com/office/drawing/2014/main" id="{D78D24BA-4D11-52AA-4547-9231DB1AC4A4}"/>
              </a:ext>
            </a:extLst>
          </p:cNvPr>
          <p:cNvSpPr/>
          <p:nvPr/>
        </p:nvSpPr>
        <p:spPr>
          <a:xfrm>
            <a:off x="1990873" y="5120035"/>
            <a:ext cx="1399699" cy="201168"/>
          </a:xfrm>
          <a:prstGeom prst="rect">
            <a:avLst/>
          </a:prstGeom>
          <a:noFill/>
          <a:ln/>
        </p:spPr>
        <p:txBody>
          <a:bodyPr wrap="square" lIns="508" tIns="508" rIns="508" bIns="508" rtlCol="0" anchor="ctr">
            <a:normAutofit/>
          </a:bodyPr>
          <a:lstStyle/>
          <a:p>
            <a:pPr marL="0" indent="0" algn="ctr">
              <a:buNone/>
            </a:pPr>
            <a:r>
              <a:rPr lang="en-US" sz="700" b="1" dirty="0">
                <a:solidFill>
                  <a:srgbClr val="153A5A"/>
                </a:solidFill>
                <a:latin typeface="Arial" panose="020B0604020202020204" pitchFamily="34" charset="0"/>
                <a:ea typeface="Aptos" pitchFamily="34" charset="-122"/>
                <a:cs typeface="Arial" panose="020B0604020202020204" pitchFamily="34" charset="0"/>
              </a:rPr>
              <a:t>CYCLE 1</a:t>
            </a:r>
            <a:endParaRPr lang="en-US" sz="700" dirty="0">
              <a:latin typeface="Arial" panose="020B0604020202020204" pitchFamily="34" charset="0"/>
              <a:cs typeface="Arial" panose="020B0604020202020204" pitchFamily="34" charset="0"/>
            </a:endParaRPr>
          </a:p>
        </p:txBody>
      </p:sp>
      <p:sp>
        <p:nvSpPr>
          <p:cNvPr id="23" name="Text 11">
            <a:extLst>
              <a:ext uri="{FF2B5EF4-FFF2-40B4-BE49-F238E27FC236}">
                <a16:creationId xmlns:a16="http://schemas.microsoft.com/office/drawing/2014/main" id="{B339FC7A-D1F1-EAB0-1EB5-45D104D78E87}"/>
              </a:ext>
            </a:extLst>
          </p:cNvPr>
          <p:cNvSpPr/>
          <p:nvPr/>
        </p:nvSpPr>
        <p:spPr>
          <a:xfrm>
            <a:off x="1990873" y="5376067"/>
            <a:ext cx="1399699" cy="274320"/>
          </a:xfrm>
          <a:prstGeom prst="rect">
            <a:avLst/>
          </a:prstGeom>
          <a:noFill/>
          <a:ln/>
        </p:spPr>
        <p:txBody>
          <a:bodyPr wrap="square" lIns="508" tIns="508" rIns="508" bIns="508" rtlCol="0" anchor="ctr">
            <a:normAutofit/>
          </a:bodyPr>
          <a:lstStyle/>
          <a:p>
            <a:pPr marL="0" indent="0" algn="ctr">
              <a:buNone/>
            </a:pPr>
            <a:r>
              <a:rPr lang="en-US" sz="1500" b="1" dirty="0">
                <a:solidFill>
                  <a:srgbClr val="14233A"/>
                </a:solidFill>
                <a:latin typeface="Arial" panose="020B0604020202020204" pitchFamily="34" charset="0"/>
                <a:ea typeface="Aptos" pitchFamily="34" charset="-122"/>
                <a:cs typeface="Arial" panose="020B0604020202020204" pitchFamily="34" charset="0"/>
              </a:rPr>
              <a:t>0–100 s</a:t>
            </a:r>
            <a:endParaRPr lang="en-US" sz="1500" dirty="0">
              <a:latin typeface="Arial" panose="020B0604020202020204" pitchFamily="34" charset="0"/>
              <a:cs typeface="Arial" panose="020B0604020202020204" pitchFamily="34" charset="0"/>
            </a:endParaRPr>
          </a:p>
        </p:txBody>
      </p:sp>
      <p:sp>
        <p:nvSpPr>
          <p:cNvPr id="24" name="Text 12">
            <a:extLst>
              <a:ext uri="{FF2B5EF4-FFF2-40B4-BE49-F238E27FC236}">
                <a16:creationId xmlns:a16="http://schemas.microsoft.com/office/drawing/2014/main" id="{8C25C6AA-C076-8DED-FDAC-3BA8F3FCAE2B}"/>
              </a:ext>
            </a:extLst>
          </p:cNvPr>
          <p:cNvSpPr/>
          <p:nvPr/>
        </p:nvSpPr>
        <p:spPr>
          <a:xfrm>
            <a:off x="1990873" y="5732683"/>
            <a:ext cx="1399699" cy="164592"/>
          </a:xfrm>
          <a:prstGeom prst="rect">
            <a:avLst/>
          </a:prstGeom>
          <a:noFill/>
          <a:ln/>
        </p:spPr>
        <p:txBody>
          <a:bodyPr wrap="square" lIns="508" tIns="508" rIns="508" bIns="508" rtlCol="0" anchor="ctr">
            <a:normAutofit/>
          </a:bodyPr>
          <a:lstStyle/>
          <a:p>
            <a:pPr marL="0" indent="0" algn="ctr">
              <a:buNone/>
            </a:pPr>
            <a:r>
              <a:rPr lang="en-US" sz="820" dirty="0">
                <a:solidFill>
                  <a:srgbClr val="5D6B7B"/>
                </a:solidFill>
                <a:latin typeface="Arial" panose="020B0604020202020204" pitchFamily="34" charset="0"/>
                <a:ea typeface="Aptos" pitchFamily="34" charset="-122"/>
                <a:cs typeface="Arial" panose="020B0604020202020204" pitchFamily="34" charset="0"/>
              </a:rPr>
              <a:t>Random outage/client</a:t>
            </a:r>
            <a:endParaRPr lang="en-US" sz="820" dirty="0">
              <a:latin typeface="Arial" panose="020B0604020202020204" pitchFamily="34" charset="0"/>
              <a:cs typeface="Arial" panose="020B0604020202020204" pitchFamily="34" charset="0"/>
            </a:endParaRPr>
          </a:p>
        </p:txBody>
      </p:sp>
      <p:sp>
        <p:nvSpPr>
          <p:cNvPr id="25" name="Shape 13">
            <a:extLst>
              <a:ext uri="{FF2B5EF4-FFF2-40B4-BE49-F238E27FC236}">
                <a16:creationId xmlns:a16="http://schemas.microsoft.com/office/drawing/2014/main" id="{C10C93FB-E22D-09B3-2A4E-8963C3018D23}"/>
              </a:ext>
            </a:extLst>
          </p:cNvPr>
          <p:cNvSpPr/>
          <p:nvPr/>
        </p:nvSpPr>
        <p:spPr>
          <a:xfrm>
            <a:off x="3892826" y="5042652"/>
            <a:ext cx="1399699" cy="960120"/>
          </a:xfrm>
          <a:prstGeom prst="roundRect">
            <a:avLst>
              <a:gd name="adj" fmla="val 5714"/>
            </a:avLst>
          </a:prstGeom>
          <a:solidFill>
            <a:srgbClr val="F3F8FE"/>
          </a:solidFill>
          <a:ln w="12700">
            <a:solidFill>
              <a:srgbClr val="B7C7D8"/>
            </a:solidFill>
            <a:prstDash val="solid"/>
          </a:ln>
        </p:spPr>
        <p:txBody>
          <a:bodyPr/>
          <a:lstStyle/>
          <a:p>
            <a:endParaRPr lang="en-US">
              <a:latin typeface="Arial" panose="020B0604020202020204" pitchFamily="34" charset="0"/>
              <a:cs typeface="Arial" panose="020B0604020202020204" pitchFamily="34" charset="0"/>
            </a:endParaRPr>
          </a:p>
        </p:txBody>
      </p:sp>
      <p:sp>
        <p:nvSpPr>
          <p:cNvPr id="26" name="Text 14">
            <a:extLst>
              <a:ext uri="{FF2B5EF4-FFF2-40B4-BE49-F238E27FC236}">
                <a16:creationId xmlns:a16="http://schemas.microsoft.com/office/drawing/2014/main" id="{9106CC49-2795-A8BD-D297-BC42D5AACB57}"/>
              </a:ext>
            </a:extLst>
          </p:cNvPr>
          <p:cNvSpPr/>
          <p:nvPr/>
        </p:nvSpPr>
        <p:spPr>
          <a:xfrm>
            <a:off x="3892826" y="5134092"/>
            <a:ext cx="1399699" cy="201168"/>
          </a:xfrm>
          <a:prstGeom prst="rect">
            <a:avLst/>
          </a:prstGeom>
          <a:noFill/>
          <a:ln/>
        </p:spPr>
        <p:txBody>
          <a:bodyPr wrap="square" lIns="508" tIns="508" rIns="508" bIns="508" rtlCol="0" anchor="ctr">
            <a:normAutofit/>
          </a:bodyPr>
          <a:lstStyle/>
          <a:p>
            <a:pPr marL="0" indent="0" algn="ctr">
              <a:buNone/>
            </a:pPr>
            <a:r>
              <a:rPr lang="en-US" sz="700" b="1" dirty="0">
                <a:solidFill>
                  <a:srgbClr val="153A5A"/>
                </a:solidFill>
                <a:latin typeface="Arial" panose="020B0604020202020204" pitchFamily="34" charset="0"/>
                <a:ea typeface="Aptos" pitchFamily="34" charset="-122"/>
                <a:cs typeface="Arial" panose="020B0604020202020204" pitchFamily="34" charset="0"/>
              </a:rPr>
              <a:t>CYCLE 2</a:t>
            </a:r>
            <a:endParaRPr lang="en-US" sz="700" dirty="0">
              <a:latin typeface="Arial" panose="020B0604020202020204" pitchFamily="34" charset="0"/>
              <a:cs typeface="Arial" panose="020B0604020202020204" pitchFamily="34" charset="0"/>
            </a:endParaRPr>
          </a:p>
        </p:txBody>
      </p:sp>
      <p:sp>
        <p:nvSpPr>
          <p:cNvPr id="27" name="Text 15">
            <a:extLst>
              <a:ext uri="{FF2B5EF4-FFF2-40B4-BE49-F238E27FC236}">
                <a16:creationId xmlns:a16="http://schemas.microsoft.com/office/drawing/2014/main" id="{FC2FA89A-87A5-CAB8-65E4-05A904721495}"/>
              </a:ext>
            </a:extLst>
          </p:cNvPr>
          <p:cNvSpPr/>
          <p:nvPr/>
        </p:nvSpPr>
        <p:spPr>
          <a:xfrm>
            <a:off x="3892826" y="5390124"/>
            <a:ext cx="1399699" cy="274320"/>
          </a:xfrm>
          <a:prstGeom prst="rect">
            <a:avLst/>
          </a:prstGeom>
          <a:noFill/>
          <a:ln/>
        </p:spPr>
        <p:txBody>
          <a:bodyPr wrap="square" lIns="508" tIns="508" rIns="508" bIns="508" rtlCol="0" anchor="ctr">
            <a:normAutofit/>
          </a:bodyPr>
          <a:lstStyle/>
          <a:p>
            <a:pPr marL="0" indent="0" algn="ctr">
              <a:buNone/>
            </a:pPr>
            <a:r>
              <a:rPr lang="en-US" sz="1500" b="1" dirty="0">
                <a:solidFill>
                  <a:srgbClr val="14233A"/>
                </a:solidFill>
                <a:latin typeface="Arial" panose="020B0604020202020204" pitchFamily="34" charset="0"/>
                <a:ea typeface="Aptos" pitchFamily="34" charset="-122"/>
                <a:cs typeface="Arial" panose="020B0604020202020204" pitchFamily="34" charset="0"/>
              </a:rPr>
              <a:t>100–200 s</a:t>
            </a:r>
            <a:endParaRPr lang="en-US" sz="1500" dirty="0">
              <a:latin typeface="Arial" panose="020B0604020202020204" pitchFamily="34" charset="0"/>
              <a:cs typeface="Arial" panose="020B0604020202020204" pitchFamily="34" charset="0"/>
            </a:endParaRPr>
          </a:p>
        </p:txBody>
      </p:sp>
      <p:sp>
        <p:nvSpPr>
          <p:cNvPr id="28" name="Text 16">
            <a:extLst>
              <a:ext uri="{FF2B5EF4-FFF2-40B4-BE49-F238E27FC236}">
                <a16:creationId xmlns:a16="http://schemas.microsoft.com/office/drawing/2014/main" id="{2B50285E-723D-5018-1BB8-D2B9C9599D80}"/>
              </a:ext>
            </a:extLst>
          </p:cNvPr>
          <p:cNvSpPr/>
          <p:nvPr/>
        </p:nvSpPr>
        <p:spPr>
          <a:xfrm>
            <a:off x="3892826" y="5746740"/>
            <a:ext cx="1399699" cy="164592"/>
          </a:xfrm>
          <a:prstGeom prst="rect">
            <a:avLst/>
          </a:prstGeom>
          <a:noFill/>
          <a:ln/>
        </p:spPr>
        <p:txBody>
          <a:bodyPr wrap="square" lIns="508" tIns="508" rIns="508" bIns="508" rtlCol="0" anchor="ctr">
            <a:normAutofit/>
          </a:bodyPr>
          <a:lstStyle/>
          <a:p>
            <a:pPr marL="0" indent="0" algn="ctr">
              <a:buNone/>
            </a:pPr>
            <a:r>
              <a:rPr lang="en-US" sz="820" dirty="0">
                <a:solidFill>
                  <a:srgbClr val="5D6B7B"/>
                </a:solidFill>
                <a:latin typeface="Arial" panose="020B0604020202020204" pitchFamily="34" charset="0"/>
                <a:ea typeface="Aptos" pitchFamily="34" charset="-122"/>
                <a:cs typeface="Arial" panose="020B0604020202020204" pitchFamily="34" charset="0"/>
              </a:rPr>
              <a:t>Random outage/client</a:t>
            </a:r>
            <a:endParaRPr lang="en-US" sz="820" dirty="0">
              <a:latin typeface="Arial" panose="020B0604020202020204" pitchFamily="34" charset="0"/>
              <a:cs typeface="Arial" panose="020B0604020202020204" pitchFamily="34" charset="0"/>
            </a:endParaRPr>
          </a:p>
        </p:txBody>
      </p:sp>
      <p:sp>
        <p:nvSpPr>
          <p:cNvPr id="29" name="Shape 17">
            <a:extLst>
              <a:ext uri="{FF2B5EF4-FFF2-40B4-BE49-F238E27FC236}">
                <a16:creationId xmlns:a16="http://schemas.microsoft.com/office/drawing/2014/main" id="{94A86389-D1F3-1BA3-C5EB-280F3E729F81}"/>
              </a:ext>
            </a:extLst>
          </p:cNvPr>
          <p:cNvSpPr/>
          <p:nvPr/>
        </p:nvSpPr>
        <p:spPr>
          <a:xfrm>
            <a:off x="5753430" y="5028595"/>
            <a:ext cx="1399699" cy="960120"/>
          </a:xfrm>
          <a:prstGeom prst="roundRect">
            <a:avLst>
              <a:gd name="adj" fmla="val 5714"/>
            </a:avLst>
          </a:prstGeom>
          <a:solidFill>
            <a:srgbClr val="FFFFFF"/>
          </a:solidFill>
          <a:ln w="12700">
            <a:solidFill>
              <a:srgbClr val="B7C7D8"/>
            </a:solidFill>
            <a:prstDash val="solid"/>
          </a:ln>
        </p:spPr>
        <p:txBody>
          <a:bodyPr/>
          <a:lstStyle/>
          <a:p>
            <a:endParaRPr lang="en-US">
              <a:latin typeface="Arial" panose="020B0604020202020204" pitchFamily="34" charset="0"/>
              <a:cs typeface="Arial" panose="020B0604020202020204" pitchFamily="34" charset="0"/>
            </a:endParaRPr>
          </a:p>
        </p:txBody>
      </p:sp>
      <p:sp>
        <p:nvSpPr>
          <p:cNvPr id="30" name="Text 18">
            <a:extLst>
              <a:ext uri="{FF2B5EF4-FFF2-40B4-BE49-F238E27FC236}">
                <a16:creationId xmlns:a16="http://schemas.microsoft.com/office/drawing/2014/main" id="{705FA387-3670-CD1B-2498-818E8C60FF8B}"/>
              </a:ext>
            </a:extLst>
          </p:cNvPr>
          <p:cNvSpPr/>
          <p:nvPr/>
        </p:nvSpPr>
        <p:spPr>
          <a:xfrm>
            <a:off x="5753430" y="5120035"/>
            <a:ext cx="1399699" cy="201168"/>
          </a:xfrm>
          <a:prstGeom prst="rect">
            <a:avLst/>
          </a:prstGeom>
          <a:noFill/>
          <a:ln/>
        </p:spPr>
        <p:txBody>
          <a:bodyPr wrap="square" lIns="508" tIns="508" rIns="508" bIns="508" rtlCol="0" anchor="ctr">
            <a:normAutofit/>
          </a:bodyPr>
          <a:lstStyle/>
          <a:p>
            <a:pPr marL="0" indent="0" algn="ctr">
              <a:buNone/>
            </a:pPr>
            <a:r>
              <a:rPr lang="en-US" sz="700" b="1" dirty="0">
                <a:solidFill>
                  <a:srgbClr val="153A5A"/>
                </a:solidFill>
                <a:latin typeface="Arial" panose="020B0604020202020204" pitchFamily="34" charset="0"/>
                <a:ea typeface="Aptos" pitchFamily="34" charset="-122"/>
                <a:cs typeface="Arial" panose="020B0604020202020204" pitchFamily="34" charset="0"/>
              </a:rPr>
              <a:t>CYCLE 3</a:t>
            </a:r>
            <a:endParaRPr lang="en-US" sz="700" dirty="0">
              <a:latin typeface="Arial" panose="020B0604020202020204" pitchFamily="34" charset="0"/>
              <a:cs typeface="Arial" panose="020B0604020202020204" pitchFamily="34" charset="0"/>
            </a:endParaRPr>
          </a:p>
        </p:txBody>
      </p:sp>
      <p:sp>
        <p:nvSpPr>
          <p:cNvPr id="31" name="Text 19">
            <a:extLst>
              <a:ext uri="{FF2B5EF4-FFF2-40B4-BE49-F238E27FC236}">
                <a16:creationId xmlns:a16="http://schemas.microsoft.com/office/drawing/2014/main" id="{9EC52C02-5232-C23F-5E78-33FB749F3CA7}"/>
              </a:ext>
            </a:extLst>
          </p:cNvPr>
          <p:cNvSpPr/>
          <p:nvPr/>
        </p:nvSpPr>
        <p:spPr>
          <a:xfrm>
            <a:off x="5753430" y="5376067"/>
            <a:ext cx="1399699" cy="274320"/>
          </a:xfrm>
          <a:prstGeom prst="rect">
            <a:avLst/>
          </a:prstGeom>
          <a:noFill/>
          <a:ln/>
        </p:spPr>
        <p:txBody>
          <a:bodyPr wrap="square" lIns="508" tIns="508" rIns="508" bIns="508" rtlCol="0" anchor="ctr">
            <a:normAutofit/>
          </a:bodyPr>
          <a:lstStyle/>
          <a:p>
            <a:pPr marL="0" indent="0" algn="ctr">
              <a:buNone/>
            </a:pPr>
            <a:r>
              <a:rPr lang="en-US" sz="1500" b="1" dirty="0">
                <a:solidFill>
                  <a:srgbClr val="14233A"/>
                </a:solidFill>
                <a:latin typeface="Arial" panose="020B0604020202020204" pitchFamily="34" charset="0"/>
                <a:ea typeface="Aptos" pitchFamily="34" charset="-122"/>
                <a:cs typeface="Arial" panose="020B0604020202020204" pitchFamily="34" charset="0"/>
              </a:rPr>
              <a:t>200–300 s</a:t>
            </a:r>
            <a:endParaRPr lang="en-US" sz="1500" dirty="0">
              <a:latin typeface="Arial" panose="020B0604020202020204" pitchFamily="34" charset="0"/>
              <a:cs typeface="Arial" panose="020B0604020202020204" pitchFamily="34" charset="0"/>
            </a:endParaRPr>
          </a:p>
        </p:txBody>
      </p:sp>
      <p:sp>
        <p:nvSpPr>
          <p:cNvPr id="32" name="Text 20">
            <a:extLst>
              <a:ext uri="{FF2B5EF4-FFF2-40B4-BE49-F238E27FC236}">
                <a16:creationId xmlns:a16="http://schemas.microsoft.com/office/drawing/2014/main" id="{12540496-55E3-463D-01CF-07FDB767F73C}"/>
              </a:ext>
            </a:extLst>
          </p:cNvPr>
          <p:cNvSpPr/>
          <p:nvPr/>
        </p:nvSpPr>
        <p:spPr>
          <a:xfrm>
            <a:off x="5753430" y="5732683"/>
            <a:ext cx="1399699" cy="164592"/>
          </a:xfrm>
          <a:prstGeom prst="rect">
            <a:avLst/>
          </a:prstGeom>
          <a:noFill/>
          <a:ln/>
        </p:spPr>
        <p:txBody>
          <a:bodyPr wrap="square" lIns="508" tIns="508" rIns="508" bIns="508" rtlCol="0" anchor="ctr">
            <a:normAutofit/>
          </a:bodyPr>
          <a:lstStyle/>
          <a:p>
            <a:pPr marL="0" indent="0" algn="ctr">
              <a:buNone/>
            </a:pPr>
            <a:r>
              <a:rPr lang="en-US" sz="820" dirty="0">
                <a:solidFill>
                  <a:srgbClr val="5D6B7B"/>
                </a:solidFill>
                <a:latin typeface="Arial" panose="020B0604020202020204" pitchFamily="34" charset="0"/>
                <a:ea typeface="Aptos" pitchFamily="34" charset="-122"/>
                <a:cs typeface="Arial" panose="020B0604020202020204" pitchFamily="34" charset="0"/>
              </a:rPr>
              <a:t>Random outage/client</a:t>
            </a:r>
            <a:endParaRPr lang="en-US" sz="820" dirty="0">
              <a:latin typeface="Arial" panose="020B0604020202020204" pitchFamily="34" charset="0"/>
              <a:cs typeface="Arial" panose="020B0604020202020204" pitchFamily="34" charset="0"/>
            </a:endParaRPr>
          </a:p>
        </p:txBody>
      </p:sp>
      <p:sp>
        <p:nvSpPr>
          <p:cNvPr id="34" name="Shape 22">
            <a:extLst>
              <a:ext uri="{FF2B5EF4-FFF2-40B4-BE49-F238E27FC236}">
                <a16:creationId xmlns:a16="http://schemas.microsoft.com/office/drawing/2014/main" id="{19F0B89D-7CDE-5FD8-2818-EAAF30F7F3C4}"/>
              </a:ext>
            </a:extLst>
          </p:cNvPr>
          <p:cNvSpPr/>
          <p:nvPr/>
        </p:nvSpPr>
        <p:spPr>
          <a:xfrm>
            <a:off x="7498733" y="5042520"/>
            <a:ext cx="1399699" cy="960120"/>
          </a:xfrm>
          <a:prstGeom prst="roundRect">
            <a:avLst>
              <a:gd name="adj" fmla="val 5714"/>
            </a:avLst>
          </a:prstGeom>
          <a:solidFill>
            <a:srgbClr val="E8F7F0"/>
          </a:solidFill>
          <a:ln w="12700">
            <a:solidFill>
              <a:srgbClr val="A1D3BA"/>
            </a:solidFill>
            <a:prstDash val="solid"/>
          </a:ln>
        </p:spPr>
        <p:txBody>
          <a:bodyPr/>
          <a:lstStyle/>
          <a:p>
            <a:endParaRPr lang="en-US">
              <a:latin typeface="Arial" panose="020B0604020202020204" pitchFamily="34" charset="0"/>
              <a:cs typeface="Arial" panose="020B0604020202020204" pitchFamily="34" charset="0"/>
            </a:endParaRPr>
          </a:p>
        </p:txBody>
      </p:sp>
      <p:sp>
        <p:nvSpPr>
          <p:cNvPr id="35" name="Text 23">
            <a:extLst>
              <a:ext uri="{FF2B5EF4-FFF2-40B4-BE49-F238E27FC236}">
                <a16:creationId xmlns:a16="http://schemas.microsoft.com/office/drawing/2014/main" id="{1B181E33-8CDE-A301-5F49-F86965CDD9EA}"/>
              </a:ext>
            </a:extLst>
          </p:cNvPr>
          <p:cNvSpPr/>
          <p:nvPr/>
        </p:nvSpPr>
        <p:spPr>
          <a:xfrm>
            <a:off x="7498733" y="5152248"/>
            <a:ext cx="1399699" cy="201168"/>
          </a:xfrm>
          <a:prstGeom prst="rect">
            <a:avLst/>
          </a:prstGeom>
          <a:noFill/>
          <a:ln/>
        </p:spPr>
        <p:txBody>
          <a:bodyPr wrap="square" lIns="508" tIns="508" rIns="508" bIns="508" rtlCol="0" anchor="ctr">
            <a:normAutofit/>
          </a:bodyPr>
          <a:lstStyle/>
          <a:p>
            <a:pPr marL="0" indent="0" algn="ctr">
              <a:buNone/>
            </a:pPr>
            <a:r>
              <a:rPr lang="en-US" sz="700" b="1" dirty="0">
                <a:solidFill>
                  <a:srgbClr val="22B573"/>
                </a:solidFill>
                <a:latin typeface="Arial" panose="020B0604020202020204" pitchFamily="34" charset="0"/>
                <a:ea typeface="Aptos" pitchFamily="34" charset="-122"/>
                <a:cs typeface="Arial" panose="020B0604020202020204" pitchFamily="34" charset="0"/>
              </a:rPr>
              <a:t>FINAL DRAIN</a:t>
            </a:r>
            <a:endParaRPr lang="en-US" sz="700" dirty="0">
              <a:latin typeface="Arial" panose="020B0604020202020204" pitchFamily="34" charset="0"/>
              <a:cs typeface="Arial" panose="020B0604020202020204" pitchFamily="34" charset="0"/>
            </a:endParaRPr>
          </a:p>
        </p:txBody>
      </p:sp>
      <p:sp>
        <p:nvSpPr>
          <p:cNvPr id="36" name="Text 24">
            <a:extLst>
              <a:ext uri="{FF2B5EF4-FFF2-40B4-BE49-F238E27FC236}">
                <a16:creationId xmlns:a16="http://schemas.microsoft.com/office/drawing/2014/main" id="{74465316-7656-20E2-075A-C08F136BC04D}"/>
              </a:ext>
            </a:extLst>
          </p:cNvPr>
          <p:cNvSpPr/>
          <p:nvPr/>
        </p:nvSpPr>
        <p:spPr>
          <a:xfrm>
            <a:off x="7498733" y="5408280"/>
            <a:ext cx="1399699" cy="292608"/>
          </a:xfrm>
          <a:prstGeom prst="rect">
            <a:avLst/>
          </a:prstGeom>
          <a:noFill/>
          <a:ln/>
        </p:spPr>
        <p:txBody>
          <a:bodyPr wrap="square" lIns="508" tIns="508" rIns="508" bIns="508" rtlCol="0" anchor="ctr">
            <a:normAutofit/>
          </a:bodyPr>
          <a:lstStyle/>
          <a:p>
            <a:pPr marL="0" indent="0" algn="ctr">
              <a:buNone/>
            </a:pPr>
            <a:r>
              <a:rPr lang="en-US" sz="1700" b="1" dirty="0">
                <a:solidFill>
                  <a:srgbClr val="14233A"/>
                </a:solidFill>
                <a:latin typeface="Arial" panose="020B0604020202020204" pitchFamily="34" charset="0"/>
                <a:ea typeface="Aptos" pitchFamily="34" charset="-122"/>
                <a:cs typeface="Arial" panose="020B0604020202020204" pitchFamily="34" charset="0"/>
              </a:rPr>
              <a:t>120 s</a:t>
            </a:r>
            <a:endParaRPr lang="en-US" sz="1700" dirty="0">
              <a:latin typeface="Arial" panose="020B0604020202020204" pitchFamily="34" charset="0"/>
              <a:cs typeface="Arial" panose="020B0604020202020204" pitchFamily="34" charset="0"/>
            </a:endParaRPr>
          </a:p>
        </p:txBody>
      </p:sp>
      <p:sp>
        <p:nvSpPr>
          <p:cNvPr id="37" name="Text 25">
            <a:extLst>
              <a:ext uri="{FF2B5EF4-FFF2-40B4-BE49-F238E27FC236}">
                <a16:creationId xmlns:a16="http://schemas.microsoft.com/office/drawing/2014/main" id="{641303B4-7290-099A-6FE9-CC12958E2990}"/>
              </a:ext>
            </a:extLst>
          </p:cNvPr>
          <p:cNvSpPr/>
          <p:nvPr/>
        </p:nvSpPr>
        <p:spPr>
          <a:xfrm>
            <a:off x="7635893" y="5737464"/>
            <a:ext cx="1204393" cy="164592"/>
          </a:xfrm>
          <a:prstGeom prst="rect">
            <a:avLst/>
          </a:prstGeom>
          <a:noFill/>
          <a:ln/>
        </p:spPr>
        <p:txBody>
          <a:bodyPr wrap="square" lIns="508" tIns="508" rIns="508" bIns="508" rtlCol="0" anchor="ctr">
            <a:normAutofit fontScale="92500"/>
          </a:bodyPr>
          <a:lstStyle/>
          <a:p>
            <a:pPr marL="0" indent="0" algn="ctr">
              <a:buNone/>
            </a:pPr>
            <a:r>
              <a:rPr lang="en-US" sz="780" dirty="0">
                <a:solidFill>
                  <a:srgbClr val="5D6B7B"/>
                </a:solidFill>
                <a:latin typeface="Arial" panose="020B0604020202020204" pitchFamily="34" charset="0"/>
                <a:ea typeface="Aptos" pitchFamily="34" charset="-122"/>
                <a:cs typeface="Arial" panose="020B0604020202020204" pitchFamily="34" charset="0"/>
              </a:rPr>
              <a:t>All online • publishing stopped</a:t>
            </a:r>
            <a:endParaRPr lang="en-US" sz="780" dirty="0">
              <a:latin typeface="Arial" panose="020B0604020202020204" pitchFamily="34" charset="0"/>
              <a:cs typeface="Arial" panose="020B0604020202020204" pitchFamily="34" charset="0"/>
            </a:endParaRPr>
          </a:p>
        </p:txBody>
      </p:sp>
      <p:sp>
        <p:nvSpPr>
          <p:cNvPr id="38" name="Shape 8">
            <a:extLst>
              <a:ext uri="{FF2B5EF4-FFF2-40B4-BE49-F238E27FC236}">
                <a16:creationId xmlns:a16="http://schemas.microsoft.com/office/drawing/2014/main" id="{B1E697FF-2548-5497-7A7F-BC0BDC314235}"/>
              </a:ext>
            </a:extLst>
          </p:cNvPr>
          <p:cNvSpPr/>
          <p:nvPr/>
        </p:nvSpPr>
        <p:spPr>
          <a:xfrm>
            <a:off x="3454657" y="5532651"/>
            <a:ext cx="345604" cy="0"/>
          </a:xfrm>
          <a:prstGeom prst="line">
            <a:avLst/>
          </a:prstGeom>
          <a:noFill/>
          <a:ln w="17780">
            <a:solidFill>
              <a:srgbClr val="5D6B7B"/>
            </a:solidFill>
            <a:prstDash val="solid"/>
            <a:headEnd type="none"/>
            <a:tailEnd type="triangle"/>
          </a:ln>
        </p:spPr>
        <p:txBody>
          <a:bodyPr/>
          <a:lstStyle/>
          <a:p>
            <a:endParaRPr lang="en-US">
              <a:latin typeface="Arial" panose="020B0604020202020204" pitchFamily="34" charset="0"/>
              <a:cs typeface="Arial" panose="020B0604020202020204" pitchFamily="34" charset="0"/>
            </a:endParaRPr>
          </a:p>
        </p:txBody>
      </p:sp>
      <p:sp>
        <p:nvSpPr>
          <p:cNvPr id="39" name="Shape 8">
            <a:extLst>
              <a:ext uri="{FF2B5EF4-FFF2-40B4-BE49-F238E27FC236}">
                <a16:creationId xmlns:a16="http://schemas.microsoft.com/office/drawing/2014/main" id="{E9693E29-564C-2F1D-32C4-283A0CDD3D22}"/>
              </a:ext>
            </a:extLst>
          </p:cNvPr>
          <p:cNvSpPr/>
          <p:nvPr/>
        </p:nvSpPr>
        <p:spPr>
          <a:xfrm>
            <a:off x="5407826" y="5532651"/>
            <a:ext cx="345604" cy="0"/>
          </a:xfrm>
          <a:prstGeom prst="line">
            <a:avLst/>
          </a:prstGeom>
          <a:noFill/>
          <a:ln w="17780">
            <a:solidFill>
              <a:srgbClr val="5D6B7B"/>
            </a:solidFill>
            <a:prstDash val="solid"/>
            <a:headEnd type="none"/>
            <a:tailEnd type="triangle"/>
          </a:ln>
        </p:spPr>
        <p:txBody>
          <a:bodyPr/>
          <a:lstStyle/>
          <a:p>
            <a:endParaRPr lang="en-US">
              <a:latin typeface="Arial" panose="020B0604020202020204" pitchFamily="34" charset="0"/>
              <a:cs typeface="Arial" panose="020B0604020202020204" pitchFamily="34" charset="0"/>
            </a:endParaRPr>
          </a:p>
        </p:txBody>
      </p:sp>
      <p:sp>
        <p:nvSpPr>
          <p:cNvPr id="40" name="Shape 8">
            <a:extLst>
              <a:ext uri="{FF2B5EF4-FFF2-40B4-BE49-F238E27FC236}">
                <a16:creationId xmlns:a16="http://schemas.microsoft.com/office/drawing/2014/main" id="{5D516A60-671E-86DF-E192-B8681EA8FE64}"/>
              </a:ext>
            </a:extLst>
          </p:cNvPr>
          <p:cNvSpPr/>
          <p:nvPr/>
        </p:nvSpPr>
        <p:spPr>
          <a:xfrm>
            <a:off x="7153129" y="5522580"/>
            <a:ext cx="345604" cy="0"/>
          </a:xfrm>
          <a:prstGeom prst="line">
            <a:avLst/>
          </a:prstGeom>
          <a:noFill/>
          <a:ln w="17780">
            <a:solidFill>
              <a:srgbClr val="5D6B7B"/>
            </a:solidFill>
            <a:prstDash val="solid"/>
            <a:headEnd type="none"/>
            <a:tailEnd type="triangle"/>
          </a:ln>
        </p:spPr>
        <p:txBody>
          <a:bodyPr/>
          <a:lstStyle/>
          <a:p>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726763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981DE-2B8D-1128-7E73-A1FF554EA339}"/>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Three independent runs</a:t>
            </a:r>
          </a:p>
        </p:txBody>
      </p:sp>
      <p:sp>
        <p:nvSpPr>
          <p:cNvPr id="3" name="Text Placeholder 2">
            <a:extLst>
              <a:ext uri="{FF2B5EF4-FFF2-40B4-BE49-F238E27FC236}">
                <a16:creationId xmlns:a16="http://schemas.microsoft.com/office/drawing/2014/main" id="{E46EB278-C0E9-3266-704B-9B82521F0FD2}"/>
              </a:ext>
            </a:extLst>
          </p:cNvPr>
          <p:cNvSpPr>
            <a:spLocks noGrp="1"/>
          </p:cNvSpPr>
          <p:nvPr>
            <p:ph type="body" idx="1"/>
          </p:nvPr>
        </p:nvSpPr>
        <p:spPr>
          <a:xfrm>
            <a:off x="457200" y="1600200"/>
            <a:ext cx="8229600" cy="832105"/>
          </a:xfrm>
        </p:spPr>
        <p:txBody>
          <a:bodyPr>
            <a:normAutofit/>
          </a:bodyPr>
          <a:lstStyle/>
          <a:p>
            <a:r>
              <a:rPr lang="en-US" sz="2000" dirty="0">
                <a:solidFill>
                  <a:srgbClr val="14233A"/>
                </a:solidFill>
                <a:latin typeface="Arial" panose="020B0604020202020204" pitchFamily="34" charset="0"/>
                <a:ea typeface="Aptos" pitchFamily="34" charset="-122"/>
                <a:cs typeface="Arial" panose="020B0604020202020204" pitchFamily="34" charset="0"/>
              </a:rPr>
              <a:t>Use three fixed random seeds. A seed generates the complete 1000-subscriber × 3-cycle outage schedule.</a:t>
            </a:r>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D171217-68B6-B626-9810-75BF3AD7CDC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latin typeface="Arial" panose="020B0604020202020204" pitchFamily="34" charset="0"/>
                <a:cs typeface="Arial" panose="020B0604020202020204" pitchFamily="34" charset="0"/>
              </a:rPr>
              <a:t>44</a:t>
            </a:fld>
            <a:endParaRPr lang="en-US">
              <a:latin typeface="Arial" panose="020B0604020202020204" pitchFamily="34" charset="0"/>
              <a:cs typeface="Arial" panose="020B0604020202020204" pitchFamily="34" charset="0"/>
            </a:endParaRPr>
          </a:p>
        </p:txBody>
      </p:sp>
      <p:sp>
        <p:nvSpPr>
          <p:cNvPr id="5" name="Shape 5">
            <a:extLst>
              <a:ext uri="{FF2B5EF4-FFF2-40B4-BE49-F238E27FC236}">
                <a16:creationId xmlns:a16="http://schemas.microsoft.com/office/drawing/2014/main" id="{78BBFBF9-A8D2-D096-3B74-155FFF6D4CD0}"/>
              </a:ext>
            </a:extLst>
          </p:cNvPr>
          <p:cNvSpPr/>
          <p:nvPr/>
        </p:nvSpPr>
        <p:spPr>
          <a:xfrm>
            <a:off x="517033" y="2903458"/>
            <a:ext cx="2079664" cy="1490869"/>
          </a:xfrm>
          <a:prstGeom prst="roundRect">
            <a:avLst>
              <a:gd name="adj" fmla="val 3871"/>
            </a:avLst>
          </a:prstGeom>
          <a:solidFill>
            <a:srgbClr val="FFFFFF"/>
          </a:solidFill>
          <a:ln w="12700">
            <a:solidFill>
              <a:srgbClr val="D7E0EA"/>
            </a:solidFill>
            <a:prstDash val="solid"/>
          </a:ln>
        </p:spPr>
        <p:txBody>
          <a:bodyPr/>
          <a:lstStyle/>
          <a:p>
            <a:endParaRPr lang="en-US">
              <a:latin typeface="Arial" panose="020B0604020202020204" pitchFamily="34" charset="0"/>
              <a:cs typeface="Arial" panose="020B0604020202020204" pitchFamily="34" charset="0"/>
            </a:endParaRPr>
          </a:p>
        </p:txBody>
      </p:sp>
      <p:sp>
        <p:nvSpPr>
          <p:cNvPr id="6" name="Shape 6">
            <a:extLst>
              <a:ext uri="{FF2B5EF4-FFF2-40B4-BE49-F238E27FC236}">
                <a16:creationId xmlns:a16="http://schemas.microsoft.com/office/drawing/2014/main" id="{E4687322-4A3B-A867-6C53-E2EF45F37E8B}"/>
              </a:ext>
            </a:extLst>
          </p:cNvPr>
          <p:cNvSpPr/>
          <p:nvPr/>
        </p:nvSpPr>
        <p:spPr>
          <a:xfrm>
            <a:off x="681625" y="3068051"/>
            <a:ext cx="877824" cy="420624"/>
          </a:xfrm>
          <a:prstGeom prst="roundRect">
            <a:avLst>
              <a:gd name="adj" fmla="val 26087"/>
            </a:avLst>
          </a:prstGeom>
          <a:solidFill>
            <a:srgbClr val="2A7DE1"/>
          </a:solidFill>
          <a:ln w="12700">
            <a:solidFill>
              <a:srgbClr val="2A7DE1"/>
            </a:solidFill>
            <a:prstDash val="solid"/>
          </a:ln>
        </p:spPr>
        <p:txBody>
          <a:bodyPr/>
          <a:lstStyle/>
          <a:p>
            <a:endParaRPr lang="en-US">
              <a:latin typeface="Arial" panose="020B0604020202020204" pitchFamily="34" charset="0"/>
              <a:cs typeface="Arial" panose="020B0604020202020204" pitchFamily="34" charset="0"/>
            </a:endParaRPr>
          </a:p>
        </p:txBody>
      </p:sp>
      <p:sp>
        <p:nvSpPr>
          <p:cNvPr id="7" name="Text 7">
            <a:extLst>
              <a:ext uri="{FF2B5EF4-FFF2-40B4-BE49-F238E27FC236}">
                <a16:creationId xmlns:a16="http://schemas.microsoft.com/office/drawing/2014/main" id="{2B2785D1-187D-3FFF-FC87-DFED032AF218}"/>
              </a:ext>
            </a:extLst>
          </p:cNvPr>
          <p:cNvSpPr/>
          <p:nvPr/>
        </p:nvSpPr>
        <p:spPr>
          <a:xfrm>
            <a:off x="681625" y="3086339"/>
            <a:ext cx="877824" cy="365760"/>
          </a:xfrm>
          <a:prstGeom prst="rect">
            <a:avLst/>
          </a:prstGeom>
          <a:noFill/>
          <a:ln/>
        </p:spPr>
        <p:txBody>
          <a:bodyPr wrap="square" lIns="508" tIns="508" rIns="508" bIns="508" rtlCol="0" anchor="ctr">
            <a:normAutofit/>
          </a:bodyPr>
          <a:lstStyle/>
          <a:p>
            <a:pPr marL="0" indent="0" algn="ctr">
              <a:buNone/>
            </a:pPr>
            <a:r>
              <a:rPr lang="en-US" sz="1120" b="1" dirty="0">
                <a:solidFill>
                  <a:srgbClr val="FFFFFF"/>
                </a:solidFill>
                <a:latin typeface="Arial" panose="020B0604020202020204" pitchFamily="34" charset="0"/>
                <a:ea typeface="Aptos" pitchFamily="34" charset="-122"/>
                <a:cs typeface="Arial" panose="020B0604020202020204" pitchFamily="34" charset="0"/>
              </a:rPr>
              <a:t>Seed 1</a:t>
            </a:r>
            <a:endParaRPr lang="en-US" sz="1120" dirty="0">
              <a:latin typeface="Arial" panose="020B0604020202020204" pitchFamily="34" charset="0"/>
              <a:cs typeface="Arial" panose="020B0604020202020204" pitchFamily="34" charset="0"/>
            </a:endParaRPr>
          </a:p>
        </p:txBody>
      </p:sp>
      <p:sp>
        <p:nvSpPr>
          <p:cNvPr id="8" name="Text 8">
            <a:extLst>
              <a:ext uri="{FF2B5EF4-FFF2-40B4-BE49-F238E27FC236}">
                <a16:creationId xmlns:a16="http://schemas.microsoft.com/office/drawing/2014/main" id="{9816FF9D-D096-E286-C8F8-9184AAD9B82C}"/>
              </a:ext>
            </a:extLst>
          </p:cNvPr>
          <p:cNvSpPr/>
          <p:nvPr/>
        </p:nvSpPr>
        <p:spPr>
          <a:xfrm>
            <a:off x="1724041" y="3077195"/>
            <a:ext cx="960120" cy="256032"/>
          </a:xfrm>
          <a:prstGeom prst="rect">
            <a:avLst/>
          </a:prstGeom>
          <a:noFill/>
          <a:ln/>
        </p:spPr>
        <p:txBody>
          <a:bodyPr wrap="square" lIns="508" tIns="508" rIns="508" bIns="508" rtlCol="0" anchor="ctr">
            <a:normAutofit/>
          </a:bodyPr>
          <a:lstStyle/>
          <a:p>
            <a:pPr marL="0" indent="0" algn="l">
              <a:buNone/>
            </a:pPr>
            <a:r>
              <a:rPr lang="en-US" sz="1300" b="1" dirty="0">
                <a:solidFill>
                  <a:srgbClr val="14233A"/>
                </a:solidFill>
                <a:latin typeface="Arial" panose="020B0604020202020204" pitchFamily="34" charset="0"/>
                <a:ea typeface="Aptos" pitchFamily="34" charset="-122"/>
                <a:cs typeface="Arial" panose="020B0604020202020204" pitchFamily="34" charset="0"/>
              </a:rPr>
              <a:t>Run 1</a:t>
            </a:r>
            <a:endParaRPr lang="en-US" sz="1300" dirty="0">
              <a:latin typeface="Arial" panose="020B0604020202020204" pitchFamily="34" charset="0"/>
              <a:cs typeface="Arial" panose="020B0604020202020204" pitchFamily="34" charset="0"/>
            </a:endParaRPr>
          </a:p>
        </p:txBody>
      </p:sp>
      <p:sp>
        <p:nvSpPr>
          <p:cNvPr id="9" name="Text 9">
            <a:extLst>
              <a:ext uri="{FF2B5EF4-FFF2-40B4-BE49-F238E27FC236}">
                <a16:creationId xmlns:a16="http://schemas.microsoft.com/office/drawing/2014/main" id="{139450AA-8A1A-0244-FB9A-0E5708B09781}"/>
              </a:ext>
            </a:extLst>
          </p:cNvPr>
          <p:cNvSpPr/>
          <p:nvPr/>
        </p:nvSpPr>
        <p:spPr>
          <a:xfrm>
            <a:off x="681625" y="3653267"/>
            <a:ext cx="2697480" cy="256032"/>
          </a:xfrm>
          <a:prstGeom prst="rect">
            <a:avLst/>
          </a:prstGeom>
          <a:noFill/>
          <a:ln/>
        </p:spPr>
        <p:txBody>
          <a:bodyPr wrap="square" lIns="508" tIns="508" rIns="508" bIns="508" rtlCol="0" anchor="ctr">
            <a:normAutofit/>
          </a:bodyPr>
          <a:lstStyle/>
          <a:p>
            <a:pPr marL="0" indent="0" algn="l">
              <a:buNone/>
            </a:pPr>
            <a:r>
              <a:rPr lang="en-US" sz="1100" dirty="0">
                <a:solidFill>
                  <a:schemeClr val="tx1"/>
                </a:solidFill>
                <a:latin typeface="Arial" panose="020B0604020202020204" pitchFamily="34" charset="0"/>
                <a:ea typeface="Aptos" pitchFamily="34" charset="-122"/>
                <a:cs typeface="Arial" panose="020B0604020202020204" pitchFamily="34" charset="0"/>
              </a:rPr>
              <a:t>Schedule matrix A</a:t>
            </a:r>
            <a:endParaRPr lang="en-US" sz="1100" dirty="0">
              <a:solidFill>
                <a:schemeClr val="tx1"/>
              </a:solidFill>
              <a:latin typeface="Arial" panose="020B0604020202020204" pitchFamily="34" charset="0"/>
              <a:cs typeface="Arial" panose="020B0604020202020204" pitchFamily="34" charset="0"/>
            </a:endParaRPr>
          </a:p>
        </p:txBody>
      </p:sp>
      <p:sp>
        <p:nvSpPr>
          <p:cNvPr id="10" name="Text 10">
            <a:extLst>
              <a:ext uri="{FF2B5EF4-FFF2-40B4-BE49-F238E27FC236}">
                <a16:creationId xmlns:a16="http://schemas.microsoft.com/office/drawing/2014/main" id="{B8DD3560-253A-94F3-599F-0591D43AADD5}"/>
              </a:ext>
            </a:extLst>
          </p:cNvPr>
          <p:cNvSpPr/>
          <p:nvPr/>
        </p:nvSpPr>
        <p:spPr>
          <a:xfrm>
            <a:off x="681625" y="3964163"/>
            <a:ext cx="2697480" cy="228600"/>
          </a:xfrm>
          <a:prstGeom prst="rect">
            <a:avLst/>
          </a:prstGeom>
          <a:noFill/>
          <a:ln/>
        </p:spPr>
        <p:txBody>
          <a:bodyPr wrap="square" lIns="508" tIns="508" rIns="508" bIns="508" rtlCol="0" anchor="ctr">
            <a:normAutofit/>
          </a:bodyPr>
          <a:lstStyle/>
          <a:p>
            <a:pPr marL="0" indent="0" algn="l">
              <a:buNone/>
            </a:pPr>
            <a:r>
              <a:rPr lang="en-US" sz="930" dirty="0">
                <a:solidFill>
                  <a:schemeClr val="tx1"/>
                </a:solidFill>
                <a:latin typeface="Arial" panose="020B0604020202020204" pitchFamily="34" charset="0"/>
                <a:ea typeface="Aptos" pitchFamily="34" charset="-122"/>
                <a:cs typeface="Arial" panose="020B0604020202020204" pitchFamily="34" charset="0"/>
              </a:rPr>
              <a:t>1000 clients × 3 outages/client</a:t>
            </a:r>
            <a:endParaRPr lang="en-US" sz="930" dirty="0">
              <a:solidFill>
                <a:schemeClr val="tx1"/>
              </a:solidFill>
              <a:latin typeface="Arial" panose="020B0604020202020204" pitchFamily="34" charset="0"/>
              <a:cs typeface="Arial" panose="020B0604020202020204" pitchFamily="34" charset="0"/>
            </a:endParaRPr>
          </a:p>
        </p:txBody>
      </p:sp>
      <p:sp>
        <p:nvSpPr>
          <p:cNvPr id="11" name="Shape 11">
            <a:extLst>
              <a:ext uri="{FF2B5EF4-FFF2-40B4-BE49-F238E27FC236}">
                <a16:creationId xmlns:a16="http://schemas.microsoft.com/office/drawing/2014/main" id="{AA58056B-3E14-2DB7-B51D-76696069B523}"/>
              </a:ext>
            </a:extLst>
          </p:cNvPr>
          <p:cNvSpPr/>
          <p:nvPr/>
        </p:nvSpPr>
        <p:spPr>
          <a:xfrm>
            <a:off x="3627981" y="2935859"/>
            <a:ext cx="1816279" cy="1417320"/>
          </a:xfrm>
          <a:prstGeom prst="roundRect">
            <a:avLst>
              <a:gd name="adj" fmla="val 3871"/>
            </a:avLst>
          </a:prstGeom>
          <a:solidFill>
            <a:srgbClr val="FFFFFF"/>
          </a:solidFill>
          <a:ln w="12700">
            <a:solidFill>
              <a:srgbClr val="D7E0EA"/>
            </a:solidFill>
            <a:prstDash val="solid"/>
          </a:ln>
        </p:spPr>
        <p:txBody>
          <a:bodyPr/>
          <a:lstStyle/>
          <a:p>
            <a:endParaRPr lang="en-US">
              <a:latin typeface="Arial" panose="020B0604020202020204" pitchFamily="34" charset="0"/>
              <a:cs typeface="Arial" panose="020B0604020202020204" pitchFamily="34" charset="0"/>
            </a:endParaRPr>
          </a:p>
        </p:txBody>
      </p:sp>
      <p:sp>
        <p:nvSpPr>
          <p:cNvPr id="12" name="Shape 12">
            <a:extLst>
              <a:ext uri="{FF2B5EF4-FFF2-40B4-BE49-F238E27FC236}">
                <a16:creationId xmlns:a16="http://schemas.microsoft.com/office/drawing/2014/main" id="{F1A6E219-7882-4381-B953-EC930A5DDA00}"/>
              </a:ext>
            </a:extLst>
          </p:cNvPr>
          <p:cNvSpPr/>
          <p:nvPr/>
        </p:nvSpPr>
        <p:spPr>
          <a:xfrm>
            <a:off x="3792573" y="3100451"/>
            <a:ext cx="877824" cy="420624"/>
          </a:xfrm>
          <a:prstGeom prst="roundRect">
            <a:avLst>
              <a:gd name="adj" fmla="val 26087"/>
            </a:avLst>
          </a:prstGeom>
          <a:solidFill>
            <a:srgbClr val="22B573"/>
          </a:solidFill>
          <a:ln w="12700">
            <a:solidFill>
              <a:srgbClr val="22B573"/>
            </a:solidFill>
            <a:prstDash val="solid"/>
          </a:ln>
        </p:spPr>
        <p:txBody>
          <a:bodyPr/>
          <a:lstStyle/>
          <a:p>
            <a:endParaRPr lang="en-US">
              <a:latin typeface="Arial" panose="020B0604020202020204" pitchFamily="34" charset="0"/>
              <a:cs typeface="Arial" panose="020B0604020202020204" pitchFamily="34" charset="0"/>
            </a:endParaRPr>
          </a:p>
        </p:txBody>
      </p:sp>
      <p:sp>
        <p:nvSpPr>
          <p:cNvPr id="13" name="Text 13">
            <a:extLst>
              <a:ext uri="{FF2B5EF4-FFF2-40B4-BE49-F238E27FC236}">
                <a16:creationId xmlns:a16="http://schemas.microsoft.com/office/drawing/2014/main" id="{45032659-B2B5-F2A0-1626-F26E06315FB4}"/>
              </a:ext>
            </a:extLst>
          </p:cNvPr>
          <p:cNvSpPr/>
          <p:nvPr/>
        </p:nvSpPr>
        <p:spPr>
          <a:xfrm>
            <a:off x="3792573" y="3118739"/>
            <a:ext cx="877824" cy="365760"/>
          </a:xfrm>
          <a:prstGeom prst="rect">
            <a:avLst/>
          </a:prstGeom>
          <a:noFill/>
          <a:ln/>
        </p:spPr>
        <p:txBody>
          <a:bodyPr wrap="square" lIns="508" tIns="508" rIns="508" bIns="508" rtlCol="0" anchor="ctr">
            <a:normAutofit/>
          </a:bodyPr>
          <a:lstStyle/>
          <a:p>
            <a:pPr marL="0" indent="0" algn="ctr">
              <a:buNone/>
            </a:pPr>
            <a:r>
              <a:rPr lang="en-US" sz="1120" b="1" dirty="0">
                <a:solidFill>
                  <a:srgbClr val="FFFFFF"/>
                </a:solidFill>
                <a:latin typeface="Arial" panose="020B0604020202020204" pitchFamily="34" charset="0"/>
                <a:ea typeface="Aptos" pitchFamily="34" charset="-122"/>
                <a:cs typeface="Arial" panose="020B0604020202020204" pitchFamily="34" charset="0"/>
              </a:rPr>
              <a:t>Seed 2</a:t>
            </a:r>
            <a:endParaRPr lang="en-US" sz="1120" dirty="0">
              <a:latin typeface="Arial" panose="020B0604020202020204" pitchFamily="34" charset="0"/>
              <a:cs typeface="Arial" panose="020B0604020202020204" pitchFamily="34" charset="0"/>
            </a:endParaRPr>
          </a:p>
        </p:txBody>
      </p:sp>
      <p:sp>
        <p:nvSpPr>
          <p:cNvPr id="14" name="Text 14">
            <a:extLst>
              <a:ext uri="{FF2B5EF4-FFF2-40B4-BE49-F238E27FC236}">
                <a16:creationId xmlns:a16="http://schemas.microsoft.com/office/drawing/2014/main" id="{A08AFC0F-9C9A-40AA-2EEE-2B9DF5AF8161}"/>
              </a:ext>
            </a:extLst>
          </p:cNvPr>
          <p:cNvSpPr/>
          <p:nvPr/>
        </p:nvSpPr>
        <p:spPr>
          <a:xfrm>
            <a:off x="4834989" y="3109595"/>
            <a:ext cx="960120" cy="256032"/>
          </a:xfrm>
          <a:prstGeom prst="rect">
            <a:avLst/>
          </a:prstGeom>
          <a:noFill/>
          <a:ln/>
        </p:spPr>
        <p:txBody>
          <a:bodyPr wrap="square" lIns="508" tIns="508" rIns="508" bIns="508" rtlCol="0" anchor="ctr">
            <a:normAutofit/>
          </a:bodyPr>
          <a:lstStyle/>
          <a:p>
            <a:pPr marL="0" indent="0" algn="l">
              <a:buNone/>
            </a:pPr>
            <a:r>
              <a:rPr lang="en-US" sz="1300" b="1" dirty="0">
                <a:solidFill>
                  <a:srgbClr val="14233A"/>
                </a:solidFill>
                <a:latin typeface="Arial" panose="020B0604020202020204" pitchFamily="34" charset="0"/>
                <a:ea typeface="Aptos" pitchFamily="34" charset="-122"/>
                <a:cs typeface="Arial" panose="020B0604020202020204" pitchFamily="34" charset="0"/>
              </a:rPr>
              <a:t>Run 2</a:t>
            </a:r>
            <a:endParaRPr lang="en-US" sz="1300" dirty="0">
              <a:latin typeface="Arial" panose="020B0604020202020204" pitchFamily="34" charset="0"/>
              <a:cs typeface="Arial" panose="020B0604020202020204" pitchFamily="34" charset="0"/>
            </a:endParaRPr>
          </a:p>
        </p:txBody>
      </p:sp>
      <p:sp>
        <p:nvSpPr>
          <p:cNvPr id="15" name="Text 15">
            <a:extLst>
              <a:ext uri="{FF2B5EF4-FFF2-40B4-BE49-F238E27FC236}">
                <a16:creationId xmlns:a16="http://schemas.microsoft.com/office/drawing/2014/main" id="{F86FCB1A-38C7-9151-E312-D08185CD04D4}"/>
              </a:ext>
            </a:extLst>
          </p:cNvPr>
          <p:cNvSpPr/>
          <p:nvPr/>
        </p:nvSpPr>
        <p:spPr>
          <a:xfrm>
            <a:off x="3792573" y="3685667"/>
            <a:ext cx="2697480" cy="256032"/>
          </a:xfrm>
          <a:prstGeom prst="rect">
            <a:avLst/>
          </a:prstGeom>
          <a:noFill/>
          <a:ln/>
        </p:spPr>
        <p:txBody>
          <a:bodyPr wrap="square" lIns="508" tIns="508" rIns="508" bIns="508" rtlCol="0" anchor="ctr">
            <a:normAutofit/>
          </a:bodyPr>
          <a:lstStyle/>
          <a:p>
            <a:pPr marL="0" indent="0" algn="l">
              <a:buNone/>
            </a:pPr>
            <a:r>
              <a:rPr lang="en-US" sz="1100" dirty="0">
                <a:solidFill>
                  <a:schemeClr val="tx1"/>
                </a:solidFill>
                <a:latin typeface="Arial" panose="020B0604020202020204" pitchFamily="34" charset="0"/>
                <a:ea typeface="Aptos" pitchFamily="34" charset="-122"/>
                <a:cs typeface="Arial" panose="020B0604020202020204" pitchFamily="34" charset="0"/>
              </a:rPr>
              <a:t>Schedule matrix B</a:t>
            </a:r>
            <a:endParaRPr lang="en-US" sz="1100" dirty="0">
              <a:solidFill>
                <a:schemeClr val="tx1"/>
              </a:solidFill>
              <a:latin typeface="Arial" panose="020B0604020202020204" pitchFamily="34" charset="0"/>
              <a:cs typeface="Arial" panose="020B0604020202020204" pitchFamily="34" charset="0"/>
            </a:endParaRPr>
          </a:p>
        </p:txBody>
      </p:sp>
      <p:sp>
        <p:nvSpPr>
          <p:cNvPr id="16" name="Text 16">
            <a:extLst>
              <a:ext uri="{FF2B5EF4-FFF2-40B4-BE49-F238E27FC236}">
                <a16:creationId xmlns:a16="http://schemas.microsoft.com/office/drawing/2014/main" id="{8B7AA4C1-5F44-AB32-C941-8AA8F1E244D0}"/>
              </a:ext>
            </a:extLst>
          </p:cNvPr>
          <p:cNvSpPr/>
          <p:nvPr/>
        </p:nvSpPr>
        <p:spPr>
          <a:xfrm>
            <a:off x="3792573" y="3996563"/>
            <a:ext cx="2697480" cy="228600"/>
          </a:xfrm>
          <a:prstGeom prst="rect">
            <a:avLst/>
          </a:prstGeom>
          <a:noFill/>
          <a:ln/>
        </p:spPr>
        <p:txBody>
          <a:bodyPr wrap="square" lIns="508" tIns="508" rIns="508" bIns="508" rtlCol="0" anchor="ctr">
            <a:normAutofit/>
          </a:bodyPr>
          <a:lstStyle/>
          <a:p>
            <a:pPr marL="0" indent="0" algn="l">
              <a:buNone/>
            </a:pPr>
            <a:r>
              <a:rPr lang="en-US" sz="930" dirty="0">
                <a:solidFill>
                  <a:schemeClr val="tx1"/>
                </a:solidFill>
                <a:latin typeface="Arial" panose="020B0604020202020204" pitchFamily="34" charset="0"/>
                <a:ea typeface="Aptos" pitchFamily="34" charset="-122"/>
                <a:cs typeface="Arial" panose="020B0604020202020204" pitchFamily="34" charset="0"/>
              </a:rPr>
              <a:t>1000 clients × 3 outages/client</a:t>
            </a:r>
            <a:endParaRPr lang="en-US" sz="930" dirty="0">
              <a:solidFill>
                <a:schemeClr val="tx1"/>
              </a:solidFill>
              <a:latin typeface="Arial" panose="020B0604020202020204" pitchFamily="34" charset="0"/>
              <a:cs typeface="Arial" panose="020B0604020202020204" pitchFamily="34" charset="0"/>
            </a:endParaRPr>
          </a:p>
        </p:txBody>
      </p:sp>
      <p:sp>
        <p:nvSpPr>
          <p:cNvPr id="17" name="Shape 17">
            <a:extLst>
              <a:ext uri="{FF2B5EF4-FFF2-40B4-BE49-F238E27FC236}">
                <a16:creationId xmlns:a16="http://schemas.microsoft.com/office/drawing/2014/main" id="{BA2DA6AA-4EE6-4EAE-F689-AD871F81A3FE}"/>
              </a:ext>
            </a:extLst>
          </p:cNvPr>
          <p:cNvSpPr/>
          <p:nvPr/>
        </p:nvSpPr>
        <p:spPr>
          <a:xfrm>
            <a:off x="6454672" y="2930294"/>
            <a:ext cx="1977887" cy="1417320"/>
          </a:xfrm>
          <a:prstGeom prst="roundRect">
            <a:avLst>
              <a:gd name="adj" fmla="val 3871"/>
            </a:avLst>
          </a:prstGeom>
          <a:solidFill>
            <a:srgbClr val="FFFFFF"/>
          </a:solidFill>
          <a:ln w="12700">
            <a:solidFill>
              <a:srgbClr val="D7E0EA"/>
            </a:solidFill>
            <a:prstDash val="solid"/>
          </a:ln>
        </p:spPr>
        <p:txBody>
          <a:bodyPr/>
          <a:lstStyle/>
          <a:p>
            <a:endParaRPr lang="en-US">
              <a:latin typeface="Arial" panose="020B0604020202020204" pitchFamily="34" charset="0"/>
              <a:cs typeface="Arial" panose="020B0604020202020204" pitchFamily="34" charset="0"/>
            </a:endParaRPr>
          </a:p>
        </p:txBody>
      </p:sp>
      <p:sp>
        <p:nvSpPr>
          <p:cNvPr id="18" name="Shape 18">
            <a:extLst>
              <a:ext uri="{FF2B5EF4-FFF2-40B4-BE49-F238E27FC236}">
                <a16:creationId xmlns:a16="http://schemas.microsoft.com/office/drawing/2014/main" id="{AF0020CD-E707-D60A-B2F5-00A571941438}"/>
              </a:ext>
            </a:extLst>
          </p:cNvPr>
          <p:cNvSpPr/>
          <p:nvPr/>
        </p:nvSpPr>
        <p:spPr>
          <a:xfrm>
            <a:off x="6619264" y="3094886"/>
            <a:ext cx="877824" cy="420624"/>
          </a:xfrm>
          <a:prstGeom prst="roundRect">
            <a:avLst>
              <a:gd name="adj" fmla="val 26087"/>
            </a:avLst>
          </a:prstGeom>
          <a:solidFill>
            <a:srgbClr val="8E62D9"/>
          </a:solidFill>
          <a:ln w="12700">
            <a:solidFill>
              <a:srgbClr val="8E62D9"/>
            </a:solidFill>
            <a:prstDash val="solid"/>
          </a:ln>
        </p:spPr>
        <p:txBody>
          <a:bodyPr/>
          <a:lstStyle/>
          <a:p>
            <a:endParaRPr lang="en-US">
              <a:latin typeface="Arial" panose="020B0604020202020204" pitchFamily="34" charset="0"/>
              <a:cs typeface="Arial" panose="020B0604020202020204" pitchFamily="34" charset="0"/>
            </a:endParaRPr>
          </a:p>
        </p:txBody>
      </p:sp>
      <p:sp>
        <p:nvSpPr>
          <p:cNvPr id="19" name="Text 19">
            <a:extLst>
              <a:ext uri="{FF2B5EF4-FFF2-40B4-BE49-F238E27FC236}">
                <a16:creationId xmlns:a16="http://schemas.microsoft.com/office/drawing/2014/main" id="{85707809-95FD-557B-4ABA-119655FA3157}"/>
              </a:ext>
            </a:extLst>
          </p:cNvPr>
          <p:cNvSpPr/>
          <p:nvPr/>
        </p:nvSpPr>
        <p:spPr>
          <a:xfrm>
            <a:off x="6619264" y="3113174"/>
            <a:ext cx="877824" cy="365760"/>
          </a:xfrm>
          <a:prstGeom prst="rect">
            <a:avLst/>
          </a:prstGeom>
          <a:noFill/>
          <a:ln/>
        </p:spPr>
        <p:txBody>
          <a:bodyPr wrap="square" lIns="508" tIns="508" rIns="508" bIns="508" rtlCol="0" anchor="ctr">
            <a:normAutofit/>
          </a:bodyPr>
          <a:lstStyle/>
          <a:p>
            <a:pPr marL="0" indent="0" algn="ctr">
              <a:buNone/>
            </a:pPr>
            <a:r>
              <a:rPr lang="en-US" sz="1120" b="1" dirty="0">
                <a:solidFill>
                  <a:srgbClr val="FFFFFF"/>
                </a:solidFill>
                <a:latin typeface="Arial" panose="020B0604020202020204" pitchFamily="34" charset="0"/>
                <a:ea typeface="Aptos" pitchFamily="34" charset="-122"/>
                <a:cs typeface="Arial" panose="020B0604020202020204" pitchFamily="34" charset="0"/>
              </a:rPr>
              <a:t>Seed 3</a:t>
            </a:r>
            <a:endParaRPr lang="en-US" sz="1120" dirty="0">
              <a:latin typeface="Arial" panose="020B0604020202020204" pitchFamily="34" charset="0"/>
              <a:cs typeface="Arial" panose="020B0604020202020204" pitchFamily="34" charset="0"/>
            </a:endParaRPr>
          </a:p>
        </p:txBody>
      </p:sp>
      <p:sp>
        <p:nvSpPr>
          <p:cNvPr id="20" name="Text 20">
            <a:extLst>
              <a:ext uri="{FF2B5EF4-FFF2-40B4-BE49-F238E27FC236}">
                <a16:creationId xmlns:a16="http://schemas.microsoft.com/office/drawing/2014/main" id="{EBBC84D8-1B89-3679-08CF-51B1D6591294}"/>
              </a:ext>
            </a:extLst>
          </p:cNvPr>
          <p:cNvSpPr/>
          <p:nvPr/>
        </p:nvSpPr>
        <p:spPr>
          <a:xfrm>
            <a:off x="7661680" y="3104030"/>
            <a:ext cx="960120" cy="256032"/>
          </a:xfrm>
          <a:prstGeom prst="rect">
            <a:avLst/>
          </a:prstGeom>
          <a:noFill/>
          <a:ln/>
        </p:spPr>
        <p:txBody>
          <a:bodyPr wrap="square" lIns="508" tIns="508" rIns="508" bIns="508" rtlCol="0" anchor="ctr">
            <a:normAutofit/>
          </a:bodyPr>
          <a:lstStyle/>
          <a:p>
            <a:pPr marL="0" indent="0" algn="l">
              <a:buNone/>
            </a:pPr>
            <a:r>
              <a:rPr lang="en-US" sz="1300" b="1" dirty="0">
                <a:solidFill>
                  <a:srgbClr val="14233A"/>
                </a:solidFill>
                <a:latin typeface="Arial" panose="020B0604020202020204" pitchFamily="34" charset="0"/>
                <a:ea typeface="Aptos" pitchFamily="34" charset="-122"/>
                <a:cs typeface="Arial" panose="020B0604020202020204" pitchFamily="34" charset="0"/>
              </a:rPr>
              <a:t>Run 3</a:t>
            </a:r>
            <a:endParaRPr lang="en-US" sz="1300" dirty="0">
              <a:latin typeface="Arial" panose="020B0604020202020204" pitchFamily="34" charset="0"/>
              <a:cs typeface="Arial" panose="020B0604020202020204" pitchFamily="34" charset="0"/>
            </a:endParaRPr>
          </a:p>
        </p:txBody>
      </p:sp>
      <p:sp>
        <p:nvSpPr>
          <p:cNvPr id="21" name="Text 21">
            <a:extLst>
              <a:ext uri="{FF2B5EF4-FFF2-40B4-BE49-F238E27FC236}">
                <a16:creationId xmlns:a16="http://schemas.microsoft.com/office/drawing/2014/main" id="{80DE9D03-2E9A-75F6-161E-73B99494D084}"/>
              </a:ext>
            </a:extLst>
          </p:cNvPr>
          <p:cNvSpPr/>
          <p:nvPr/>
        </p:nvSpPr>
        <p:spPr>
          <a:xfrm>
            <a:off x="6619264" y="3680102"/>
            <a:ext cx="2697480" cy="256032"/>
          </a:xfrm>
          <a:prstGeom prst="rect">
            <a:avLst/>
          </a:prstGeom>
          <a:noFill/>
          <a:ln/>
        </p:spPr>
        <p:txBody>
          <a:bodyPr wrap="square" lIns="508" tIns="508" rIns="508" bIns="508" rtlCol="0" anchor="ctr">
            <a:normAutofit/>
          </a:bodyPr>
          <a:lstStyle/>
          <a:p>
            <a:pPr marL="0" indent="0" algn="l">
              <a:buNone/>
            </a:pPr>
            <a:r>
              <a:rPr lang="en-US" sz="1100" dirty="0">
                <a:solidFill>
                  <a:schemeClr val="tx1"/>
                </a:solidFill>
                <a:latin typeface="Arial" panose="020B0604020202020204" pitchFamily="34" charset="0"/>
                <a:ea typeface="Aptos" pitchFamily="34" charset="-122"/>
                <a:cs typeface="Arial" panose="020B0604020202020204" pitchFamily="34" charset="0"/>
              </a:rPr>
              <a:t>Schedule matrix C</a:t>
            </a:r>
            <a:endParaRPr lang="en-US" sz="1100" dirty="0">
              <a:solidFill>
                <a:schemeClr val="tx1"/>
              </a:solidFill>
              <a:latin typeface="Arial" panose="020B0604020202020204" pitchFamily="34" charset="0"/>
              <a:cs typeface="Arial" panose="020B0604020202020204" pitchFamily="34" charset="0"/>
            </a:endParaRPr>
          </a:p>
        </p:txBody>
      </p:sp>
      <p:sp>
        <p:nvSpPr>
          <p:cNvPr id="22" name="Text 22">
            <a:extLst>
              <a:ext uri="{FF2B5EF4-FFF2-40B4-BE49-F238E27FC236}">
                <a16:creationId xmlns:a16="http://schemas.microsoft.com/office/drawing/2014/main" id="{F488B4E0-329F-9F5E-510D-D5760BA3D0B6}"/>
              </a:ext>
            </a:extLst>
          </p:cNvPr>
          <p:cNvSpPr/>
          <p:nvPr/>
        </p:nvSpPr>
        <p:spPr>
          <a:xfrm>
            <a:off x="6619264" y="3990998"/>
            <a:ext cx="2697480" cy="228600"/>
          </a:xfrm>
          <a:prstGeom prst="rect">
            <a:avLst/>
          </a:prstGeom>
          <a:noFill/>
          <a:ln/>
        </p:spPr>
        <p:txBody>
          <a:bodyPr wrap="square" lIns="508" tIns="508" rIns="508" bIns="508" rtlCol="0" anchor="ctr">
            <a:normAutofit/>
          </a:bodyPr>
          <a:lstStyle/>
          <a:p>
            <a:pPr marL="0" indent="0" algn="l">
              <a:buNone/>
            </a:pPr>
            <a:r>
              <a:rPr lang="en-US" sz="930" dirty="0">
                <a:solidFill>
                  <a:schemeClr val="tx1"/>
                </a:solidFill>
                <a:latin typeface="Arial" panose="020B0604020202020204" pitchFamily="34" charset="0"/>
                <a:ea typeface="Aptos" pitchFamily="34" charset="-122"/>
                <a:cs typeface="Arial" panose="020B0604020202020204" pitchFamily="34" charset="0"/>
              </a:rPr>
              <a:t>1000 clients × 3 outages/client</a:t>
            </a:r>
            <a:endParaRPr lang="en-US" sz="93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714729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0404B-EF98-EEE0-A9DA-C4948C0E3A18}"/>
              </a:ext>
            </a:extLst>
          </p:cNvPr>
          <p:cNvSpPr>
            <a:spLocks noGrp="1"/>
          </p:cNvSpPr>
          <p:nvPr>
            <p:ph type="title"/>
          </p:nvPr>
        </p:nvSpPr>
        <p:spPr/>
        <p:txBody>
          <a:bodyPr/>
          <a:lstStyle/>
          <a:p>
            <a:r>
              <a:rPr lang="en-US" dirty="0"/>
              <a:t>Expected Result</a:t>
            </a:r>
          </a:p>
        </p:txBody>
      </p:sp>
      <p:sp>
        <p:nvSpPr>
          <p:cNvPr id="4" name="Slide Number Placeholder 3">
            <a:extLst>
              <a:ext uri="{FF2B5EF4-FFF2-40B4-BE49-F238E27FC236}">
                <a16:creationId xmlns:a16="http://schemas.microsoft.com/office/drawing/2014/main" id="{0C3532F4-3C74-E513-0E70-6DB7FE7B75E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45</a:t>
            </a:fld>
            <a:endParaRPr lang="en-US"/>
          </a:p>
        </p:txBody>
      </p:sp>
      <p:pic>
        <p:nvPicPr>
          <p:cNvPr id="5" name="Image 0" descr="/mnt/data/batteryless_iot_recovery_benefit_chart.png">
            <a:extLst>
              <a:ext uri="{FF2B5EF4-FFF2-40B4-BE49-F238E27FC236}">
                <a16:creationId xmlns:a16="http://schemas.microsoft.com/office/drawing/2014/main" id="{F0F4CE11-755E-124B-507E-9A530FA4D3F5}"/>
              </a:ext>
            </a:extLst>
          </p:cNvPr>
          <p:cNvPicPr>
            <a:picLocks noChangeAspect="1"/>
          </p:cNvPicPr>
          <p:nvPr/>
        </p:nvPicPr>
        <p:blipFill>
          <a:blip r:embed="rId2"/>
          <a:stretch>
            <a:fillRect/>
          </a:stretch>
        </p:blipFill>
        <p:spPr>
          <a:xfrm>
            <a:off x="457200" y="1492469"/>
            <a:ext cx="7154042" cy="5365531"/>
          </a:xfrm>
          <a:prstGeom prst="rect">
            <a:avLst/>
          </a:prstGeom>
        </p:spPr>
      </p:pic>
      <p:pic>
        <p:nvPicPr>
          <p:cNvPr id="7" name="Picture 6">
            <a:extLst>
              <a:ext uri="{FF2B5EF4-FFF2-40B4-BE49-F238E27FC236}">
                <a16:creationId xmlns:a16="http://schemas.microsoft.com/office/drawing/2014/main" id="{1ABCA6D6-B38A-6D70-EFC0-2BCF5E29D9AD}"/>
              </a:ext>
            </a:extLst>
          </p:cNvPr>
          <p:cNvPicPr>
            <a:picLocks noChangeAspect="1"/>
          </p:cNvPicPr>
          <p:nvPr/>
        </p:nvPicPr>
        <p:blipFill>
          <a:blip r:embed="rId3"/>
          <a:srcRect l="6795" r="6357"/>
          <a:stretch>
            <a:fillRect/>
          </a:stretch>
        </p:blipFill>
        <p:spPr>
          <a:xfrm>
            <a:off x="5705284" y="1492469"/>
            <a:ext cx="3438716" cy="767256"/>
          </a:xfrm>
          <a:prstGeom prst="rect">
            <a:avLst/>
          </a:prstGeom>
        </p:spPr>
      </p:pic>
      <p:pic>
        <p:nvPicPr>
          <p:cNvPr id="9" name="Picture 8">
            <a:extLst>
              <a:ext uri="{FF2B5EF4-FFF2-40B4-BE49-F238E27FC236}">
                <a16:creationId xmlns:a16="http://schemas.microsoft.com/office/drawing/2014/main" id="{A13666FB-1972-7769-474B-24ECF9BA33B1}"/>
              </a:ext>
            </a:extLst>
          </p:cNvPr>
          <p:cNvPicPr>
            <a:picLocks noChangeAspect="1"/>
          </p:cNvPicPr>
          <p:nvPr/>
        </p:nvPicPr>
        <p:blipFill>
          <a:blip r:embed="rId4"/>
          <a:stretch>
            <a:fillRect/>
          </a:stretch>
        </p:blipFill>
        <p:spPr>
          <a:xfrm>
            <a:off x="5288974" y="2582021"/>
            <a:ext cx="3855026" cy="365100"/>
          </a:xfrm>
          <a:prstGeom prst="rect">
            <a:avLst/>
          </a:prstGeom>
        </p:spPr>
      </p:pic>
      <p:sp>
        <p:nvSpPr>
          <p:cNvPr id="10" name="TextBox 9">
            <a:extLst>
              <a:ext uri="{FF2B5EF4-FFF2-40B4-BE49-F238E27FC236}">
                <a16:creationId xmlns:a16="http://schemas.microsoft.com/office/drawing/2014/main" id="{0B99FA24-6856-AEDD-00CB-6E88B466A3EC}"/>
              </a:ext>
            </a:extLst>
          </p:cNvPr>
          <p:cNvSpPr txBox="1"/>
          <p:nvPr/>
        </p:nvSpPr>
        <p:spPr>
          <a:xfrm>
            <a:off x="5288974" y="2259725"/>
            <a:ext cx="3005958" cy="307777"/>
          </a:xfrm>
          <a:prstGeom prst="rect">
            <a:avLst/>
          </a:prstGeom>
          <a:noFill/>
        </p:spPr>
        <p:txBody>
          <a:bodyPr wrap="square" rtlCol="0">
            <a:spAutoFit/>
          </a:bodyPr>
          <a:lstStyle/>
          <a:p>
            <a:r>
              <a:rPr lang="en-US" dirty="0"/>
              <a:t>Persistence Recovery Gain:</a:t>
            </a:r>
          </a:p>
        </p:txBody>
      </p:sp>
      <p:sp>
        <p:nvSpPr>
          <p:cNvPr id="11" name="Rectangle 10">
            <a:extLst>
              <a:ext uri="{FF2B5EF4-FFF2-40B4-BE49-F238E27FC236}">
                <a16:creationId xmlns:a16="http://schemas.microsoft.com/office/drawing/2014/main" id="{8C6C4935-C2C9-7DFF-21E2-81DA2BD69EE3}"/>
              </a:ext>
            </a:extLst>
          </p:cNvPr>
          <p:cNvSpPr/>
          <p:nvPr/>
        </p:nvSpPr>
        <p:spPr>
          <a:xfrm>
            <a:off x="3026979" y="6288075"/>
            <a:ext cx="2261995" cy="5016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Device Availability Ratio (DAR)</a:t>
            </a:r>
          </a:p>
        </p:txBody>
      </p:sp>
      <p:sp>
        <p:nvSpPr>
          <p:cNvPr id="12" name="TextBox 11">
            <a:extLst>
              <a:ext uri="{FF2B5EF4-FFF2-40B4-BE49-F238E27FC236}">
                <a16:creationId xmlns:a16="http://schemas.microsoft.com/office/drawing/2014/main" id="{D259C679-E335-C860-EFD9-DED7FE07E08F}"/>
              </a:ext>
            </a:extLst>
          </p:cNvPr>
          <p:cNvSpPr txBox="1"/>
          <p:nvPr/>
        </p:nvSpPr>
        <p:spPr>
          <a:xfrm>
            <a:off x="3866606" y="4859383"/>
            <a:ext cx="896983" cy="307777"/>
          </a:xfrm>
          <a:prstGeom prst="rect">
            <a:avLst/>
          </a:prstGeom>
          <a:noFill/>
        </p:spPr>
        <p:txBody>
          <a:bodyPr wrap="square" rtlCol="0">
            <a:spAutoFit/>
          </a:bodyPr>
          <a:lstStyle/>
          <a:p>
            <a:r>
              <a:rPr lang="en-US" dirty="0"/>
              <a:t>(PRG)</a:t>
            </a:r>
          </a:p>
        </p:txBody>
      </p:sp>
    </p:spTree>
    <p:extLst>
      <p:ext uri="{BB962C8B-B14F-4D97-AF65-F5344CB8AC3E}">
        <p14:creationId xmlns:p14="http://schemas.microsoft.com/office/powerpoint/2010/main" val="23184913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130E4-F049-B83B-EA3C-04F1CCE911AB}"/>
              </a:ext>
            </a:extLst>
          </p:cNvPr>
          <p:cNvSpPr>
            <a:spLocks noGrp="1"/>
          </p:cNvSpPr>
          <p:nvPr>
            <p:ph type="title"/>
          </p:nvPr>
        </p:nvSpPr>
        <p:spPr/>
        <p:txBody>
          <a:bodyPr/>
          <a:lstStyle/>
          <a:p>
            <a:r>
              <a:rPr lang="en-US" dirty="0"/>
              <a:t>Clean Session</a:t>
            </a:r>
          </a:p>
        </p:txBody>
      </p:sp>
      <p:sp>
        <p:nvSpPr>
          <p:cNvPr id="3" name="Text Placeholder 2">
            <a:extLst>
              <a:ext uri="{FF2B5EF4-FFF2-40B4-BE49-F238E27FC236}">
                <a16:creationId xmlns:a16="http://schemas.microsoft.com/office/drawing/2014/main" id="{DEE3FECA-7BD0-C227-7E07-50CA25C84EC3}"/>
              </a:ext>
            </a:extLst>
          </p:cNvPr>
          <p:cNvSpPr>
            <a:spLocks noGrp="1"/>
          </p:cNvSpPr>
          <p:nvPr>
            <p:ph type="body" idx="1"/>
          </p:nvPr>
        </p:nvSpPr>
        <p:spPr/>
        <p:txBody>
          <a:bodyPr>
            <a:normAutofit fontScale="77500" lnSpcReduction="20000"/>
          </a:bodyPr>
          <a:lstStyle/>
          <a:p>
            <a:r>
              <a:rPr lang="en-US" b="1" dirty="0"/>
              <a:t>Clean session = true</a:t>
            </a:r>
            <a:endParaRPr lang="en-US" dirty="0"/>
          </a:p>
          <a:p>
            <a:pPr lvl="1"/>
            <a:r>
              <a:rPr lang="en-US" dirty="0"/>
              <a:t>Client connects to the broker. </a:t>
            </a:r>
          </a:p>
          <a:p>
            <a:pPr lvl="1"/>
            <a:r>
              <a:rPr lang="en-US" dirty="0"/>
              <a:t>When it disconnects, the broker removes its stored session state. </a:t>
            </a:r>
          </a:p>
          <a:p>
            <a:pPr lvl="1"/>
            <a:r>
              <a:rPr lang="en-US" dirty="0"/>
              <a:t>If messages are published while that subscriber is offline, they are generally </a:t>
            </a:r>
            <a:r>
              <a:rPr lang="en-US" b="1" dirty="0"/>
              <a:t>not saved for later delivery</a:t>
            </a:r>
            <a:r>
              <a:rPr lang="en-US" dirty="0"/>
              <a:t> to that client. </a:t>
            </a:r>
          </a:p>
          <a:p>
            <a:pPr lvl="1"/>
            <a:r>
              <a:rPr lang="en-US" dirty="0"/>
              <a:t>When the client reconnects, it starts a new session.</a:t>
            </a:r>
          </a:p>
          <a:p>
            <a:pPr lvl="1"/>
            <a:endParaRPr lang="en-US" dirty="0"/>
          </a:p>
          <a:p>
            <a:r>
              <a:rPr lang="en-US" b="1" dirty="0"/>
              <a:t>Clean session = false</a:t>
            </a:r>
            <a:endParaRPr lang="en-US" dirty="0"/>
          </a:p>
          <a:p>
            <a:pPr lvl="1"/>
            <a:r>
              <a:rPr lang="en-US" dirty="0"/>
              <a:t>The broker keeps the client's session after disconnection. </a:t>
            </a:r>
          </a:p>
          <a:p>
            <a:pPr lvl="1"/>
            <a:r>
              <a:rPr lang="en-US" dirty="0"/>
              <a:t>The client reconnects using the </a:t>
            </a:r>
            <a:r>
              <a:rPr lang="en-US" b="1" dirty="0"/>
              <a:t>same Client ID</a:t>
            </a:r>
            <a:r>
              <a:rPr lang="en-US" dirty="0"/>
              <a:t>. </a:t>
            </a:r>
          </a:p>
          <a:p>
            <a:pPr lvl="1"/>
            <a:r>
              <a:rPr lang="en-US" dirty="0"/>
              <a:t>With appropriate QoS and subscriptions, the broker can retain messages while the client is offline and deliver them after reconnection. </a:t>
            </a:r>
          </a:p>
          <a:p>
            <a:pPr marL="85725" indent="0">
              <a:buNone/>
            </a:pPr>
            <a:endParaRPr lang="en-US" dirty="0"/>
          </a:p>
        </p:txBody>
      </p:sp>
      <p:sp>
        <p:nvSpPr>
          <p:cNvPr id="4" name="Slide Number Placeholder 3">
            <a:extLst>
              <a:ext uri="{FF2B5EF4-FFF2-40B4-BE49-F238E27FC236}">
                <a16:creationId xmlns:a16="http://schemas.microsoft.com/office/drawing/2014/main" id="{B1B63D65-7F3F-34FC-422E-EF853F62A0B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46</a:t>
            </a:fld>
            <a:endParaRPr lang="en-US"/>
          </a:p>
        </p:txBody>
      </p:sp>
    </p:spTree>
    <p:extLst>
      <p:ext uri="{BB962C8B-B14F-4D97-AF65-F5344CB8AC3E}">
        <p14:creationId xmlns:p14="http://schemas.microsoft.com/office/powerpoint/2010/main" val="7354215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5379F1D2-1D28-2219-48D5-AD37195A6B76}"/>
            </a:ext>
          </a:extLst>
        </p:cNvPr>
        <p:cNvGrpSpPr/>
        <p:nvPr/>
      </p:nvGrpSpPr>
      <p:grpSpPr>
        <a:xfrm>
          <a:off x="0" y="0"/>
          <a:ext cx="0" cy="0"/>
          <a:chOff x="0" y="0"/>
          <a:chExt cx="0" cy="0"/>
        </a:xfrm>
      </p:grpSpPr>
      <p:sp>
        <p:nvSpPr>
          <p:cNvPr id="122" name="Google Shape;122;p15">
            <a:extLst>
              <a:ext uri="{FF2B5EF4-FFF2-40B4-BE49-F238E27FC236}">
                <a16:creationId xmlns:a16="http://schemas.microsoft.com/office/drawing/2014/main" id="{5E4FA4CE-AFC8-B884-6BA4-2B2A0B1848FA}"/>
              </a:ext>
            </a:extLst>
          </p:cNvPr>
          <p:cNvSpPr txBox="1">
            <a:spLocks noGrp="1"/>
          </p:cNvSpPr>
          <p:nvPr>
            <p:ph type="title"/>
          </p:nvPr>
        </p:nvSpPr>
        <p:spPr>
          <a:xfrm>
            <a:off x="457200" y="152400"/>
            <a:ext cx="8229600" cy="1143000"/>
          </a:xfrm>
          <a:prstGeom prst="rect">
            <a:avLst/>
          </a:prstGeom>
        </p:spPr>
        <p:txBody>
          <a:bodyPr spcFirstLastPara="1" wrap="square" lIns="91425" tIns="45700" rIns="91425" bIns="45700" anchor="ctr" anchorCtr="0">
            <a:noAutofit/>
          </a:bodyPr>
          <a:lstStyle/>
          <a:p>
            <a:pPr lvl="0">
              <a:buSzPts val="990"/>
            </a:pPr>
            <a:r>
              <a:rPr lang="en-US" sz="3260" dirty="0"/>
              <a:t>Experiment 5: </a:t>
            </a:r>
            <a:r>
              <a:rPr lang="en-US" sz="3600" dirty="0"/>
              <a:t>Experimental Design</a:t>
            </a:r>
            <a:endParaRPr sz="3260" dirty="0"/>
          </a:p>
        </p:txBody>
      </p:sp>
      <p:sp>
        <p:nvSpPr>
          <p:cNvPr id="123" name="Google Shape;123;p15">
            <a:extLst>
              <a:ext uri="{FF2B5EF4-FFF2-40B4-BE49-F238E27FC236}">
                <a16:creationId xmlns:a16="http://schemas.microsoft.com/office/drawing/2014/main" id="{0C32DFA4-93EF-18F3-5BB3-B668A4A5CAB8}"/>
              </a:ext>
            </a:extLst>
          </p:cNvPr>
          <p:cNvSpPr txBox="1">
            <a:spLocks noGrp="1"/>
          </p:cNvSpPr>
          <p:nvPr>
            <p:ph type="body" idx="1"/>
          </p:nvPr>
        </p:nvSpPr>
        <p:spPr>
          <a:xfrm>
            <a:off x="160867" y="5364480"/>
            <a:ext cx="8771933" cy="1493520"/>
          </a:xfrm>
          <a:prstGeom prst="rect">
            <a:avLst/>
          </a:prstGeom>
        </p:spPr>
        <p:txBody>
          <a:bodyPr spcFirstLastPara="1" wrap="square" lIns="91425" tIns="45700" rIns="91425" bIns="45700" anchor="t" anchorCtr="0">
            <a:normAutofit/>
          </a:bodyPr>
          <a:lstStyle/>
          <a:p>
            <a:pPr marL="1045845" lvl="1" indent="-457200">
              <a:spcBef>
                <a:spcPts val="0"/>
              </a:spcBef>
              <a:buSzPct val="64286"/>
              <a:buFont typeface="Wingdings" pitchFamily="2" charset="2"/>
              <a:buChar char="Ø"/>
            </a:pPr>
            <a:endParaRPr lang="en-US" dirty="0"/>
          </a:p>
          <a:p>
            <a:pPr marL="588645" indent="-457200">
              <a:spcBef>
                <a:spcPts val="0"/>
              </a:spcBef>
              <a:buSzPct val="64286"/>
              <a:buFont typeface="Wingdings" pitchFamily="2" charset="2"/>
              <a:buChar char="v"/>
            </a:pPr>
            <a:endParaRPr dirty="0"/>
          </a:p>
        </p:txBody>
      </p:sp>
      <p:sp>
        <p:nvSpPr>
          <p:cNvPr id="124" name="Google Shape;124;p15">
            <a:extLst>
              <a:ext uri="{FF2B5EF4-FFF2-40B4-BE49-F238E27FC236}">
                <a16:creationId xmlns:a16="http://schemas.microsoft.com/office/drawing/2014/main" id="{3B8F1260-86B2-BA9D-256F-EBB7B16FFF36}"/>
              </a:ext>
            </a:extLst>
          </p:cNvPr>
          <p:cNvSpPr txBox="1">
            <a:spLocks noGrp="1"/>
          </p:cNvSpPr>
          <p:nvPr>
            <p:ph type="sldNum" idx="12"/>
          </p:nvPr>
        </p:nvSpPr>
        <p:spPr>
          <a:xfrm>
            <a:off x="3498112" y="6356350"/>
            <a:ext cx="2133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47</a:t>
            </a:fld>
            <a:endParaRPr/>
          </a:p>
        </p:txBody>
      </p:sp>
      <p:graphicFrame>
        <p:nvGraphicFramePr>
          <p:cNvPr id="2" name="Table 1">
            <a:extLst>
              <a:ext uri="{FF2B5EF4-FFF2-40B4-BE49-F238E27FC236}">
                <a16:creationId xmlns:a16="http://schemas.microsoft.com/office/drawing/2014/main" id="{2E29928C-77EB-9813-FDE9-1B475E21A7C4}"/>
              </a:ext>
            </a:extLst>
          </p:cNvPr>
          <p:cNvGraphicFramePr>
            <a:graphicFrameLocks noGrp="1"/>
          </p:cNvGraphicFramePr>
          <p:nvPr>
            <p:extLst>
              <p:ext uri="{D42A27DB-BD31-4B8C-83A1-F6EECF244321}">
                <p14:modId xmlns:p14="http://schemas.microsoft.com/office/powerpoint/2010/main" val="4043725188"/>
              </p:ext>
            </p:extLst>
          </p:nvPr>
        </p:nvGraphicFramePr>
        <p:xfrm>
          <a:off x="304800" y="1548795"/>
          <a:ext cx="8534400" cy="1579517"/>
        </p:xfrm>
        <a:graphic>
          <a:graphicData uri="http://schemas.openxmlformats.org/drawingml/2006/table">
            <a:tbl>
              <a:tblPr firstRow="1" bandRow="1">
                <a:tableStyleId>{5C22544A-7EE6-4342-B048-85BDC9FD1C3A}</a:tableStyleId>
              </a:tblPr>
              <a:tblGrid>
                <a:gridCol w="4267200">
                  <a:extLst>
                    <a:ext uri="{9D8B030D-6E8A-4147-A177-3AD203B41FA5}">
                      <a16:colId xmlns:a16="http://schemas.microsoft.com/office/drawing/2014/main" val="3919808013"/>
                    </a:ext>
                  </a:extLst>
                </a:gridCol>
                <a:gridCol w="4267200">
                  <a:extLst>
                    <a:ext uri="{9D8B030D-6E8A-4147-A177-3AD203B41FA5}">
                      <a16:colId xmlns:a16="http://schemas.microsoft.com/office/drawing/2014/main" val="1523636316"/>
                    </a:ext>
                  </a:extLst>
                </a:gridCol>
              </a:tblGrid>
              <a:tr h="466997">
                <a:tc>
                  <a:txBody>
                    <a:bodyPr/>
                    <a:lstStyle/>
                    <a:p>
                      <a:pPr>
                        <a:buNone/>
                      </a:pPr>
                      <a:r>
                        <a:rPr lang="en-US" dirty="0"/>
                        <a:t>Factor</a:t>
                      </a:r>
                    </a:p>
                  </a:txBody>
                  <a:tcPr anchor="ctr"/>
                </a:tc>
                <a:tc>
                  <a:txBody>
                    <a:bodyPr/>
                    <a:lstStyle/>
                    <a:p>
                      <a:r>
                        <a:rPr lang="en-US" dirty="0"/>
                        <a:t>Levels</a:t>
                      </a:r>
                    </a:p>
                  </a:txBody>
                  <a:tcPr/>
                </a:tc>
                <a:extLst>
                  <a:ext uri="{0D108BD9-81ED-4DB2-BD59-A6C34878D82A}">
                    <a16:rowId xmlns:a16="http://schemas.microsoft.com/office/drawing/2014/main" val="2965481020"/>
                  </a:ext>
                </a:extLst>
              </a:tr>
              <a:tr h="370840">
                <a:tc>
                  <a:txBody>
                    <a:bodyPr/>
                    <a:lstStyle/>
                    <a:p>
                      <a:r>
                        <a:rPr lang="en-US" dirty="0"/>
                        <a:t>MQTT session mode</a:t>
                      </a:r>
                    </a:p>
                  </a:txBody>
                  <a:tcPr/>
                </a:tc>
                <a:tc>
                  <a:txBody>
                    <a:bodyPr/>
                    <a:lstStyle/>
                    <a:p>
                      <a:r>
                        <a:rPr lang="en-US" dirty="0"/>
                        <a:t>QoS 0 clean, QoS 1 clean, QoS 1 persistent</a:t>
                      </a:r>
                    </a:p>
                  </a:txBody>
                  <a:tcPr/>
                </a:tc>
                <a:extLst>
                  <a:ext uri="{0D108BD9-81ED-4DB2-BD59-A6C34878D82A}">
                    <a16:rowId xmlns:a16="http://schemas.microsoft.com/office/drawing/2014/main" val="67976914"/>
                  </a:ext>
                </a:extLst>
              </a:tr>
              <a:tr h="370840">
                <a:tc>
                  <a:txBody>
                    <a:bodyPr/>
                    <a:lstStyle/>
                    <a:p>
                      <a:r>
                        <a:rPr lang="en-US" dirty="0"/>
                        <a:t>Workload level</a:t>
                      </a:r>
                    </a:p>
                  </a:txBody>
                  <a:tcPr/>
                </a:tc>
                <a:tc>
                  <a:txBody>
                    <a:bodyPr/>
                    <a:lstStyle/>
                    <a:p>
                      <a:r>
                        <a:rPr lang="en-US" dirty="0"/>
                        <a:t>Moderate, Stress</a:t>
                      </a:r>
                    </a:p>
                  </a:txBody>
                  <a:tcPr/>
                </a:tc>
                <a:extLst>
                  <a:ext uri="{0D108BD9-81ED-4DB2-BD59-A6C34878D82A}">
                    <a16:rowId xmlns:a16="http://schemas.microsoft.com/office/drawing/2014/main" val="1045650252"/>
                  </a:ext>
                </a:extLst>
              </a:tr>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660218164"/>
                  </a:ext>
                </a:extLst>
              </a:tr>
            </a:tbl>
          </a:graphicData>
        </a:graphic>
      </p:graphicFrame>
      <p:graphicFrame>
        <p:nvGraphicFramePr>
          <p:cNvPr id="4" name="Table 3">
            <a:extLst>
              <a:ext uri="{FF2B5EF4-FFF2-40B4-BE49-F238E27FC236}">
                <a16:creationId xmlns:a16="http://schemas.microsoft.com/office/drawing/2014/main" id="{FC6AA45F-C2C7-8C7B-6CE8-F0F7BD9F6EF7}"/>
              </a:ext>
            </a:extLst>
          </p:cNvPr>
          <p:cNvGraphicFramePr>
            <a:graphicFrameLocks noGrp="1"/>
          </p:cNvGraphicFramePr>
          <p:nvPr>
            <p:extLst>
              <p:ext uri="{D42A27DB-BD31-4B8C-83A1-F6EECF244321}">
                <p14:modId xmlns:p14="http://schemas.microsoft.com/office/powerpoint/2010/main" val="2750060927"/>
              </p:ext>
            </p:extLst>
          </p:nvPr>
        </p:nvGraphicFramePr>
        <p:xfrm>
          <a:off x="313268" y="3756146"/>
          <a:ext cx="8525932" cy="1778000"/>
        </p:xfrm>
        <a:graphic>
          <a:graphicData uri="http://schemas.openxmlformats.org/drawingml/2006/table">
            <a:tbl>
              <a:tblPr firstRow="1" bandRow="1">
                <a:tableStyleId>{5C22544A-7EE6-4342-B048-85BDC9FD1C3A}</a:tableStyleId>
              </a:tblPr>
              <a:tblGrid>
                <a:gridCol w="2131483">
                  <a:extLst>
                    <a:ext uri="{9D8B030D-6E8A-4147-A177-3AD203B41FA5}">
                      <a16:colId xmlns:a16="http://schemas.microsoft.com/office/drawing/2014/main" val="3919808013"/>
                    </a:ext>
                  </a:extLst>
                </a:gridCol>
                <a:gridCol w="2131483">
                  <a:extLst>
                    <a:ext uri="{9D8B030D-6E8A-4147-A177-3AD203B41FA5}">
                      <a16:colId xmlns:a16="http://schemas.microsoft.com/office/drawing/2014/main" val="1523636316"/>
                    </a:ext>
                  </a:extLst>
                </a:gridCol>
                <a:gridCol w="1675019">
                  <a:extLst>
                    <a:ext uri="{9D8B030D-6E8A-4147-A177-3AD203B41FA5}">
                      <a16:colId xmlns:a16="http://schemas.microsoft.com/office/drawing/2014/main" val="3510806209"/>
                    </a:ext>
                  </a:extLst>
                </a:gridCol>
                <a:gridCol w="2587947">
                  <a:extLst>
                    <a:ext uri="{9D8B030D-6E8A-4147-A177-3AD203B41FA5}">
                      <a16:colId xmlns:a16="http://schemas.microsoft.com/office/drawing/2014/main" val="3842652336"/>
                    </a:ext>
                  </a:extLst>
                </a:gridCol>
              </a:tblGrid>
              <a:tr h="370840">
                <a:tc>
                  <a:txBody>
                    <a:bodyPr/>
                    <a:lstStyle/>
                    <a:p>
                      <a:pPr>
                        <a:buNone/>
                      </a:pPr>
                      <a:r>
                        <a:rPr lang="en-US" dirty="0"/>
                        <a:t>Mode</a:t>
                      </a:r>
                    </a:p>
                  </a:txBody>
                  <a:tcPr anchor="ctr"/>
                </a:tc>
                <a:tc>
                  <a:txBody>
                    <a:bodyPr/>
                    <a:lstStyle/>
                    <a:p>
                      <a:r>
                        <a:rPr lang="en-US" dirty="0"/>
                        <a:t>QoS</a:t>
                      </a:r>
                    </a:p>
                  </a:txBody>
                  <a:tcPr/>
                </a:tc>
                <a:tc>
                  <a:txBody>
                    <a:bodyPr/>
                    <a:lstStyle/>
                    <a:p>
                      <a:r>
                        <a:rPr lang="en-US" dirty="0"/>
                        <a:t>Clean session</a:t>
                      </a:r>
                    </a:p>
                  </a:txBody>
                  <a:tcPr/>
                </a:tc>
                <a:tc>
                  <a:txBody>
                    <a:bodyPr/>
                    <a:lstStyle/>
                    <a:p>
                      <a:r>
                        <a:rPr lang="en-US" dirty="0"/>
                        <a:t>Expected behavior</a:t>
                      </a:r>
                    </a:p>
                  </a:txBody>
                  <a:tcPr/>
                </a:tc>
                <a:extLst>
                  <a:ext uri="{0D108BD9-81ED-4DB2-BD59-A6C34878D82A}">
                    <a16:rowId xmlns:a16="http://schemas.microsoft.com/office/drawing/2014/main" val="2965481020"/>
                  </a:ext>
                </a:extLst>
              </a:tr>
              <a:tr h="370840">
                <a:tc>
                  <a:txBody>
                    <a:bodyPr/>
                    <a:lstStyle/>
                    <a:p>
                      <a:r>
                        <a:rPr lang="en-US" dirty="0"/>
                        <a:t>Control A</a:t>
                      </a:r>
                    </a:p>
                  </a:txBody>
                  <a:tcPr/>
                </a:tc>
                <a:tc>
                  <a:txBody>
                    <a:bodyPr/>
                    <a:lstStyle/>
                    <a:p>
                      <a:r>
                        <a:rPr lang="en-US" dirty="0"/>
                        <a:t>0, 1, 2</a:t>
                      </a:r>
                    </a:p>
                  </a:txBody>
                  <a:tcPr/>
                </a:tc>
                <a:tc>
                  <a:txBody>
                    <a:bodyPr/>
                    <a:lstStyle/>
                    <a:p>
                      <a:r>
                        <a:rPr lang="en-US" dirty="0"/>
                        <a:t>true</a:t>
                      </a:r>
                    </a:p>
                  </a:txBody>
                  <a:tcPr/>
                </a:tc>
                <a:tc>
                  <a:txBody>
                    <a:bodyPr/>
                    <a:lstStyle/>
                    <a:p>
                      <a:r>
                        <a:rPr lang="en-US" dirty="0"/>
                        <a:t>Offline messages lost</a:t>
                      </a:r>
                    </a:p>
                  </a:txBody>
                  <a:tcPr/>
                </a:tc>
                <a:extLst>
                  <a:ext uri="{0D108BD9-81ED-4DB2-BD59-A6C34878D82A}">
                    <a16:rowId xmlns:a16="http://schemas.microsoft.com/office/drawing/2014/main" val="67976914"/>
                  </a:ext>
                </a:extLst>
              </a:tr>
              <a:tr h="370840">
                <a:tc>
                  <a:txBody>
                    <a:bodyPr/>
                    <a:lstStyle/>
                    <a:p>
                      <a:r>
                        <a:rPr lang="en-US" dirty="0"/>
                        <a:t>Control B</a:t>
                      </a:r>
                    </a:p>
                  </a:txBody>
                  <a:tcPr/>
                </a:tc>
                <a:tc>
                  <a:txBody>
                    <a:bodyPr/>
                    <a:lstStyle/>
                    <a:p>
                      <a:r>
                        <a:rPr lang="en-US" dirty="0"/>
                        <a:t>1</a:t>
                      </a:r>
                    </a:p>
                  </a:txBody>
                  <a:tcPr/>
                </a:tc>
                <a:tc>
                  <a:txBody>
                    <a:bodyPr/>
                    <a:lstStyle/>
                    <a:p>
                      <a:r>
                        <a:rPr lang="en-US" dirty="0"/>
                        <a:t>true</a:t>
                      </a:r>
                    </a:p>
                  </a:txBody>
                  <a:tcPr/>
                </a:tc>
                <a:tc>
                  <a:txBody>
                    <a:bodyPr/>
                    <a:lstStyle/>
                    <a:p>
                      <a:r>
                        <a:rPr lang="en-US" dirty="0"/>
                        <a:t>QoS helps only while connected</a:t>
                      </a:r>
                    </a:p>
                  </a:txBody>
                  <a:tcPr/>
                </a:tc>
                <a:extLst>
                  <a:ext uri="{0D108BD9-81ED-4DB2-BD59-A6C34878D82A}">
                    <a16:rowId xmlns:a16="http://schemas.microsoft.com/office/drawing/2014/main" val="1045650252"/>
                  </a:ext>
                </a:extLst>
              </a:tr>
              <a:tr h="370840">
                <a:tc>
                  <a:txBody>
                    <a:bodyPr/>
                    <a:lstStyle/>
                    <a:p>
                      <a:r>
                        <a:rPr lang="en-US" dirty="0"/>
                        <a:t>Target</a:t>
                      </a:r>
                    </a:p>
                  </a:txBody>
                  <a:tcPr/>
                </a:tc>
                <a:tc>
                  <a:txBody>
                    <a:bodyPr/>
                    <a:lstStyle/>
                    <a:p>
                      <a:r>
                        <a:rPr lang="en-US" dirty="0"/>
                        <a:t>0, 1, 2</a:t>
                      </a:r>
                    </a:p>
                  </a:txBody>
                  <a:tcPr/>
                </a:tc>
                <a:tc>
                  <a:txBody>
                    <a:bodyPr/>
                    <a:lstStyle/>
                    <a:p>
                      <a:r>
                        <a:rPr lang="en-US" dirty="0"/>
                        <a:t>false</a:t>
                      </a:r>
                    </a:p>
                  </a:txBody>
                  <a:tcPr/>
                </a:tc>
                <a:tc>
                  <a:txBody>
                    <a:bodyPr/>
                    <a:lstStyle/>
                    <a:p>
                      <a:r>
                        <a:rPr lang="en-US" dirty="0"/>
                        <a:t>Broker queues and redelivers missed messages</a:t>
                      </a:r>
                    </a:p>
                  </a:txBody>
                  <a:tcPr/>
                </a:tc>
                <a:extLst>
                  <a:ext uri="{0D108BD9-81ED-4DB2-BD59-A6C34878D82A}">
                    <a16:rowId xmlns:a16="http://schemas.microsoft.com/office/drawing/2014/main" val="2660218164"/>
                  </a:ext>
                </a:extLst>
              </a:tr>
            </a:tbl>
          </a:graphicData>
        </a:graphic>
      </p:graphicFrame>
      <p:sp>
        <p:nvSpPr>
          <p:cNvPr id="5" name="TextBox 4">
            <a:extLst>
              <a:ext uri="{FF2B5EF4-FFF2-40B4-BE49-F238E27FC236}">
                <a16:creationId xmlns:a16="http://schemas.microsoft.com/office/drawing/2014/main" id="{1C35E981-4CA2-D59A-91E5-8803615882D4}"/>
              </a:ext>
            </a:extLst>
          </p:cNvPr>
          <p:cNvSpPr txBox="1"/>
          <p:nvPr/>
        </p:nvSpPr>
        <p:spPr>
          <a:xfrm>
            <a:off x="304800" y="3269564"/>
            <a:ext cx="2290355" cy="400110"/>
          </a:xfrm>
          <a:prstGeom prst="rect">
            <a:avLst/>
          </a:prstGeom>
          <a:noFill/>
        </p:spPr>
        <p:txBody>
          <a:bodyPr wrap="square" rtlCol="0">
            <a:spAutoFit/>
          </a:bodyPr>
          <a:lstStyle/>
          <a:p>
            <a:r>
              <a:rPr lang="en-US" sz="2000" b="1" u="sng" dirty="0"/>
              <a:t>Session Modes:</a:t>
            </a:r>
          </a:p>
        </p:txBody>
      </p:sp>
      <p:sp>
        <p:nvSpPr>
          <p:cNvPr id="7" name="TextBox 6">
            <a:extLst>
              <a:ext uri="{FF2B5EF4-FFF2-40B4-BE49-F238E27FC236}">
                <a16:creationId xmlns:a16="http://schemas.microsoft.com/office/drawing/2014/main" id="{FEF2EEA6-236E-DD26-AD28-062249F64A85}"/>
              </a:ext>
            </a:extLst>
          </p:cNvPr>
          <p:cNvSpPr txBox="1"/>
          <p:nvPr/>
        </p:nvSpPr>
        <p:spPr>
          <a:xfrm>
            <a:off x="304800" y="5534561"/>
            <a:ext cx="8402934" cy="1323439"/>
          </a:xfrm>
          <a:prstGeom prst="rect">
            <a:avLst/>
          </a:prstGeom>
          <a:noFill/>
        </p:spPr>
        <p:txBody>
          <a:bodyPr wrap="square" rtlCol="0">
            <a:spAutoFit/>
          </a:bodyPr>
          <a:lstStyle/>
          <a:p>
            <a:r>
              <a:rPr lang="en-US" sz="2000" b="1" dirty="0"/>
              <a:t>Key idea:</a:t>
            </a:r>
            <a:br>
              <a:rPr lang="en-US" sz="2000" dirty="0"/>
            </a:br>
            <a:r>
              <a:rPr lang="en-US" sz="2000" dirty="0"/>
              <a:t>Only the persistent-session mode should recover messages sent while subscribers are offline.</a:t>
            </a:r>
            <a:endParaRPr lang="en-US" sz="2000" u="sng" dirty="0"/>
          </a:p>
          <a:p>
            <a:r>
              <a:rPr lang="en-US" sz="2000" u="sng" dirty="0"/>
              <a:t>QoS is for normal situation – Mention that</a:t>
            </a:r>
          </a:p>
        </p:txBody>
      </p:sp>
    </p:spTree>
    <p:extLst>
      <p:ext uri="{BB962C8B-B14F-4D97-AF65-F5344CB8AC3E}">
        <p14:creationId xmlns:p14="http://schemas.microsoft.com/office/powerpoint/2010/main" val="36606605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A1820108-3679-EE7D-BAAF-D5230AA11441}"/>
            </a:ext>
          </a:extLst>
        </p:cNvPr>
        <p:cNvGrpSpPr/>
        <p:nvPr/>
      </p:nvGrpSpPr>
      <p:grpSpPr>
        <a:xfrm>
          <a:off x="0" y="0"/>
          <a:ext cx="0" cy="0"/>
          <a:chOff x="0" y="0"/>
          <a:chExt cx="0" cy="0"/>
        </a:xfrm>
      </p:grpSpPr>
      <p:sp>
        <p:nvSpPr>
          <p:cNvPr id="122" name="Google Shape;122;p15">
            <a:extLst>
              <a:ext uri="{FF2B5EF4-FFF2-40B4-BE49-F238E27FC236}">
                <a16:creationId xmlns:a16="http://schemas.microsoft.com/office/drawing/2014/main" id="{4CF58CC4-CF33-FFD0-57C1-439F597C5BB3}"/>
              </a:ext>
            </a:extLst>
          </p:cNvPr>
          <p:cNvSpPr txBox="1">
            <a:spLocks noGrp="1"/>
          </p:cNvSpPr>
          <p:nvPr>
            <p:ph type="title"/>
          </p:nvPr>
        </p:nvSpPr>
        <p:spPr>
          <a:xfrm>
            <a:off x="457200" y="152400"/>
            <a:ext cx="8229600" cy="1143000"/>
          </a:xfrm>
          <a:prstGeom prst="rect">
            <a:avLst/>
          </a:prstGeom>
        </p:spPr>
        <p:txBody>
          <a:bodyPr spcFirstLastPara="1" wrap="square" lIns="91425" tIns="45700" rIns="91425" bIns="45700" anchor="ctr" anchorCtr="0">
            <a:noAutofit/>
          </a:bodyPr>
          <a:lstStyle/>
          <a:p>
            <a:pPr lvl="0">
              <a:buSzPts val="990"/>
            </a:pPr>
            <a:r>
              <a:rPr lang="en-US" sz="3600" dirty="0"/>
              <a:t>Workload Setup</a:t>
            </a:r>
            <a:endParaRPr sz="3260" dirty="0"/>
          </a:p>
        </p:txBody>
      </p:sp>
      <p:sp>
        <p:nvSpPr>
          <p:cNvPr id="124" name="Google Shape;124;p15">
            <a:extLst>
              <a:ext uri="{FF2B5EF4-FFF2-40B4-BE49-F238E27FC236}">
                <a16:creationId xmlns:a16="http://schemas.microsoft.com/office/drawing/2014/main" id="{FB6A79AD-AD43-7593-554B-621F64CA8C04}"/>
              </a:ext>
            </a:extLst>
          </p:cNvPr>
          <p:cNvSpPr txBox="1">
            <a:spLocks noGrp="1"/>
          </p:cNvSpPr>
          <p:nvPr>
            <p:ph type="sldNum" idx="12"/>
          </p:nvPr>
        </p:nvSpPr>
        <p:spPr>
          <a:xfrm>
            <a:off x="3498112" y="6356350"/>
            <a:ext cx="2133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48</a:t>
            </a:fld>
            <a:endParaRPr/>
          </a:p>
        </p:txBody>
      </p:sp>
      <p:sp>
        <p:nvSpPr>
          <p:cNvPr id="3" name="Text Placeholder 2">
            <a:extLst>
              <a:ext uri="{FF2B5EF4-FFF2-40B4-BE49-F238E27FC236}">
                <a16:creationId xmlns:a16="http://schemas.microsoft.com/office/drawing/2014/main" id="{49C669DF-17F6-5CC1-EFF6-B67C78D256FF}"/>
              </a:ext>
            </a:extLst>
          </p:cNvPr>
          <p:cNvSpPr>
            <a:spLocks noGrp="1"/>
          </p:cNvSpPr>
          <p:nvPr>
            <p:ph type="body" idx="1"/>
          </p:nvPr>
        </p:nvSpPr>
        <p:spPr>
          <a:xfrm>
            <a:off x="526869" y="3437120"/>
            <a:ext cx="8229600" cy="1333742"/>
          </a:xfrm>
        </p:spPr>
        <p:txBody>
          <a:bodyPr>
            <a:normAutofit/>
          </a:bodyPr>
          <a:lstStyle/>
          <a:p>
            <a:pPr marL="85725" indent="0">
              <a:buNone/>
            </a:pPr>
            <a:r>
              <a:rPr lang="en-US" sz="2400" b="1" dirty="0"/>
              <a:t>Topology</a:t>
            </a:r>
            <a:br>
              <a:rPr lang="en-US" sz="2400" dirty="0"/>
            </a:br>
            <a:r>
              <a:rPr lang="en-US" sz="2400" dirty="0"/>
              <a:t>One publisher and one subscriber per topic using multi-dimensional topic mapping.</a:t>
            </a:r>
          </a:p>
        </p:txBody>
      </p:sp>
      <p:graphicFrame>
        <p:nvGraphicFramePr>
          <p:cNvPr id="4" name="Table 3">
            <a:extLst>
              <a:ext uri="{FF2B5EF4-FFF2-40B4-BE49-F238E27FC236}">
                <a16:creationId xmlns:a16="http://schemas.microsoft.com/office/drawing/2014/main" id="{2DA95ED1-3FFB-65A3-875B-091EEEBEBF1B}"/>
              </a:ext>
            </a:extLst>
          </p:cNvPr>
          <p:cNvGraphicFramePr>
            <a:graphicFrameLocks noGrp="1"/>
          </p:cNvGraphicFramePr>
          <p:nvPr>
            <p:extLst>
              <p:ext uri="{D42A27DB-BD31-4B8C-83A1-F6EECF244321}">
                <p14:modId xmlns:p14="http://schemas.microsoft.com/office/powerpoint/2010/main" val="2614340626"/>
              </p:ext>
            </p:extLst>
          </p:nvPr>
        </p:nvGraphicFramePr>
        <p:xfrm>
          <a:off x="309033" y="1768368"/>
          <a:ext cx="8525933" cy="1112520"/>
        </p:xfrm>
        <a:graphic>
          <a:graphicData uri="http://schemas.openxmlformats.org/drawingml/2006/table">
            <a:tbl>
              <a:tblPr firstRow="1" bandRow="1">
                <a:tableStyleId>{5C22544A-7EE6-4342-B048-85BDC9FD1C3A}</a:tableStyleId>
              </a:tblPr>
              <a:tblGrid>
                <a:gridCol w="1635152">
                  <a:extLst>
                    <a:ext uri="{9D8B030D-6E8A-4147-A177-3AD203B41FA5}">
                      <a16:colId xmlns:a16="http://schemas.microsoft.com/office/drawing/2014/main" val="3919808013"/>
                    </a:ext>
                  </a:extLst>
                </a:gridCol>
                <a:gridCol w="1635152">
                  <a:extLst>
                    <a:ext uri="{9D8B030D-6E8A-4147-A177-3AD203B41FA5}">
                      <a16:colId xmlns:a16="http://schemas.microsoft.com/office/drawing/2014/main" val="1523636316"/>
                    </a:ext>
                  </a:extLst>
                </a:gridCol>
                <a:gridCol w="1284979">
                  <a:extLst>
                    <a:ext uri="{9D8B030D-6E8A-4147-A177-3AD203B41FA5}">
                      <a16:colId xmlns:a16="http://schemas.microsoft.com/office/drawing/2014/main" val="3510806209"/>
                    </a:ext>
                  </a:extLst>
                </a:gridCol>
                <a:gridCol w="1985325">
                  <a:extLst>
                    <a:ext uri="{9D8B030D-6E8A-4147-A177-3AD203B41FA5}">
                      <a16:colId xmlns:a16="http://schemas.microsoft.com/office/drawing/2014/main" val="3842652336"/>
                    </a:ext>
                  </a:extLst>
                </a:gridCol>
                <a:gridCol w="1985325">
                  <a:extLst>
                    <a:ext uri="{9D8B030D-6E8A-4147-A177-3AD203B41FA5}">
                      <a16:colId xmlns:a16="http://schemas.microsoft.com/office/drawing/2014/main" val="2235481253"/>
                    </a:ext>
                  </a:extLst>
                </a:gridCol>
              </a:tblGrid>
              <a:tr h="370840">
                <a:tc>
                  <a:txBody>
                    <a:bodyPr/>
                    <a:lstStyle/>
                    <a:p>
                      <a:pPr>
                        <a:buNone/>
                      </a:pPr>
                      <a:r>
                        <a:rPr lang="en-US" dirty="0"/>
                        <a:t>Load</a:t>
                      </a:r>
                    </a:p>
                  </a:txBody>
                  <a:tcPr anchor="ctr"/>
                </a:tc>
                <a:tc>
                  <a:txBody>
                    <a:bodyPr/>
                    <a:lstStyle/>
                    <a:p>
                      <a:pPr algn="r">
                        <a:buNone/>
                      </a:pPr>
                      <a:r>
                        <a:rPr lang="en-US"/>
                        <a:t>Topics</a:t>
                      </a:r>
                    </a:p>
                  </a:txBody>
                  <a:tcPr anchor="ctr"/>
                </a:tc>
                <a:tc>
                  <a:txBody>
                    <a:bodyPr/>
                    <a:lstStyle/>
                    <a:p>
                      <a:pPr algn="r">
                        <a:buNone/>
                      </a:pPr>
                      <a:r>
                        <a:rPr lang="en-US"/>
                        <a:t>Payload</a:t>
                      </a:r>
                    </a:p>
                  </a:txBody>
                  <a:tcPr anchor="ctr"/>
                </a:tc>
                <a:tc>
                  <a:txBody>
                    <a:bodyPr/>
                    <a:lstStyle/>
                    <a:p>
                      <a:pPr algn="r">
                        <a:buNone/>
                      </a:pPr>
                      <a:r>
                        <a:rPr lang="en-US"/>
                        <a:t>Rate/topic</a:t>
                      </a:r>
                    </a:p>
                  </a:txBody>
                  <a:tcPr anchor="ctr"/>
                </a:tc>
                <a:tc>
                  <a:txBody>
                    <a:bodyPr/>
                    <a:lstStyle/>
                    <a:p>
                      <a:pPr algn="r">
                        <a:buNone/>
                      </a:pPr>
                      <a:r>
                        <a:rPr lang="en-US"/>
                        <a:t>Total rate</a:t>
                      </a:r>
                    </a:p>
                  </a:txBody>
                  <a:tcPr anchor="ctr"/>
                </a:tc>
                <a:extLst>
                  <a:ext uri="{0D108BD9-81ED-4DB2-BD59-A6C34878D82A}">
                    <a16:rowId xmlns:a16="http://schemas.microsoft.com/office/drawing/2014/main" val="2965481020"/>
                  </a:ext>
                </a:extLst>
              </a:tr>
              <a:tr h="370840">
                <a:tc>
                  <a:txBody>
                    <a:bodyPr/>
                    <a:lstStyle/>
                    <a:p>
                      <a:pPr>
                        <a:buNone/>
                      </a:pPr>
                      <a:r>
                        <a:rPr lang="en-US"/>
                        <a:t>Moderate</a:t>
                      </a:r>
                    </a:p>
                  </a:txBody>
                  <a:tcPr anchor="ctr"/>
                </a:tc>
                <a:tc>
                  <a:txBody>
                    <a:bodyPr/>
                    <a:lstStyle/>
                    <a:p>
                      <a:pPr algn="r">
                        <a:buNone/>
                      </a:pPr>
                      <a:r>
                        <a:rPr lang="en-US" dirty="0"/>
                        <a:t>200</a:t>
                      </a:r>
                    </a:p>
                  </a:txBody>
                  <a:tcPr anchor="ctr"/>
                </a:tc>
                <a:tc>
                  <a:txBody>
                    <a:bodyPr/>
                    <a:lstStyle/>
                    <a:p>
                      <a:pPr algn="r">
                        <a:buNone/>
                      </a:pPr>
                      <a:r>
                        <a:rPr lang="en-US"/>
                        <a:t>128 B</a:t>
                      </a:r>
                    </a:p>
                  </a:txBody>
                  <a:tcPr anchor="ctr"/>
                </a:tc>
                <a:tc>
                  <a:txBody>
                    <a:bodyPr/>
                    <a:lstStyle/>
                    <a:p>
                      <a:pPr algn="r">
                        <a:buNone/>
                      </a:pPr>
                      <a:r>
                        <a:rPr lang="en-US" dirty="0"/>
                        <a:t>2 msg/s</a:t>
                      </a:r>
                    </a:p>
                  </a:txBody>
                  <a:tcPr anchor="ctr"/>
                </a:tc>
                <a:tc>
                  <a:txBody>
                    <a:bodyPr/>
                    <a:lstStyle/>
                    <a:p>
                      <a:pPr algn="r">
                        <a:buNone/>
                      </a:pPr>
                      <a:r>
                        <a:rPr lang="en-US"/>
                        <a:t>400 msg/s</a:t>
                      </a:r>
                    </a:p>
                  </a:txBody>
                  <a:tcPr anchor="ctr"/>
                </a:tc>
                <a:extLst>
                  <a:ext uri="{0D108BD9-81ED-4DB2-BD59-A6C34878D82A}">
                    <a16:rowId xmlns:a16="http://schemas.microsoft.com/office/drawing/2014/main" val="67976914"/>
                  </a:ext>
                </a:extLst>
              </a:tr>
              <a:tr h="370840">
                <a:tc>
                  <a:txBody>
                    <a:bodyPr/>
                    <a:lstStyle/>
                    <a:p>
                      <a:pPr>
                        <a:buNone/>
                      </a:pPr>
                      <a:r>
                        <a:rPr lang="en-US" dirty="0"/>
                        <a:t>Stress</a:t>
                      </a:r>
                    </a:p>
                  </a:txBody>
                  <a:tcPr anchor="ctr"/>
                </a:tc>
                <a:tc>
                  <a:txBody>
                    <a:bodyPr/>
                    <a:lstStyle/>
                    <a:p>
                      <a:pPr algn="r">
                        <a:buNone/>
                      </a:pPr>
                      <a:r>
                        <a:rPr lang="en-US"/>
                        <a:t>500</a:t>
                      </a:r>
                    </a:p>
                  </a:txBody>
                  <a:tcPr anchor="ctr"/>
                </a:tc>
                <a:tc>
                  <a:txBody>
                    <a:bodyPr/>
                    <a:lstStyle/>
                    <a:p>
                      <a:pPr algn="r">
                        <a:buNone/>
                      </a:pPr>
                      <a:r>
                        <a:rPr lang="en-US"/>
                        <a:t>128 B</a:t>
                      </a:r>
                    </a:p>
                  </a:txBody>
                  <a:tcPr anchor="ctr"/>
                </a:tc>
                <a:tc>
                  <a:txBody>
                    <a:bodyPr/>
                    <a:lstStyle/>
                    <a:p>
                      <a:pPr algn="r">
                        <a:buNone/>
                      </a:pPr>
                      <a:r>
                        <a:rPr lang="en-US"/>
                        <a:t>5 msg/s</a:t>
                      </a:r>
                    </a:p>
                  </a:txBody>
                  <a:tcPr anchor="ctr"/>
                </a:tc>
                <a:tc>
                  <a:txBody>
                    <a:bodyPr/>
                    <a:lstStyle/>
                    <a:p>
                      <a:pPr algn="r">
                        <a:buNone/>
                      </a:pPr>
                      <a:r>
                        <a:rPr lang="en-US" dirty="0"/>
                        <a:t>2500 msg/s</a:t>
                      </a:r>
                    </a:p>
                  </a:txBody>
                  <a:tcPr anchor="ctr"/>
                </a:tc>
                <a:extLst>
                  <a:ext uri="{0D108BD9-81ED-4DB2-BD59-A6C34878D82A}">
                    <a16:rowId xmlns:a16="http://schemas.microsoft.com/office/drawing/2014/main" val="1045650252"/>
                  </a:ext>
                </a:extLst>
              </a:tr>
            </a:tbl>
          </a:graphicData>
        </a:graphic>
      </p:graphicFrame>
    </p:spTree>
    <p:extLst>
      <p:ext uri="{BB962C8B-B14F-4D97-AF65-F5344CB8AC3E}">
        <p14:creationId xmlns:p14="http://schemas.microsoft.com/office/powerpoint/2010/main" val="38883867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2C1BD3AF-5B9E-66D7-61E3-0547259D0FE5}"/>
            </a:ext>
          </a:extLst>
        </p:cNvPr>
        <p:cNvGrpSpPr/>
        <p:nvPr/>
      </p:nvGrpSpPr>
      <p:grpSpPr>
        <a:xfrm>
          <a:off x="0" y="0"/>
          <a:ext cx="0" cy="0"/>
          <a:chOff x="0" y="0"/>
          <a:chExt cx="0" cy="0"/>
        </a:xfrm>
      </p:grpSpPr>
      <p:sp>
        <p:nvSpPr>
          <p:cNvPr id="122" name="Google Shape;122;p15">
            <a:extLst>
              <a:ext uri="{FF2B5EF4-FFF2-40B4-BE49-F238E27FC236}">
                <a16:creationId xmlns:a16="http://schemas.microsoft.com/office/drawing/2014/main" id="{013E4960-22AC-8E59-0401-6B5B4A9F1CB9}"/>
              </a:ext>
            </a:extLst>
          </p:cNvPr>
          <p:cNvSpPr txBox="1">
            <a:spLocks noGrp="1"/>
          </p:cNvSpPr>
          <p:nvPr>
            <p:ph type="title"/>
          </p:nvPr>
        </p:nvSpPr>
        <p:spPr>
          <a:xfrm>
            <a:off x="457200" y="152400"/>
            <a:ext cx="8229600" cy="1143000"/>
          </a:xfrm>
          <a:prstGeom prst="rect">
            <a:avLst/>
          </a:prstGeom>
        </p:spPr>
        <p:txBody>
          <a:bodyPr spcFirstLastPara="1" wrap="square" lIns="91425" tIns="45700" rIns="91425" bIns="45700" anchor="ctr" anchorCtr="0">
            <a:noAutofit/>
          </a:bodyPr>
          <a:lstStyle/>
          <a:p>
            <a:pPr lvl="0">
              <a:buSzPts val="990"/>
            </a:pPr>
            <a:r>
              <a:rPr lang="en-US" sz="3600" dirty="0"/>
              <a:t>Run Timeline</a:t>
            </a:r>
            <a:endParaRPr sz="3260" dirty="0"/>
          </a:p>
        </p:txBody>
      </p:sp>
      <p:sp>
        <p:nvSpPr>
          <p:cNvPr id="124" name="Google Shape;124;p15">
            <a:extLst>
              <a:ext uri="{FF2B5EF4-FFF2-40B4-BE49-F238E27FC236}">
                <a16:creationId xmlns:a16="http://schemas.microsoft.com/office/drawing/2014/main" id="{D3A7611E-E271-A8A3-F31A-F54E2FE951C4}"/>
              </a:ext>
            </a:extLst>
          </p:cNvPr>
          <p:cNvSpPr txBox="1">
            <a:spLocks noGrp="1"/>
          </p:cNvSpPr>
          <p:nvPr>
            <p:ph type="sldNum" idx="12"/>
          </p:nvPr>
        </p:nvSpPr>
        <p:spPr>
          <a:xfrm>
            <a:off x="3498112" y="6356350"/>
            <a:ext cx="2133600" cy="3651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49</a:t>
            </a:fld>
            <a:endParaRPr dirty="0"/>
          </a:p>
        </p:txBody>
      </p:sp>
      <p:graphicFrame>
        <p:nvGraphicFramePr>
          <p:cNvPr id="2" name="Table 1">
            <a:extLst>
              <a:ext uri="{FF2B5EF4-FFF2-40B4-BE49-F238E27FC236}">
                <a16:creationId xmlns:a16="http://schemas.microsoft.com/office/drawing/2014/main" id="{BA834923-B193-861D-E85F-70655ABF9E37}"/>
              </a:ext>
            </a:extLst>
          </p:cNvPr>
          <p:cNvGraphicFramePr>
            <a:graphicFrameLocks noGrp="1"/>
          </p:cNvGraphicFramePr>
          <p:nvPr>
            <p:extLst>
              <p:ext uri="{D42A27DB-BD31-4B8C-83A1-F6EECF244321}">
                <p14:modId xmlns:p14="http://schemas.microsoft.com/office/powerpoint/2010/main" val="3218431463"/>
              </p:ext>
            </p:extLst>
          </p:nvPr>
        </p:nvGraphicFramePr>
        <p:xfrm>
          <a:off x="927341" y="2309215"/>
          <a:ext cx="7432888" cy="3033319"/>
        </p:xfrm>
        <a:graphic>
          <a:graphicData uri="http://schemas.openxmlformats.org/drawingml/2006/table">
            <a:tbl>
              <a:tblPr firstRow="1" bandRow="1">
                <a:tableStyleId>{5C22544A-7EE6-4342-B048-85BDC9FD1C3A}</a:tableStyleId>
              </a:tblPr>
              <a:tblGrid>
                <a:gridCol w="1858222">
                  <a:extLst>
                    <a:ext uri="{9D8B030D-6E8A-4147-A177-3AD203B41FA5}">
                      <a16:colId xmlns:a16="http://schemas.microsoft.com/office/drawing/2014/main" val="3919808013"/>
                    </a:ext>
                  </a:extLst>
                </a:gridCol>
                <a:gridCol w="1858222">
                  <a:extLst>
                    <a:ext uri="{9D8B030D-6E8A-4147-A177-3AD203B41FA5}">
                      <a16:colId xmlns:a16="http://schemas.microsoft.com/office/drawing/2014/main" val="1523636316"/>
                    </a:ext>
                  </a:extLst>
                </a:gridCol>
                <a:gridCol w="1460278">
                  <a:extLst>
                    <a:ext uri="{9D8B030D-6E8A-4147-A177-3AD203B41FA5}">
                      <a16:colId xmlns:a16="http://schemas.microsoft.com/office/drawing/2014/main" val="3510806209"/>
                    </a:ext>
                  </a:extLst>
                </a:gridCol>
                <a:gridCol w="2256166">
                  <a:extLst>
                    <a:ext uri="{9D8B030D-6E8A-4147-A177-3AD203B41FA5}">
                      <a16:colId xmlns:a16="http://schemas.microsoft.com/office/drawing/2014/main" val="3842652336"/>
                    </a:ext>
                  </a:extLst>
                </a:gridCol>
              </a:tblGrid>
              <a:tr h="370288">
                <a:tc>
                  <a:txBody>
                    <a:bodyPr/>
                    <a:lstStyle/>
                    <a:p>
                      <a:pPr>
                        <a:buNone/>
                      </a:pPr>
                      <a:r>
                        <a:rPr lang="en-US" dirty="0"/>
                        <a:t>Phase</a:t>
                      </a:r>
                    </a:p>
                  </a:txBody>
                  <a:tcPr anchor="ctr"/>
                </a:tc>
                <a:tc>
                  <a:txBody>
                    <a:bodyPr/>
                    <a:lstStyle/>
                    <a:p>
                      <a:pPr>
                        <a:buNone/>
                      </a:pPr>
                      <a:r>
                        <a:rPr lang="en-US"/>
                        <a:t>Time</a:t>
                      </a:r>
                    </a:p>
                  </a:txBody>
                  <a:tcPr anchor="ctr"/>
                </a:tc>
                <a:tc>
                  <a:txBody>
                    <a:bodyPr/>
                    <a:lstStyle/>
                    <a:p>
                      <a:pPr>
                        <a:buNone/>
                      </a:pPr>
                      <a:r>
                        <a:rPr lang="en-US"/>
                        <a:t>Subscriber</a:t>
                      </a:r>
                    </a:p>
                  </a:txBody>
                  <a:tcPr anchor="ctr"/>
                </a:tc>
                <a:tc>
                  <a:txBody>
                    <a:bodyPr/>
                    <a:lstStyle/>
                    <a:p>
                      <a:pPr>
                        <a:buNone/>
                      </a:pPr>
                      <a:r>
                        <a:rPr lang="en-US"/>
                        <a:t>Purpose</a:t>
                      </a:r>
                    </a:p>
                  </a:txBody>
                  <a:tcPr anchor="ctr"/>
                </a:tc>
                <a:extLst>
                  <a:ext uri="{0D108BD9-81ED-4DB2-BD59-A6C34878D82A}">
                    <a16:rowId xmlns:a16="http://schemas.microsoft.com/office/drawing/2014/main" val="2965481020"/>
                  </a:ext>
                </a:extLst>
              </a:tr>
              <a:tr h="370288">
                <a:tc>
                  <a:txBody>
                    <a:bodyPr/>
                    <a:lstStyle/>
                    <a:p>
                      <a:pPr>
                        <a:buNone/>
                      </a:pPr>
                      <a:r>
                        <a:rPr lang="en-US"/>
                        <a:t>Baseline</a:t>
                      </a:r>
                    </a:p>
                  </a:txBody>
                  <a:tcPr anchor="ctr"/>
                </a:tc>
                <a:tc>
                  <a:txBody>
                    <a:bodyPr/>
                    <a:lstStyle/>
                    <a:p>
                      <a:pPr>
                        <a:buNone/>
                      </a:pPr>
                      <a:r>
                        <a:rPr lang="en-US"/>
                        <a:t>0–60s</a:t>
                      </a:r>
                    </a:p>
                  </a:txBody>
                  <a:tcPr anchor="ctr"/>
                </a:tc>
                <a:tc>
                  <a:txBody>
                    <a:bodyPr/>
                    <a:lstStyle/>
                    <a:p>
                      <a:pPr>
                        <a:buNone/>
                      </a:pPr>
                      <a:r>
                        <a:rPr lang="en-US" dirty="0"/>
                        <a:t>Online</a:t>
                      </a:r>
                    </a:p>
                  </a:txBody>
                  <a:tcPr anchor="ctr"/>
                </a:tc>
                <a:tc>
                  <a:txBody>
                    <a:bodyPr/>
                    <a:lstStyle/>
                    <a:p>
                      <a:pPr>
                        <a:buNone/>
                      </a:pPr>
                      <a:r>
                        <a:rPr lang="en-US" dirty="0"/>
                        <a:t>Normal delivery</a:t>
                      </a:r>
                    </a:p>
                  </a:txBody>
                  <a:tcPr anchor="ctr"/>
                </a:tc>
                <a:extLst>
                  <a:ext uri="{0D108BD9-81ED-4DB2-BD59-A6C34878D82A}">
                    <a16:rowId xmlns:a16="http://schemas.microsoft.com/office/drawing/2014/main" val="67976914"/>
                  </a:ext>
                </a:extLst>
              </a:tr>
              <a:tr h="370288">
                <a:tc>
                  <a:txBody>
                    <a:bodyPr/>
                    <a:lstStyle/>
                    <a:p>
                      <a:pPr>
                        <a:buNone/>
                      </a:pPr>
                      <a:r>
                        <a:rPr lang="en-US"/>
                        <a:t>Offline 1</a:t>
                      </a:r>
                    </a:p>
                  </a:txBody>
                  <a:tcPr anchor="ctr"/>
                </a:tc>
                <a:tc>
                  <a:txBody>
                    <a:bodyPr/>
                    <a:lstStyle/>
                    <a:p>
                      <a:pPr>
                        <a:buNone/>
                      </a:pPr>
                      <a:r>
                        <a:rPr lang="en-US" dirty="0"/>
                        <a:t>60–90s</a:t>
                      </a:r>
                    </a:p>
                  </a:txBody>
                  <a:tcPr anchor="ctr"/>
                </a:tc>
                <a:tc>
                  <a:txBody>
                    <a:bodyPr/>
                    <a:lstStyle/>
                    <a:p>
                      <a:pPr>
                        <a:buNone/>
                      </a:pPr>
                      <a:r>
                        <a:rPr lang="en-US" dirty="0"/>
                        <a:t>Offline</a:t>
                      </a:r>
                    </a:p>
                  </a:txBody>
                  <a:tcPr anchor="ctr"/>
                </a:tc>
                <a:tc>
                  <a:txBody>
                    <a:bodyPr/>
                    <a:lstStyle/>
                    <a:p>
                      <a:pPr>
                        <a:buNone/>
                      </a:pPr>
                      <a:r>
                        <a:rPr lang="en-US" dirty="0"/>
                        <a:t>Create backlog</a:t>
                      </a:r>
                    </a:p>
                  </a:txBody>
                  <a:tcPr anchor="ctr"/>
                </a:tc>
                <a:extLst>
                  <a:ext uri="{0D108BD9-81ED-4DB2-BD59-A6C34878D82A}">
                    <a16:rowId xmlns:a16="http://schemas.microsoft.com/office/drawing/2014/main" val="1045650252"/>
                  </a:ext>
                </a:extLst>
              </a:tr>
              <a:tr h="370288">
                <a:tc>
                  <a:txBody>
                    <a:bodyPr/>
                    <a:lstStyle/>
                    <a:p>
                      <a:pPr>
                        <a:buNone/>
                      </a:pPr>
                      <a:r>
                        <a:rPr lang="en-US"/>
                        <a:t>Recovery 1</a:t>
                      </a:r>
                    </a:p>
                  </a:txBody>
                  <a:tcPr anchor="ctr"/>
                </a:tc>
                <a:tc>
                  <a:txBody>
                    <a:bodyPr/>
                    <a:lstStyle/>
                    <a:p>
                      <a:pPr>
                        <a:buNone/>
                      </a:pPr>
                      <a:r>
                        <a:rPr lang="en-US" dirty="0"/>
                        <a:t>90–150s</a:t>
                      </a:r>
                    </a:p>
                  </a:txBody>
                  <a:tcPr anchor="ctr"/>
                </a:tc>
                <a:tc>
                  <a:txBody>
                    <a:bodyPr/>
                    <a:lstStyle/>
                    <a:p>
                      <a:pPr>
                        <a:buNone/>
                      </a:pPr>
                      <a:r>
                        <a:rPr lang="en-US" dirty="0"/>
                        <a:t>Online</a:t>
                      </a:r>
                    </a:p>
                  </a:txBody>
                  <a:tcPr anchor="ctr"/>
                </a:tc>
                <a:tc>
                  <a:txBody>
                    <a:bodyPr/>
                    <a:lstStyle/>
                    <a:p>
                      <a:pPr>
                        <a:buNone/>
                      </a:pPr>
                      <a:r>
                        <a:rPr lang="en-US"/>
                        <a:t>Measure catch-up</a:t>
                      </a:r>
                    </a:p>
                  </a:txBody>
                  <a:tcPr anchor="ctr"/>
                </a:tc>
                <a:extLst>
                  <a:ext uri="{0D108BD9-81ED-4DB2-BD59-A6C34878D82A}">
                    <a16:rowId xmlns:a16="http://schemas.microsoft.com/office/drawing/2014/main" val="2330764269"/>
                  </a:ext>
                </a:extLst>
              </a:tr>
              <a:tr h="517389">
                <a:tc>
                  <a:txBody>
                    <a:bodyPr/>
                    <a:lstStyle/>
                    <a:p>
                      <a:pPr>
                        <a:buNone/>
                      </a:pPr>
                      <a:r>
                        <a:rPr lang="en-US"/>
                        <a:t>Offline 2</a:t>
                      </a:r>
                    </a:p>
                  </a:txBody>
                  <a:tcPr anchor="ctr"/>
                </a:tc>
                <a:tc>
                  <a:txBody>
                    <a:bodyPr/>
                    <a:lstStyle/>
                    <a:p>
                      <a:pPr>
                        <a:buNone/>
                      </a:pPr>
                      <a:r>
                        <a:rPr lang="en-US"/>
                        <a:t>150–180s</a:t>
                      </a:r>
                    </a:p>
                  </a:txBody>
                  <a:tcPr anchor="ctr"/>
                </a:tc>
                <a:tc>
                  <a:txBody>
                    <a:bodyPr/>
                    <a:lstStyle/>
                    <a:p>
                      <a:pPr>
                        <a:buNone/>
                      </a:pPr>
                      <a:r>
                        <a:rPr lang="en-US"/>
                        <a:t>Offline</a:t>
                      </a:r>
                    </a:p>
                  </a:txBody>
                  <a:tcPr anchor="ctr"/>
                </a:tc>
                <a:tc>
                  <a:txBody>
                    <a:bodyPr/>
                    <a:lstStyle/>
                    <a:p>
                      <a:pPr>
                        <a:buNone/>
                      </a:pPr>
                      <a:r>
                        <a:rPr lang="en-US"/>
                        <a:t>Create second backlog</a:t>
                      </a:r>
                    </a:p>
                  </a:txBody>
                  <a:tcPr anchor="ctr"/>
                </a:tc>
                <a:extLst>
                  <a:ext uri="{0D108BD9-81ED-4DB2-BD59-A6C34878D82A}">
                    <a16:rowId xmlns:a16="http://schemas.microsoft.com/office/drawing/2014/main" val="2000144093"/>
                  </a:ext>
                </a:extLst>
              </a:tr>
              <a:tr h="517389">
                <a:tc>
                  <a:txBody>
                    <a:bodyPr/>
                    <a:lstStyle/>
                    <a:p>
                      <a:pPr>
                        <a:buNone/>
                      </a:pPr>
                      <a:r>
                        <a:rPr lang="en-US"/>
                        <a:t>Recovery 2</a:t>
                      </a:r>
                    </a:p>
                  </a:txBody>
                  <a:tcPr anchor="ctr"/>
                </a:tc>
                <a:tc>
                  <a:txBody>
                    <a:bodyPr/>
                    <a:lstStyle/>
                    <a:p>
                      <a:pPr>
                        <a:buNone/>
                      </a:pPr>
                      <a:r>
                        <a:rPr lang="en-US"/>
                        <a:t>180–240s</a:t>
                      </a:r>
                    </a:p>
                  </a:txBody>
                  <a:tcPr anchor="ctr"/>
                </a:tc>
                <a:tc>
                  <a:txBody>
                    <a:bodyPr/>
                    <a:lstStyle/>
                    <a:p>
                      <a:pPr>
                        <a:buNone/>
                      </a:pPr>
                      <a:r>
                        <a:rPr lang="en-US"/>
                        <a:t>Online</a:t>
                      </a:r>
                    </a:p>
                  </a:txBody>
                  <a:tcPr anchor="ctr"/>
                </a:tc>
                <a:tc>
                  <a:txBody>
                    <a:bodyPr/>
                    <a:lstStyle/>
                    <a:p>
                      <a:pPr>
                        <a:buNone/>
                      </a:pPr>
                      <a:r>
                        <a:rPr lang="en-US"/>
                        <a:t>Measure second catch-up</a:t>
                      </a:r>
                    </a:p>
                  </a:txBody>
                  <a:tcPr anchor="ctr"/>
                </a:tc>
                <a:extLst>
                  <a:ext uri="{0D108BD9-81ED-4DB2-BD59-A6C34878D82A}">
                    <a16:rowId xmlns:a16="http://schemas.microsoft.com/office/drawing/2014/main" val="76859045"/>
                  </a:ext>
                </a:extLst>
              </a:tr>
              <a:tr h="517389">
                <a:tc>
                  <a:txBody>
                    <a:bodyPr/>
                    <a:lstStyle/>
                    <a:p>
                      <a:pPr>
                        <a:buNone/>
                      </a:pPr>
                      <a:r>
                        <a:rPr lang="en-US"/>
                        <a:t>Final drain</a:t>
                      </a:r>
                    </a:p>
                  </a:txBody>
                  <a:tcPr anchor="ctr"/>
                </a:tc>
                <a:tc>
                  <a:txBody>
                    <a:bodyPr/>
                    <a:lstStyle/>
                    <a:p>
                      <a:pPr>
                        <a:buNone/>
                      </a:pPr>
                      <a:r>
                        <a:rPr lang="en-US"/>
                        <a:t>240–300s</a:t>
                      </a:r>
                    </a:p>
                  </a:txBody>
                  <a:tcPr anchor="ctr"/>
                </a:tc>
                <a:tc>
                  <a:txBody>
                    <a:bodyPr/>
                    <a:lstStyle/>
                    <a:p>
                      <a:pPr>
                        <a:buNone/>
                      </a:pPr>
                      <a:r>
                        <a:rPr lang="en-US"/>
                        <a:t>Online</a:t>
                      </a:r>
                    </a:p>
                  </a:txBody>
                  <a:tcPr anchor="ctr"/>
                </a:tc>
                <a:tc>
                  <a:txBody>
                    <a:bodyPr/>
                    <a:lstStyle/>
                    <a:p>
                      <a:pPr>
                        <a:buNone/>
                      </a:pPr>
                      <a:r>
                        <a:rPr lang="en-US" dirty="0"/>
                        <a:t>Drain queued messages</a:t>
                      </a:r>
                    </a:p>
                  </a:txBody>
                  <a:tcPr anchor="ctr"/>
                </a:tc>
                <a:extLst>
                  <a:ext uri="{0D108BD9-81ED-4DB2-BD59-A6C34878D82A}">
                    <a16:rowId xmlns:a16="http://schemas.microsoft.com/office/drawing/2014/main" val="4080335931"/>
                  </a:ext>
                </a:extLst>
              </a:tr>
            </a:tbl>
          </a:graphicData>
        </a:graphic>
      </p:graphicFrame>
    </p:spTree>
    <p:extLst>
      <p:ext uri="{BB962C8B-B14F-4D97-AF65-F5344CB8AC3E}">
        <p14:creationId xmlns:p14="http://schemas.microsoft.com/office/powerpoint/2010/main" val="38294780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1F1CE-9ACD-258D-14C2-588BEB6672EE}"/>
              </a:ext>
            </a:extLst>
          </p:cNvPr>
          <p:cNvSpPr>
            <a:spLocks noGrp="1"/>
          </p:cNvSpPr>
          <p:nvPr>
            <p:ph type="title"/>
          </p:nvPr>
        </p:nvSpPr>
        <p:spPr/>
        <p:txBody>
          <a:bodyPr/>
          <a:lstStyle/>
          <a:p>
            <a:r>
              <a:rPr lang="en-US" dirty="0"/>
              <a:t>Metrics</a:t>
            </a:r>
          </a:p>
        </p:txBody>
      </p:sp>
      <p:sp>
        <p:nvSpPr>
          <p:cNvPr id="4" name="Slide Number Placeholder 3">
            <a:extLst>
              <a:ext uri="{FF2B5EF4-FFF2-40B4-BE49-F238E27FC236}">
                <a16:creationId xmlns:a16="http://schemas.microsoft.com/office/drawing/2014/main" id="{FCF7EF97-5AFA-729B-E9C1-1F6297294E2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50</a:t>
            </a:fld>
            <a:endParaRPr lang="en-US"/>
          </a:p>
        </p:txBody>
      </p:sp>
      <p:sp>
        <p:nvSpPr>
          <p:cNvPr id="6" name="Google Shape;123;p15">
            <a:extLst>
              <a:ext uri="{FF2B5EF4-FFF2-40B4-BE49-F238E27FC236}">
                <a16:creationId xmlns:a16="http://schemas.microsoft.com/office/drawing/2014/main" id="{BFE36A3C-77E3-C170-5FBE-0987B46F7031}"/>
              </a:ext>
            </a:extLst>
          </p:cNvPr>
          <p:cNvSpPr txBox="1">
            <a:spLocks noGrp="1"/>
          </p:cNvSpPr>
          <p:nvPr>
            <p:ph type="body" idx="1"/>
          </p:nvPr>
        </p:nvSpPr>
        <p:spPr>
          <a:prstGeom prst="rect">
            <a:avLst/>
          </a:prstGeom>
        </p:spPr>
        <p:txBody>
          <a:bodyPr spcFirstLastPara="1" wrap="square" lIns="91425" tIns="45700" rIns="91425" bIns="45700" anchor="t" anchorCtr="0">
            <a:normAutofit fontScale="92500" lnSpcReduction="20000"/>
          </a:bodyPr>
          <a:lstStyle/>
          <a:p>
            <a:pPr>
              <a:buFont typeface="Wingdings" pitchFamily="2" charset="2"/>
              <a:buChar char="v"/>
            </a:pPr>
            <a:r>
              <a:rPr lang="en-US" sz="2800" b="1" dirty="0"/>
              <a:t>Primary metric</a:t>
            </a:r>
            <a:endParaRPr lang="en-US" sz="2800" dirty="0"/>
          </a:p>
          <a:p>
            <a:pPr lvl="1"/>
            <a:r>
              <a:rPr lang="en-US" sz="1800" dirty="0"/>
              <a:t>Final delivery ratio </a:t>
            </a:r>
          </a:p>
          <a:p>
            <a:pPr>
              <a:buFont typeface="Wingdings" pitchFamily="2" charset="2"/>
              <a:buChar char="v"/>
            </a:pPr>
            <a:r>
              <a:rPr lang="en-US" sz="2800" b="1" dirty="0"/>
              <a:t>Recovery metrics</a:t>
            </a:r>
            <a:endParaRPr lang="en-US" sz="2800" dirty="0"/>
          </a:p>
          <a:p>
            <a:pPr lvl="1"/>
            <a:r>
              <a:rPr lang="en-US" sz="1800" dirty="0"/>
              <a:t>Backlog drain time </a:t>
            </a:r>
          </a:p>
          <a:p>
            <a:pPr lvl="1"/>
            <a:r>
              <a:rPr lang="en-US" sz="1800" dirty="0"/>
              <a:t>Recovery throughput </a:t>
            </a:r>
          </a:p>
          <a:p>
            <a:pPr lvl="1"/>
            <a:r>
              <a:rPr lang="en-US" sz="1800" dirty="0"/>
              <a:t>Latency after reconnect </a:t>
            </a:r>
          </a:p>
          <a:p>
            <a:pPr>
              <a:buFont typeface="Wingdings" pitchFamily="2" charset="2"/>
              <a:buChar char="v"/>
            </a:pPr>
            <a:r>
              <a:rPr lang="en-US" sz="2800" b="1" dirty="0"/>
              <a:t>Resource metrics</a:t>
            </a:r>
            <a:endParaRPr lang="en-US" sz="2800" dirty="0"/>
          </a:p>
          <a:p>
            <a:pPr lvl="1"/>
            <a:r>
              <a:rPr lang="en-US" sz="1800" dirty="0"/>
              <a:t>Broker memory during offline windows </a:t>
            </a:r>
          </a:p>
          <a:p>
            <a:pPr lvl="1"/>
            <a:r>
              <a:rPr lang="en-US" sz="1800" dirty="0"/>
              <a:t>Broker CPU during recovery windows</a:t>
            </a:r>
          </a:p>
          <a:p>
            <a:endParaRPr lang="en-US" sz="2400" dirty="0"/>
          </a:p>
          <a:p>
            <a:r>
              <a:rPr lang="en-US" sz="2400" dirty="0"/>
              <a:t>Instead of asking only:</a:t>
            </a:r>
          </a:p>
          <a:p>
            <a:pPr lvl="1"/>
            <a:r>
              <a:rPr lang="en-US" sz="1800" b="1" dirty="0"/>
              <a:t>How fast is the broker?</a:t>
            </a:r>
            <a:endParaRPr lang="en-US" sz="1800" dirty="0"/>
          </a:p>
          <a:p>
            <a:r>
              <a:rPr lang="en-US" sz="2400" dirty="0"/>
              <a:t>We are asking:</a:t>
            </a:r>
          </a:p>
          <a:p>
            <a:pPr lvl="1"/>
            <a:r>
              <a:rPr lang="en-US" sz="1800" b="1" dirty="0"/>
              <a:t>What happens/How does the </a:t>
            </a:r>
            <a:r>
              <a:rPr lang="en-US" sz="1800" b="1"/>
              <a:t>broker performs </a:t>
            </a:r>
            <a:r>
              <a:rPr lang="en-US" sz="1800" b="1" dirty="0"/>
              <a:t>when IoT connectivity is unreliable?</a:t>
            </a:r>
            <a:endParaRPr lang="en-US" sz="2400" dirty="0"/>
          </a:p>
          <a:p>
            <a:pPr marL="588645" indent="-457200">
              <a:spcBef>
                <a:spcPts val="0"/>
              </a:spcBef>
              <a:buSzPct val="64286"/>
              <a:buFont typeface="Wingdings" pitchFamily="2" charset="2"/>
              <a:buChar char="v"/>
            </a:pPr>
            <a:endParaRPr sz="3600" dirty="0"/>
          </a:p>
        </p:txBody>
      </p:sp>
    </p:spTree>
    <p:extLst>
      <p:ext uri="{BB962C8B-B14F-4D97-AF65-F5344CB8AC3E}">
        <p14:creationId xmlns:p14="http://schemas.microsoft.com/office/powerpoint/2010/main" val="2804404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6296A-2D01-E6D1-7F07-D7A9AA1F79D2}"/>
              </a:ext>
            </a:extLst>
          </p:cNvPr>
          <p:cNvSpPr>
            <a:spLocks noGrp="1"/>
          </p:cNvSpPr>
          <p:nvPr>
            <p:ph type="title"/>
          </p:nvPr>
        </p:nvSpPr>
        <p:spPr/>
        <p:txBody>
          <a:bodyPr/>
          <a:lstStyle/>
          <a:p>
            <a:r>
              <a:rPr lang="en-US" dirty="0"/>
              <a:t>Expected Result</a:t>
            </a:r>
          </a:p>
        </p:txBody>
      </p:sp>
      <p:sp>
        <p:nvSpPr>
          <p:cNvPr id="3" name="Text Placeholder 2">
            <a:extLst>
              <a:ext uri="{FF2B5EF4-FFF2-40B4-BE49-F238E27FC236}">
                <a16:creationId xmlns:a16="http://schemas.microsoft.com/office/drawing/2014/main" id="{23A186C5-605A-18D2-4581-B2245E7837A4}"/>
              </a:ext>
            </a:extLst>
          </p:cNvPr>
          <p:cNvSpPr>
            <a:spLocks noGrp="1"/>
          </p:cNvSpPr>
          <p:nvPr>
            <p:ph type="body" idx="1"/>
          </p:nvPr>
        </p:nvSpPr>
        <p:spPr>
          <a:xfrm>
            <a:off x="457200" y="1600199"/>
            <a:ext cx="8229600" cy="4931229"/>
          </a:xfrm>
        </p:spPr>
        <p:txBody>
          <a:bodyPr>
            <a:normAutofit fontScale="85000" lnSpcReduction="20000"/>
          </a:bodyPr>
          <a:lstStyle/>
          <a:p>
            <a:r>
              <a:rPr lang="en-US" dirty="0"/>
              <a:t>Because </a:t>
            </a:r>
            <a:r>
              <a:rPr lang="en-US" b="1" dirty="0"/>
              <a:t>subscribers</a:t>
            </a:r>
            <a:r>
              <a:rPr lang="en-US" dirty="0"/>
              <a:t> are </a:t>
            </a:r>
            <a:r>
              <a:rPr lang="en-US" b="1" dirty="0"/>
              <a:t>offline</a:t>
            </a:r>
            <a:r>
              <a:rPr lang="en-US" dirty="0"/>
              <a:t> for 60s out of 240s publishing time:</a:t>
            </a:r>
          </a:p>
          <a:p>
            <a:pPr lvl="1"/>
            <a:r>
              <a:rPr lang="en-US" b="1" dirty="0"/>
              <a:t>Control A</a:t>
            </a:r>
            <a:r>
              <a:rPr lang="en-US" dirty="0"/>
              <a:t> should deliver around </a:t>
            </a:r>
            <a:r>
              <a:rPr lang="en-US" b="1" dirty="0"/>
              <a:t>75%</a:t>
            </a:r>
            <a:r>
              <a:rPr lang="en-US" dirty="0"/>
              <a:t> </a:t>
            </a:r>
          </a:p>
          <a:p>
            <a:pPr lvl="1"/>
            <a:r>
              <a:rPr lang="en-US" b="1" dirty="0"/>
              <a:t>Control B </a:t>
            </a:r>
            <a:r>
              <a:rPr lang="en-US" dirty="0"/>
              <a:t>should deliver around </a:t>
            </a:r>
            <a:r>
              <a:rPr lang="en-US" b="1" dirty="0"/>
              <a:t>75%</a:t>
            </a:r>
            <a:r>
              <a:rPr lang="en-US" dirty="0"/>
              <a:t> </a:t>
            </a:r>
          </a:p>
          <a:p>
            <a:pPr lvl="1"/>
            <a:r>
              <a:rPr lang="en-US" b="1" dirty="0"/>
              <a:t>Persistent-session MQTT </a:t>
            </a:r>
            <a:r>
              <a:rPr lang="en-US" dirty="0"/>
              <a:t>should deliver close to </a:t>
            </a:r>
            <a:r>
              <a:rPr lang="en-US" b="1" dirty="0"/>
              <a:t>100%</a:t>
            </a:r>
            <a:endParaRPr lang="en-US" dirty="0"/>
          </a:p>
          <a:p>
            <a:endParaRPr lang="en-US" dirty="0"/>
          </a:p>
          <a:p>
            <a:r>
              <a:rPr lang="en-US" b="1" dirty="0"/>
              <a:t>What We Learn:</a:t>
            </a:r>
          </a:p>
          <a:p>
            <a:pPr lvl="1"/>
            <a:r>
              <a:rPr lang="en-US" dirty="0"/>
              <a:t>Whether </a:t>
            </a:r>
            <a:r>
              <a:rPr lang="en-US" b="1" dirty="0"/>
              <a:t>MQTT persistent sessions </a:t>
            </a:r>
            <a:r>
              <a:rPr lang="en-US" dirty="0"/>
              <a:t>provide </a:t>
            </a:r>
            <a:r>
              <a:rPr lang="en-US" b="1" dirty="0"/>
              <a:t>real</a:t>
            </a:r>
            <a:r>
              <a:rPr lang="en-US" dirty="0"/>
              <a:t> </a:t>
            </a:r>
            <a:r>
              <a:rPr lang="en-US" b="1" dirty="0"/>
              <a:t>recovery</a:t>
            </a:r>
            <a:r>
              <a:rPr lang="en-US" dirty="0"/>
              <a:t> benefit </a:t>
            </a:r>
          </a:p>
          <a:p>
            <a:pPr lvl="1"/>
            <a:r>
              <a:rPr lang="en-US" dirty="0"/>
              <a:t>In cs=f, which one gives better throughput</a:t>
            </a:r>
          </a:p>
          <a:p>
            <a:pPr lvl="1"/>
            <a:r>
              <a:rPr lang="en-US" dirty="0"/>
              <a:t>How much </a:t>
            </a:r>
            <a:r>
              <a:rPr lang="en-US" b="1" dirty="0"/>
              <a:t>recovery costs </a:t>
            </a:r>
            <a:r>
              <a:rPr lang="en-US" dirty="0"/>
              <a:t>in latency, CPU, and memory </a:t>
            </a:r>
          </a:p>
          <a:p>
            <a:pPr lvl="1"/>
            <a:r>
              <a:rPr lang="en-US" dirty="0"/>
              <a:t>Whether MQTT has an </a:t>
            </a:r>
            <a:r>
              <a:rPr lang="en-US" b="1" dirty="0"/>
              <a:t>advantage</a:t>
            </a:r>
            <a:r>
              <a:rPr lang="en-US" dirty="0"/>
              <a:t> </a:t>
            </a:r>
            <a:r>
              <a:rPr lang="en-US" b="1" dirty="0"/>
              <a:t>in intermittent-connectivity scenarios</a:t>
            </a:r>
          </a:p>
        </p:txBody>
      </p:sp>
      <p:sp>
        <p:nvSpPr>
          <p:cNvPr id="4" name="Slide Number Placeholder 3">
            <a:extLst>
              <a:ext uri="{FF2B5EF4-FFF2-40B4-BE49-F238E27FC236}">
                <a16:creationId xmlns:a16="http://schemas.microsoft.com/office/drawing/2014/main" id="{46FC2FD7-BB47-8127-04E7-5A8102AED69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51</a:t>
            </a:fld>
            <a:endParaRPr lang="en-US"/>
          </a:p>
        </p:txBody>
      </p:sp>
    </p:spTree>
    <p:extLst>
      <p:ext uri="{BB962C8B-B14F-4D97-AF65-F5344CB8AC3E}">
        <p14:creationId xmlns:p14="http://schemas.microsoft.com/office/powerpoint/2010/main" val="41603747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6E917-C8B0-EB43-57DA-412DA0311139}"/>
              </a:ext>
            </a:extLst>
          </p:cNvPr>
          <p:cNvSpPr>
            <a:spLocks noGrp="1"/>
          </p:cNvSpPr>
          <p:nvPr>
            <p:ph type="title"/>
          </p:nvPr>
        </p:nvSpPr>
        <p:spPr/>
        <p:txBody>
          <a:bodyPr>
            <a:noAutofit/>
          </a:bodyPr>
          <a:lstStyle/>
          <a:p>
            <a:r>
              <a:rPr lang="en-US" sz="3200" dirty="0"/>
              <a:t>Experiment 4: MQTT Message Recovery for Intermittently Powered </a:t>
            </a:r>
            <a:r>
              <a:rPr lang="en-US" sz="3200" dirty="0" err="1"/>
              <a:t>Batteryless</a:t>
            </a:r>
            <a:r>
              <a:rPr lang="en-US" sz="3200" dirty="0"/>
              <a:t> IoT</a:t>
            </a:r>
          </a:p>
        </p:txBody>
      </p:sp>
      <p:sp>
        <p:nvSpPr>
          <p:cNvPr id="3" name="Text Placeholder 2">
            <a:extLst>
              <a:ext uri="{FF2B5EF4-FFF2-40B4-BE49-F238E27FC236}">
                <a16:creationId xmlns:a16="http://schemas.microsoft.com/office/drawing/2014/main" id="{FF8787BC-417E-97D4-5910-9883E7905E74}"/>
              </a:ext>
            </a:extLst>
          </p:cNvPr>
          <p:cNvSpPr>
            <a:spLocks noGrp="1"/>
          </p:cNvSpPr>
          <p:nvPr>
            <p:ph type="body" idx="1"/>
          </p:nvPr>
        </p:nvSpPr>
        <p:spPr>
          <a:xfrm>
            <a:off x="81481" y="1616050"/>
            <a:ext cx="9062519" cy="5105400"/>
          </a:xfrm>
        </p:spPr>
        <p:txBody>
          <a:bodyPr>
            <a:normAutofit/>
          </a:bodyPr>
          <a:lstStyle/>
          <a:p>
            <a:r>
              <a:rPr lang="en-US" b="1" dirty="0"/>
              <a:t>Motivation</a:t>
            </a:r>
            <a:endParaRPr lang="en-US" dirty="0"/>
          </a:p>
          <a:p>
            <a:pPr lvl="1">
              <a:lnSpc>
                <a:spcPct val="150000"/>
              </a:lnSpc>
            </a:pPr>
            <a:r>
              <a:rPr lang="en-US" sz="2000" dirty="0" err="1"/>
              <a:t>Batteryless</a:t>
            </a:r>
            <a:r>
              <a:rPr lang="en-US" sz="2000" dirty="0"/>
              <a:t> IoT devices operate using harvested environmental energy. </a:t>
            </a:r>
          </a:p>
          <a:p>
            <a:pPr lvl="1">
              <a:lnSpc>
                <a:spcPct val="150000"/>
              </a:lnSpc>
            </a:pPr>
            <a:r>
              <a:rPr lang="en-US" sz="2000" dirty="0"/>
              <a:t>Small energy buffers and unpredictable harvesting cause </a:t>
            </a:r>
            <a:r>
              <a:rPr lang="en-US" sz="2000" b="1" dirty="0"/>
              <a:t>frequent power interruptions</a:t>
            </a:r>
            <a:r>
              <a:rPr lang="en-US" sz="2000" dirty="0"/>
              <a:t>. </a:t>
            </a:r>
          </a:p>
          <a:p>
            <a:pPr lvl="1">
              <a:lnSpc>
                <a:spcPct val="150000"/>
              </a:lnSpc>
            </a:pPr>
            <a:r>
              <a:rPr lang="en-US" sz="2000" dirty="0"/>
              <a:t>Devices therefore alternate between:</a:t>
            </a:r>
            <a:br>
              <a:rPr lang="en-US" sz="2000" dirty="0"/>
            </a:br>
            <a:r>
              <a:rPr lang="en-US" sz="2000" b="1" dirty="0"/>
              <a:t>Active → Power Loss → Recharge → Active</a:t>
            </a:r>
            <a:r>
              <a:rPr lang="en-US" sz="2000" dirty="0"/>
              <a:t> </a:t>
            </a:r>
          </a:p>
          <a:p>
            <a:pPr lvl="1">
              <a:lnSpc>
                <a:spcPct val="150000"/>
              </a:lnSpc>
            </a:pPr>
            <a:r>
              <a:rPr lang="en-US" sz="2000" dirty="0"/>
              <a:t>Communication must tolerate repeated device unavailability and reconnection. </a:t>
            </a:r>
          </a:p>
          <a:p>
            <a:pPr lvl="1">
              <a:lnSpc>
                <a:spcPct val="150000"/>
              </a:lnSpc>
            </a:pPr>
            <a:r>
              <a:rPr lang="en-US" sz="2000" b="1" dirty="0"/>
              <a:t>Question:</a:t>
            </a:r>
            <a:r>
              <a:rPr lang="en-US" sz="2000" dirty="0"/>
              <a:t> Can MQTT persistent sessions provide message continuity across these intermittent power periods?</a:t>
            </a:r>
          </a:p>
          <a:p>
            <a:endParaRPr lang="en-US" dirty="0"/>
          </a:p>
        </p:txBody>
      </p:sp>
      <p:sp>
        <p:nvSpPr>
          <p:cNvPr id="4" name="Slide Number Placeholder 3">
            <a:extLst>
              <a:ext uri="{FF2B5EF4-FFF2-40B4-BE49-F238E27FC236}">
                <a16:creationId xmlns:a16="http://schemas.microsoft.com/office/drawing/2014/main" id="{143F0CCE-E215-AE6B-5E0A-3B7626D1B4A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52</a:t>
            </a:fld>
            <a:endParaRPr lang="en-US"/>
          </a:p>
        </p:txBody>
      </p:sp>
    </p:spTree>
    <p:extLst>
      <p:ext uri="{BB962C8B-B14F-4D97-AF65-F5344CB8AC3E}">
        <p14:creationId xmlns:p14="http://schemas.microsoft.com/office/powerpoint/2010/main" val="38001235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B38BB-6DE0-AEFF-852E-D7F7F582346C}"/>
              </a:ext>
            </a:extLst>
          </p:cNvPr>
          <p:cNvSpPr>
            <a:spLocks noGrp="1"/>
          </p:cNvSpPr>
          <p:nvPr>
            <p:ph type="title"/>
          </p:nvPr>
        </p:nvSpPr>
        <p:spPr/>
        <p:txBody>
          <a:bodyPr/>
          <a:lstStyle/>
          <a:p>
            <a:r>
              <a:rPr lang="en-US" dirty="0" err="1"/>
              <a:t>Batteryless</a:t>
            </a:r>
            <a:r>
              <a:rPr lang="en-US" dirty="0"/>
              <a:t> IoT challenge</a:t>
            </a:r>
          </a:p>
        </p:txBody>
      </p:sp>
      <p:sp>
        <p:nvSpPr>
          <p:cNvPr id="3" name="Text Placeholder 2">
            <a:extLst>
              <a:ext uri="{FF2B5EF4-FFF2-40B4-BE49-F238E27FC236}">
                <a16:creationId xmlns:a16="http://schemas.microsoft.com/office/drawing/2014/main" id="{EE2B1C4E-3D78-4FAA-AF47-88518606EE48}"/>
              </a:ext>
            </a:extLst>
          </p:cNvPr>
          <p:cNvSpPr>
            <a:spLocks noGrp="1"/>
          </p:cNvSpPr>
          <p:nvPr>
            <p:ph type="body" idx="1"/>
          </p:nvPr>
        </p:nvSpPr>
        <p:spPr>
          <a:xfrm>
            <a:off x="3171432" y="1562825"/>
            <a:ext cx="4261463" cy="4526100"/>
          </a:xfrm>
        </p:spPr>
        <p:txBody>
          <a:bodyPr>
            <a:normAutofit fontScale="92500" lnSpcReduction="20000"/>
          </a:bodyPr>
          <a:lstStyle/>
          <a:p>
            <a:pPr marL="85725" indent="0">
              <a:buNone/>
            </a:pPr>
            <a:r>
              <a:rPr lang="en-US" sz="2400" b="1" dirty="0"/>
              <a:t>Energy available</a:t>
            </a:r>
          </a:p>
          <a:p>
            <a:pPr marL="85725" indent="0">
              <a:buNone/>
            </a:pPr>
            <a:r>
              <a:rPr lang="en-US" sz="2400" b="1" dirty="0"/>
              <a:t>           ↓</a:t>
            </a:r>
          </a:p>
          <a:p>
            <a:pPr marL="85725" indent="0">
              <a:buNone/>
            </a:pPr>
            <a:r>
              <a:rPr lang="en-US" sz="2400" b="1" dirty="0"/>
              <a:t>Device powers ON</a:t>
            </a:r>
          </a:p>
          <a:p>
            <a:pPr marL="85725" indent="0">
              <a:buNone/>
            </a:pPr>
            <a:r>
              <a:rPr lang="en-US" sz="2400" b="1" dirty="0"/>
              <a:t>           ↓</a:t>
            </a:r>
          </a:p>
          <a:p>
            <a:pPr marL="85725" indent="0">
              <a:buNone/>
            </a:pPr>
            <a:r>
              <a:rPr lang="en-US" sz="2400" b="1" dirty="0"/>
              <a:t>MQTT connected</a:t>
            </a:r>
          </a:p>
          <a:p>
            <a:pPr marL="85725" indent="0">
              <a:buNone/>
            </a:pPr>
            <a:r>
              <a:rPr lang="en-US" sz="2400" b="1" dirty="0"/>
              <a:t>           ↓</a:t>
            </a:r>
          </a:p>
          <a:p>
            <a:pPr marL="85725" indent="0">
              <a:buNone/>
            </a:pPr>
            <a:r>
              <a:rPr lang="en-US" sz="2400" b="1" dirty="0"/>
              <a:t>Energy depleted</a:t>
            </a:r>
          </a:p>
          <a:p>
            <a:pPr marL="85725" indent="0">
              <a:buNone/>
            </a:pPr>
            <a:r>
              <a:rPr lang="en-US" sz="2400" b="1" dirty="0"/>
              <a:t>           ↓</a:t>
            </a:r>
          </a:p>
          <a:p>
            <a:pPr marL="85725" indent="0">
              <a:buNone/>
            </a:pPr>
            <a:r>
              <a:rPr lang="en-US" sz="2400" b="1" dirty="0"/>
              <a:t>Device powers OFF</a:t>
            </a:r>
          </a:p>
          <a:p>
            <a:pPr marL="85725" indent="0">
              <a:buNone/>
            </a:pPr>
            <a:r>
              <a:rPr lang="en-US" sz="2400" b="1" dirty="0"/>
              <a:t>           ↓</a:t>
            </a:r>
          </a:p>
          <a:p>
            <a:pPr marL="85725" indent="0">
              <a:buNone/>
            </a:pPr>
            <a:r>
              <a:rPr lang="en-US" sz="2400" b="1" dirty="0"/>
              <a:t>Harvest / recharge</a:t>
            </a:r>
          </a:p>
          <a:p>
            <a:pPr marL="85725" indent="0">
              <a:buNone/>
            </a:pPr>
            <a:r>
              <a:rPr lang="en-US" sz="2400" b="1" dirty="0"/>
              <a:t>           ↓</a:t>
            </a:r>
          </a:p>
          <a:p>
            <a:pPr marL="85725" indent="0">
              <a:buNone/>
            </a:pPr>
            <a:r>
              <a:rPr lang="en-US" sz="2400" b="1" dirty="0"/>
              <a:t>Device powers ON + reconnects</a:t>
            </a:r>
          </a:p>
        </p:txBody>
      </p:sp>
      <p:sp>
        <p:nvSpPr>
          <p:cNvPr id="4" name="Slide Number Placeholder 3">
            <a:extLst>
              <a:ext uri="{FF2B5EF4-FFF2-40B4-BE49-F238E27FC236}">
                <a16:creationId xmlns:a16="http://schemas.microsoft.com/office/drawing/2014/main" id="{04957B4A-F76B-8049-122D-3ED45BB7C54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53</a:t>
            </a:fld>
            <a:endParaRPr lang="en-US"/>
          </a:p>
        </p:txBody>
      </p:sp>
    </p:spTree>
    <p:extLst>
      <p:ext uri="{BB962C8B-B14F-4D97-AF65-F5344CB8AC3E}">
        <p14:creationId xmlns:p14="http://schemas.microsoft.com/office/powerpoint/2010/main" val="4904717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2CEF-9F83-0539-FEB4-9C343B29B429}"/>
              </a:ext>
            </a:extLst>
          </p:cNvPr>
          <p:cNvSpPr>
            <a:spLocks noGrp="1"/>
          </p:cNvSpPr>
          <p:nvPr>
            <p:ph type="title"/>
          </p:nvPr>
        </p:nvSpPr>
        <p:spPr/>
        <p:txBody>
          <a:bodyPr/>
          <a:lstStyle/>
          <a:p>
            <a:r>
              <a:rPr lang="en-US" dirty="0" err="1"/>
              <a:t>Batteryless</a:t>
            </a:r>
            <a:r>
              <a:rPr lang="en-US" dirty="0"/>
              <a:t> IoT Scenario</a:t>
            </a:r>
          </a:p>
        </p:txBody>
      </p:sp>
      <p:sp>
        <p:nvSpPr>
          <p:cNvPr id="3" name="Text Placeholder 2">
            <a:extLst>
              <a:ext uri="{FF2B5EF4-FFF2-40B4-BE49-F238E27FC236}">
                <a16:creationId xmlns:a16="http://schemas.microsoft.com/office/drawing/2014/main" id="{0D3E3C9B-7ED1-47C6-2B13-BC12BD090BC3}"/>
              </a:ext>
            </a:extLst>
          </p:cNvPr>
          <p:cNvSpPr>
            <a:spLocks noGrp="1"/>
          </p:cNvSpPr>
          <p:nvPr>
            <p:ph type="body" idx="1"/>
          </p:nvPr>
        </p:nvSpPr>
        <p:spPr>
          <a:xfrm>
            <a:off x="181069" y="1463650"/>
            <a:ext cx="8962931" cy="5394350"/>
          </a:xfrm>
        </p:spPr>
        <p:txBody>
          <a:bodyPr>
            <a:normAutofit fontScale="62500" lnSpcReduction="20000"/>
          </a:bodyPr>
          <a:lstStyle/>
          <a:p>
            <a:pPr>
              <a:lnSpc>
                <a:spcPct val="160000"/>
              </a:lnSpc>
            </a:pPr>
            <a:r>
              <a:rPr lang="en-US" sz="2400" dirty="0"/>
              <a:t>Edge Application → MQTT Broker → </a:t>
            </a:r>
            <a:r>
              <a:rPr lang="en-US" sz="2400" dirty="0" err="1"/>
              <a:t>Batteryless</a:t>
            </a:r>
            <a:r>
              <a:rPr lang="en-US" sz="2400" dirty="0"/>
              <a:t> IoT Nodes</a:t>
            </a:r>
          </a:p>
          <a:p>
            <a:pPr>
              <a:lnSpc>
                <a:spcPct val="160000"/>
              </a:lnSpc>
            </a:pPr>
            <a:r>
              <a:rPr lang="en-US" sz="2400" dirty="0"/>
              <a:t>The </a:t>
            </a:r>
            <a:r>
              <a:rPr lang="en-US" sz="2400" dirty="0" err="1"/>
              <a:t>batteryless</a:t>
            </a:r>
            <a:r>
              <a:rPr lang="en-US" sz="2400" dirty="0"/>
              <a:t> node acts as an intermittently available </a:t>
            </a:r>
            <a:r>
              <a:rPr lang="en-US" sz="2400" b="1" dirty="0"/>
              <a:t>subscriber</a:t>
            </a:r>
            <a:r>
              <a:rPr lang="en-US" sz="2400" dirty="0"/>
              <a:t>.</a:t>
            </a:r>
          </a:p>
          <a:p>
            <a:pPr>
              <a:lnSpc>
                <a:spcPct val="160000"/>
              </a:lnSpc>
            </a:pPr>
            <a:r>
              <a:rPr lang="en-US" sz="2400" dirty="0"/>
              <a:t>While powered:</a:t>
            </a:r>
          </a:p>
          <a:p>
            <a:pPr lvl="1">
              <a:lnSpc>
                <a:spcPct val="160000"/>
              </a:lnSpc>
            </a:pPr>
            <a:r>
              <a:rPr lang="en-US" sz="1800" dirty="0"/>
              <a:t>receives configuration updates </a:t>
            </a:r>
          </a:p>
          <a:p>
            <a:pPr lvl="1">
              <a:lnSpc>
                <a:spcPct val="160000"/>
              </a:lnSpc>
            </a:pPr>
            <a:r>
              <a:rPr lang="en-US" sz="1800" dirty="0"/>
              <a:t>receives commands/control information </a:t>
            </a:r>
          </a:p>
          <a:p>
            <a:pPr lvl="1">
              <a:lnSpc>
                <a:spcPct val="160000"/>
              </a:lnSpc>
            </a:pPr>
            <a:r>
              <a:rPr lang="en-US" sz="1800" dirty="0"/>
              <a:t>receives alerts or application state </a:t>
            </a:r>
          </a:p>
          <a:p>
            <a:pPr>
              <a:lnSpc>
                <a:spcPct val="160000"/>
              </a:lnSpc>
            </a:pPr>
            <a:r>
              <a:rPr lang="en-US" sz="2400" dirty="0"/>
              <a:t>During energy shortage:</a:t>
            </a:r>
          </a:p>
          <a:p>
            <a:pPr lvl="1">
              <a:lnSpc>
                <a:spcPct val="160000"/>
              </a:lnSpc>
            </a:pPr>
            <a:r>
              <a:rPr lang="en-US" sz="1800" dirty="0"/>
              <a:t>device loses power </a:t>
            </a:r>
          </a:p>
          <a:p>
            <a:pPr lvl="1">
              <a:lnSpc>
                <a:spcPct val="160000"/>
              </a:lnSpc>
            </a:pPr>
            <a:r>
              <a:rPr lang="en-US" sz="1800" dirty="0"/>
              <a:t>publisher continues generating messages </a:t>
            </a:r>
          </a:p>
          <a:p>
            <a:pPr lvl="1">
              <a:lnSpc>
                <a:spcPct val="160000"/>
              </a:lnSpc>
            </a:pPr>
            <a:r>
              <a:rPr lang="en-US" sz="1800" dirty="0"/>
              <a:t>broker may retain messages for the unavailable device </a:t>
            </a:r>
          </a:p>
          <a:p>
            <a:pPr>
              <a:lnSpc>
                <a:spcPct val="160000"/>
              </a:lnSpc>
            </a:pPr>
            <a:r>
              <a:rPr lang="en-US" sz="2400" dirty="0"/>
              <a:t>After harvesting sufficient energy:</a:t>
            </a:r>
          </a:p>
          <a:p>
            <a:pPr lvl="1">
              <a:lnSpc>
                <a:spcPct val="160000"/>
              </a:lnSpc>
            </a:pPr>
            <a:r>
              <a:rPr lang="en-US" sz="1800" dirty="0"/>
              <a:t>device restarts </a:t>
            </a:r>
          </a:p>
          <a:p>
            <a:pPr lvl="1">
              <a:lnSpc>
                <a:spcPct val="160000"/>
              </a:lnSpc>
            </a:pPr>
            <a:r>
              <a:rPr lang="en-US" sz="1800" dirty="0"/>
              <a:t>reconnects with the same MQTT client identity </a:t>
            </a:r>
          </a:p>
          <a:p>
            <a:pPr lvl="1">
              <a:lnSpc>
                <a:spcPct val="160000"/>
              </a:lnSpc>
            </a:pPr>
            <a:r>
              <a:rPr lang="en-US" sz="1800" dirty="0"/>
              <a:t>queued messages may be recovered </a:t>
            </a:r>
          </a:p>
          <a:p>
            <a:pPr>
              <a:lnSpc>
                <a:spcPct val="160000"/>
              </a:lnSpc>
            </a:pPr>
            <a:r>
              <a:rPr lang="en-US" sz="2400" b="1" dirty="0"/>
              <a:t>Research Question: </a:t>
            </a:r>
            <a:r>
              <a:rPr lang="en-US" sz="2400" dirty="0"/>
              <a:t>How effectively can MQTT persistent sessions recover messages for intermittently powered </a:t>
            </a:r>
            <a:r>
              <a:rPr lang="en-US" sz="2400" dirty="0" err="1"/>
              <a:t>batteryless</a:t>
            </a:r>
            <a:r>
              <a:rPr lang="en-US" sz="2400" dirty="0"/>
              <a:t> IoT devices after energy-induced outages?</a:t>
            </a:r>
          </a:p>
          <a:p>
            <a:pPr>
              <a:lnSpc>
                <a:spcPct val="160000"/>
              </a:lnSpc>
            </a:pPr>
            <a:endParaRPr lang="en-US" sz="2400" dirty="0"/>
          </a:p>
        </p:txBody>
      </p:sp>
      <p:sp>
        <p:nvSpPr>
          <p:cNvPr id="4" name="Slide Number Placeholder 3">
            <a:extLst>
              <a:ext uri="{FF2B5EF4-FFF2-40B4-BE49-F238E27FC236}">
                <a16:creationId xmlns:a16="http://schemas.microsoft.com/office/drawing/2014/main" id="{123D8ABE-DB34-A07B-BEE6-2DC5C54EE88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54</a:t>
            </a:fld>
            <a:endParaRPr lang="en-US"/>
          </a:p>
        </p:txBody>
      </p:sp>
    </p:spTree>
    <p:extLst>
      <p:ext uri="{BB962C8B-B14F-4D97-AF65-F5344CB8AC3E}">
        <p14:creationId xmlns:p14="http://schemas.microsoft.com/office/powerpoint/2010/main" val="21860604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9640E-BB04-076C-AE51-B7BC1A7E440F}"/>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4E7C7242-5475-6DDD-72E0-CD13D1A19F8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55</a:t>
            </a:fld>
            <a:endParaRPr lang="en-US"/>
          </a:p>
        </p:txBody>
      </p:sp>
      <p:pic>
        <p:nvPicPr>
          <p:cNvPr id="8" name="Picture 7">
            <a:extLst>
              <a:ext uri="{FF2B5EF4-FFF2-40B4-BE49-F238E27FC236}">
                <a16:creationId xmlns:a16="http://schemas.microsoft.com/office/drawing/2014/main" id="{79DEF98A-52B6-33F8-1114-0B15DA798717}"/>
              </a:ext>
            </a:extLst>
          </p:cNvPr>
          <p:cNvPicPr>
            <a:picLocks noChangeAspect="1"/>
          </p:cNvPicPr>
          <p:nvPr/>
        </p:nvPicPr>
        <p:blipFill>
          <a:blip r:embed="rId2"/>
          <a:srcRect r="4785"/>
          <a:stretch>
            <a:fillRect/>
          </a:stretch>
        </p:blipFill>
        <p:spPr>
          <a:xfrm>
            <a:off x="1896533" y="1996016"/>
            <a:ext cx="5867727" cy="4133849"/>
          </a:xfrm>
          <a:prstGeom prst="rect">
            <a:avLst/>
          </a:prstGeom>
        </p:spPr>
      </p:pic>
    </p:spTree>
    <p:extLst>
      <p:ext uri="{BB962C8B-B14F-4D97-AF65-F5344CB8AC3E}">
        <p14:creationId xmlns:p14="http://schemas.microsoft.com/office/powerpoint/2010/main" val="11246663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312CB-3FE4-B13F-092A-068A8D9FF5CD}"/>
              </a:ext>
            </a:extLst>
          </p:cNvPr>
          <p:cNvSpPr>
            <a:spLocks noGrp="1"/>
          </p:cNvSpPr>
          <p:nvPr>
            <p:ph type="title"/>
          </p:nvPr>
        </p:nvSpPr>
        <p:spPr/>
        <p:txBody>
          <a:bodyPr/>
          <a:lstStyle/>
          <a:p>
            <a:r>
              <a:rPr lang="en-US" dirty="0"/>
              <a:t>Session Modes</a:t>
            </a:r>
          </a:p>
        </p:txBody>
      </p:sp>
      <p:sp>
        <p:nvSpPr>
          <p:cNvPr id="3" name="Text Placeholder 2">
            <a:extLst>
              <a:ext uri="{FF2B5EF4-FFF2-40B4-BE49-F238E27FC236}">
                <a16:creationId xmlns:a16="http://schemas.microsoft.com/office/drawing/2014/main" id="{687D836F-54A8-A276-71C3-D98D80DCD4A6}"/>
              </a:ext>
            </a:extLst>
          </p:cNvPr>
          <p:cNvSpPr>
            <a:spLocks noGrp="1"/>
          </p:cNvSpPr>
          <p:nvPr>
            <p:ph type="body" idx="1"/>
          </p:nvPr>
        </p:nvSpPr>
        <p:spPr>
          <a:xfrm>
            <a:off x="457200" y="4581052"/>
            <a:ext cx="8229600" cy="1077364"/>
          </a:xfrm>
        </p:spPr>
        <p:txBody>
          <a:bodyPr>
            <a:normAutofit/>
          </a:bodyPr>
          <a:lstStyle/>
          <a:p>
            <a:r>
              <a:rPr lang="en-US" sz="2000" dirty="0"/>
              <a:t>Instead of a graceful MQTT disconnect:</a:t>
            </a:r>
          </a:p>
          <a:p>
            <a:r>
              <a:rPr lang="en-US" sz="2000" b="1" dirty="0"/>
              <a:t>Abruptly terminate/power-off the subscriber → restart → reconnect</a:t>
            </a:r>
            <a:endParaRPr lang="en-US" sz="2000" dirty="0"/>
          </a:p>
          <a:p>
            <a:endParaRPr lang="en-US" sz="2000" dirty="0"/>
          </a:p>
        </p:txBody>
      </p:sp>
      <p:sp>
        <p:nvSpPr>
          <p:cNvPr id="4" name="Slide Number Placeholder 3">
            <a:extLst>
              <a:ext uri="{FF2B5EF4-FFF2-40B4-BE49-F238E27FC236}">
                <a16:creationId xmlns:a16="http://schemas.microsoft.com/office/drawing/2014/main" id="{2CD12A2B-435B-C603-BACC-D152B844016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56</a:t>
            </a:fld>
            <a:endParaRPr lang="en-US"/>
          </a:p>
        </p:txBody>
      </p:sp>
      <p:graphicFrame>
        <p:nvGraphicFramePr>
          <p:cNvPr id="5" name="Table 4">
            <a:extLst>
              <a:ext uri="{FF2B5EF4-FFF2-40B4-BE49-F238E27FC236}">
                <a16:creationId xmlns:a16="http://schemas.microsoft.com/office/drawing/2014/main" id="{687D65A6-B22C-9A20-FE9B-747EE911A1F4}"/>
              </a:ext>
            </a:extLst>
          </p:cNvPr>
          <p:cNvGraphicFramePr>
            <a:graphicFrameLocks noGrp="1"/>
          </p:cNvGraphicFramePr>
          <p:nvPr>
            <p:extLst>
              <p:ext uri="{D42A27DB-BD31-4B8C-83A1-F6EECF244321}">
                <p14:modId xmlns:p14="http://schemas.microsoft.com/office/powerpoint/2010/main" val="3956870548"/>
              </p:ext>
            </p:extLst>
          </p:nvPr>
        </p:nvGraphicFramePr>
        <p:xfrm>
          <a:off x="154516" y="1868886"/>
          <a:ext cx="8834967" cy="2138680"/>
        </p:xfrm>
        <a:graphic>
          <a:graphicData uri="http://schemas.openxmlformats.org/drawingml/2006/table">
            <a:tbl>
              <a:tblPr firstRow="1" bandRow="1">
                <a:tableStyleId>{5C22544A-7EE6-4342-B048-85BDC9FD1C3A}</a:tableStyleId>
              </a:tblPr>
              <a:tblGrid>
                <a:gridCol w="2208742">
                  <a:extLst>
                    <a:ext uri="{9D8B030D-6E8A-4147-A177-3AD203B41FA5}">
                      <a16:colId xmlns:a16="http://schemas.microsoft.com/office/drawing/2014/main" val="3919808013"/>
                    </a:ext>
                  </a:extLst>
                </a:gridCol>
                <a:gridCol w="2208742">
                  <a:extLst>
                    <a:ext uri="{9D8B030D-6E8A-4147-A177-3AD203B41FA5}">
                      <a16:colId xmlns:a16="http://schemas.microsoft.com/office/drawing/2014/main" val="1523636316"/>
                    </a:ext>
                  </a:extLst>
                </a:gridCol>
                <a:gridCol w="1735732">
                  <a:extLst>
                    <a:ext uri="{9D8B030D-6E8A-4147-A177-3AD203B41FA5}">
                      <a16:colId xmlns:a16="http://schemas.microsoft.com/office/drawing/2014/main" val="3510806209"/>
                    </a:ext>
                  </a:extLst>
                </a:gridCol>
                <a:gridCol w="2681751">
                  <a:extLst>
                    <a:ext uri="{9D8B030D-6E8A-4147-A177-3AD203B41FA5}">
                      <a16:colId xmlns:a16="http://schemas.microsoft.com/office/drawing/2014/main" val="3842652336"/>
                    </a:ext>
                  </a:extLst>
                </a:gridCol>
              </a:tblGrid>
              <a:tr h="370840">
                <a:tc>
                  <a:txBody>
                    <a:bodyPr/>
                    <a:lstStyle/>
                    <a:p>
                      <a:pPr>
                        <a:buNone/>
                      </a:pPr>
                      <a:r>
                        <a:rPr lang="en-US" dirty="0"/>
                        <a:t>Mode</a:t>
                      </a:r>
                    </a:p>
                  </a:txBody>
                  <a:tcPr anchor="ctr"/>
                </a:tc>
                <a:tc>
                  <a:txBody>
                    <a:bodyPr/>
                    <a:lstStyle/>
                    <a:p>
                      <a:r>
                        <a:rPr lang="en-US" dirty="0"/>
                        <a:t>QoS</a:t>
                      </a:r>
                    </a:p>
                  </a:txBody>
                  <a:tcPr/>
                </a:tc>
                <a:tc>
                  <a:txBody>
                    <a:bodyPr/>
                    <a:lstStyle/>
                    <a:p>
                      <a:r>
                        <a:rPr lang="en-US" dirty="0"/>
                        <a:t>Clean session</a:t>
                      </a:r>
                    </a:p>
                  </a:txBody>
                  <a:tcPr/>
                </a:tc>
                <a:tc>
                  <a:txBody>
                    <a:bodyPr/>
                    <a:lstStyle/>
                    <a:p>
                      <a:r>
                        <a:rPr lang="en-US" dirty="0"/>
                        <a:t>Expected behavior</a:t>
                      </a:r>
                    </a:p>
                  </a:txBody>
                  <a:tcPr/>
                </a:tc>
                <a:extLst>
                  <a:ext uri="{0D108BD9-81ED-4DB2-BD59-A6C34878D82A}">
                    <a16:rowId xmlns:a16="http://schemas.microsoft.com/office/drawing/2014/main" val="2965481020"/>
                  </a:ext>
                </a:extLst>
              </a:tr>
              <a:tr h="370840">
                <a:tc>
                  <a:txBody>
                    <a:bodyPr/>
                    <a:lstStyle/>
                    <a:p>
                      <a:r>
                        <a:rPr lang="en-US" dirty="0"/>
                        <a:t>Control A</a:t>
                      </a:r>
                    </a:p>
                  </a:txBody>
                  <a:tcPr/>
                </a:tc>
                <a:tc>
                  <a:txBody>
                    <a:bodyPr/>
                    <a:lstStyle/>
                    <a:p>
                      <a:r>
                        <a:rPr lang="en-US" dirty="0"/>
                        <a:t>0</a:t>
                      </a:r>
                    </a:p>
                  </a:txBody>
                  <a:tcPr/>
                </a:tc>
                <a:tc>
                  <a:txBody>
                    <a:bodyPr/>
                    <a:lstStyle/>
                    <a:p>
                      <a:r>
                        <a:rPr lang="en-US" dirty="0"/>
                        <a:t>true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Messages during outage are lost</a:t>
                      </a:r>
                    </a:p>
                  </a:txBody>
                  <a:tcPr/>
                </a:tc>
                <a:extLst>
                  <a:ext uri="{0D108BD9-81ED-4DB2-BD59-A6C34878D82A}">
                    <a16:rowId xmlns:a16="http://schemas.microsoft.com/office/drawing/2014/main" val="67976914"/>
                  </a:ext>
                </a:extLst>
              </a:tr>
              <a:tr h="370840">
                <a:tc>
                  <a:txBody>
                    <a:bodyPr/>
                    <a:lstStyle/>
                    <a:p>
                      <a:r>
                        <a:rPr lang="en-US" dirty="0"/>
                        <a:t>Control B</a:t>
                      </a:r>
                    </a:p>
                  </a:txBody>
                  <a:tcPr/>
                </a:tc>
                <a:tc>
                  <a:txBody>
                    <a:bodyPr/>
                    <a:lstStyle/>
                    <a:p>
                      <a:r>
                        <a:rPr lang="en-US" dirty="0"/>
                        <a:t>1</a:t>
                      </a:r>
                    </a:p>
                  </a:txBody>
                  <a:tcPr/>
                </a:tc>
                <a:tc>
                  <a:txBody>
                    <a:bodyPr/>
                    <a:lstStyle/>
                    <a:p>
                      <a:r>
                        <a:rPr lang="en-US" dirty="0"/>
                        <a:t>true</a:t>
                      </a:r>
                    </a:p>
                  </a:txBody>
                  <a:tcPr/>
                </a:tc>
                <a:tc>
                  <a:txBody>
                    <a:bodyPr/>
                    <a:lstStyle/>
                    <a:p>
                      <a:r>
                        <a:rPr lang="en-US" dirty="0"/>
                        <a:t>Reliable while connected, but no offline recovery</a:t>
                      </a:r>
                    </a:p>
                  </a:txBody>
                  <a:tcPr/>
                </a:tc>
                <a:extLst>
                  <a:ext uri="{0D108BD9-81ED-4DB2-BD59-A6C34878D82A}">
                    <a16:rowId xmlns:a16="http://schemas.microsoft.com/office/drawing/2014/main" val="1045650252"/>
                  </a:ext>
                </a:extLst>
              </a:tr>
              <a:tr h="370840">
                <a:tc>
                  <a:txBody>
                    <a:bodyPr/>
                    <a:lstStyle/>
                    <a:p>
                      <a:r>
                        <a:rPr lang="en-US" dirty="0"/>
                        <a:t>Target</a:t>
                      </a:r>
                    </a:p>
                  </a:txBody>
                  <a:tcPr/>
                </a:tc>
                <a:tc>
                  <a:txBody>
                    <a:bodyPr/>
                    <a:lstStyle/>
                    <a:p>
                      <a:r>
                        <a:rPr lang="en-US" dirty="0"/>
                        <a:t>1</a:t>
                      </a:r>
                    </a:p>
                  </a:txBody>
                  <a:tcPr/>
                </a:tc>
                <a:tc>
                  <a:txBody>
                    <a:bodyPr/>
                    <a:lstStyle/>
                    <a:p>
                      <a:r>
                        <a:rPr lang="en-US" dirty="0"/>
                        <a:t>false</a:t>
                      </a:r>
                    </a:p>
                  </a:txBody>
                  <a:tcPr/>
                </a:tc>
                <a:tc>
                  <a:txBody>
                    <a:bodyPr/>
                    <a:lstStyle/>
                    <a:p>
                      <a:r>
                        <a:rPr lang="en-US" dirty="0"/>
                        <a:t>Broker queues eligible messages and delivers after reconnection</a:t>
                      </a:r>
                    </a:p>
                  </a:txBody>
                  <a:tcPr/>
                </a:tc>
                <a:extLst>
                  <a:ext uri="{0D108BD9-81ED-4DB2-BD59-A6C34878D82A}">
                    <a16:rowId xmlns:a16="http://schemas.microsoft.com/office/drawing/2014/main" val="2660218164"/>
                  </a:ext>
                </a:extLst>
              </a:tr>
            </a:tbl>
          </a:graphicData>
        </a:graphic>
      </p:graphicFrame>
    </p:spTree>
    <p:extLst>
      <p:ext uri="{BB962C8B-B14F-4D97-AF65-F5344CB8AC3E}">
        <p14:creationId xmlns:p14="http://schemas.microsoft.com/office/powerpoint/2010/main" val="38847642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D0A8B-AD6D-A3C9-8A9D-16044965BDB2}"/>
              </a:ext>
            </a:extLst>
          </p:cNvPr>
          <p:cNvSpPr>
            <a:spLocks noGrp="1"/>
          </p:cNvSpPr>
          <p:nvPr>
            <p:ph type="title"/>
          </p:nvPr>
        </p:nvSpPr>
        <p:spPr/>
        <p:txBody>
          <a:bodyPr/>
          <a:lstStyle/>
          <a:p>
            <a:r>
              <a:rPr lang="en-US" dirty="0"/>
              <a:t>Intermittent-Power Timeline</a:t>
            </a:r>
          </a:p>
        </p:txBody>
      </p:sp>
      <p:sp>
        <p:nvSpPr>
          <p:cNvPr id="3" name="Text Placeholder 2">
            <a:extLst>
              <a:ext uri="{FF2B5EF4-FFF2-40B4-BE49-F238E27FC236}">
                <a16:creationId xmlns:a16="http://schemas.microsoft.com/office/drawing/2014/main" id="{6AE38FA5-2543-1E49-F9C7-9546DE429A02}"/>
              </a:ext>
            </a:extLst>
          </p:cNvPr>
          <p:cNvSpPr>
            <a:spLocks noGrp="1"/>
          </p:cNvSpPr>
          <p:nvPr>
            <p:ph type="body" idx="1"/>
          </p:nvPr>
        </p:nvSpPr>
        <p:spPr/>
        <p:txBody>
          <a:bodyPr/>
          <a:lstStyle/>
          <a:p>
            <a:pPr marL="85725" indent="0">
              <a:buNone/>
            </a:pPr>
            <a:endParaRPr lang="en-US" dirty="0"/>
          </a:p>
        </p:txBody>
      </p:sp>
      <p:sp>
        <p:nvSpPr>
          <p:cNvPr id="4" name="Slide Number Placeholder 3">
            <a:extLst>
              <a:ext uri="{FF2B5EF4-FFF2-40B4-BE49-F238E27FC236}">
                <a16:creationId xmlns:a16="http://schemas.microsoft.com/office/drawing/2014/main" id="{21FC4986-CC1E-7780-4841-A3CA6CF73DC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57</a:t>
            </a:fld>
            <a:endParaRPr lang="en-US"/>
          </a:p>
        </p:txBody>
      </p:sp>
      <p:graphicFrame>
        <p:nvGraphicFramePr>
          <p:cNvPr id="7" name="Table 6">
            <a:extLst>
              <a:ext uri="{FF2B5EF4-FFF2-40B4-BE49-F238E27FC236}">
                <a16:creationId xmlns:a16="http://schemas.microsoft.com/office/drawing/2014/main" id="{786F6E51-3864-389F-C5EB-A1CEF5C8FC6C}"/>
              </a:ext>
            </a:extLst>
          </p:cNvPr>
          <p:cNvGraphicFramePr>
            <a:graphicFrameLocks noGrp="1"/>
          </p:cNvGraphicFramePr>
          <p:nvPr>
            <p:extLst>
              <p:ext uri="{D42A27DB-BD31-4B8C-83A1-F6EECF244321}">
                <p14:modId xmlns:p14="http://schemas.microsoft.com/office/powerpoint/2010/main" val="440312675"/>
              </p:ext>
            </p:extLst>
          </p:nvPr>
        </p:nvGraphicFramePr>
        <p:xfrm>
          <a:off x="927341" y="2309215"/>
          <a:ext cx="7432888" cy="3329834"/>
        </p:xfrm>
        <a:graphic>
          <a:graphicData uri="http://schemas.openxmlformats.org/drawingml/2006/table">
            <a:tbl>
              <a:tblPr firstRow="1" bandRow="1">
                <a:tableStyleId>{5C22544A-7EE6-4342-B048-85BDC9FD1C3A}</a:tableStyleId>
              </a:tblPr>
              <a:tblGrid>
                <a:gridCol w="1858222">
                  <a:extLst>
                    <a:ext uri="{9D8B030D-6E8A-4147-A177-3AD203B41FA5}">
                      <a16:colId xmlns:a16="http://schemas.microsoft.com/office/drawing/2014/main" val="3919808013"/>
                    </a:ext>
                  </a:extLst>
                </a:gridCol>
                <a:gridCol w="1858222">
                  <a:extLst>
                    <a:ext uri="{9D8B030D-6E8A-4147-A177-3AD203B41FA5}">
                      <a16:colId xmlns:a16="http://schemas.microsoft.com/office/drawing/2014/main" val="1523636316"/>
                    </a:ext>
                  </a:extLst>
                </a:gridCol>
                <a:gridCol w="1460278">
                  <a:extLst>
                    <a:ext uri="{9D8B030D-6E8A-4147-A177-3AD203B41FA5}">
                      <a16:colId xmlns:a16="http://schemas.microsoft.com/office/drawing/2014/main" val="3510806209"/>
                    </a:ext>
                  </a:extLst>
                </a:gridCol>
                <a:gridCol w="2256166">
                  <a:extLst>
                    <a:ext uri="{9D8B030D-6E8A-4147-A177-3AD203B41FA5}">
                      <a16:colId xmlns:a16="http://schemas.microsoft.com/office/drawing/2014/main" val="3842652336"/>
                    </a:ext>
                  </a:extLst>
                </a:gridCol>
              </a:tblGrid>
              <a:tr h="370288">
                <a:tc>
                  <a:txBody>
                    <a:bodyPr/>
                    <a:lstStyle/>
                    <a:p>
                      <a:pPr>
                        <a:buNone/>
                      </a:pPr>
                      <a:r>
                        <a:rPr lang="en-US" dirty="0"/>
                        <a:t>Phase</a:t>
                      </a:r>
                    </a:p>
                  </a:txBody>
                  <a:tcPr anchor="ctr"/>
                </a:tc>
                <a:tc>
                  <a:txBody>
                    <a:bodyPr/>
                    <a:lstStyle/>
                    <a:p>
                      <a:pPr>
                        <a:buNone/>
                      </a:pPr>
                      <a:r>
                        <a:rPr lang="en-US"/>
                        <a:t>Time</a:t>
                      </a:r>
                    </a:p>
                  </a:txBody>
                  <a:tcPr anchor="ctr"/>
                </a:tc>
                <a:tc>
                  <a:txBody>
                    <a:bodyPr/>
                    <a:lstStyle/>
                    <a:p>
                      <a:pPr>
                        <a:buNone/>
                      </a:pPr>
                      <a:r>
                        <a:rPr lang="en-US"/>
                        <a:t>Subscriber</a:t>
                      </a:r>
                    </a:p>
                  </a:txBody>
                  <a:tcPr anchor="ctr"/>
                </a:tc>
                <a:tc>
                  <a:txBody>
                    <a:bodyPr/>
                    <a:lstStyle/>
                    <a:p>
                      <a:pPr>
                        <a:buNone/>
                      </a:pPr>
                      <a:r>
                        <a:rPr lang="en-US"/>
                        <a:t>Purpose</a:t>
                      </a:r>
                    </a:p>
                  </a:txBody>
                  <a:tcPr anchor="ctr"/>
                </a:tc>
                <a:extLst>
                  <a:ext uri="{0D108BD9-81ED-4DB2-BD59-A6C34878D82A}">
                    <a16:rowId xmlns:a16="http://schemas.microsoft.com/office/drawing/2014/main" val="2965481020"/>
                  </a:ext>
                </a:extLst>
              </a:tr>
              <a:tr h="370288">
                <a:tc>
                  <a:txBody>
                    <a:bodyPr/>
                    <a:lstStyle/>
                    <a:p>
                      <a:pPr>
                        <a:buNone/>
                      </a:pPr>
                      <a:r>
                        <a:rPr lang="en-US"/>
                        <a:t>Baseline</a:t>
                      </a:r>
                    </a:p>
                  </a:txBody>
                  <a:tcPr anchor="ctr"/>
                </a:tc>
                <a:tc>
                  <a:txBody>
                    <a:bodyPr/>
                    <a:lstStyle/>
                    <a:p>
                      <a:pPr>
                        <a:buNone/>
                      </a:pPr>
                      <a:r>
                        <a:rPr lang="en-US"/>
                        <a:t>0–60s</a:t>
                      </a:r>
                    </a:p>
                  </a:txBody>
                  <a:tcPr anchor="ctr"/>
                </a:tc>
                <a:tc>
                  <a:txBody>
                    <a:bodyPr/>
                    <a:lstStyle/>
                    <a:p>
                      <a:pPr>
                        <a:buNone/>
                      </a:pPr>
                      <a:r>
                        <a:rPr lang="en-US" dirty="0"/>
                        <a:t>Online</a:t>
                      </a:r>
                    </a:p>
                  </a:txBody>
                  <a:tcPr anchor="ctr"/>
                </a:tc>
                <a:tc>
                  <a:txBody>
                    <a:bodyPr/>
                    <a:lstStyle/>
                    <a:p>
                      <a:pPr>
                        <a:buNone/>
                      </a:pPr>
                      <a:r>
                        <a:rPr lang="en-US" dirty="0"/>
                        <a:t>Sufficient harvested energy</a:t>
                      </a:r>
                    </a:p>
                  </a:txBody>
                  <a:tcPr anchor="ctr"/>
                </a:tc>
                <a:extLst>
                  <a:ext uri="{0D108BD9-81ED-4DB2-BD59-A6C34878D82A}">
                    <a16:rowId xmlns:a16="http://schemas.microsoft.com/office/drawing/2014/main" val="67976914"/>
                  </a:ext>
                </a:extLst>
              </a:tr>
              <a:tr h="370288">
                <a:tc>
                  <a:txBody>
                    <a:bodyPr/>
                    <a:lstStyle/>
                    <a:p>
                      <a:pPr>
                        <a:buNone/>
                      </a:pPr>
                      <a:r>
                        <a:rPr lang="en-US"/>
                        <a:t>Offline 1</a:t>
                      </a:r>
                    </a:p>
                  </a:txBody>
                  <a:tcPr anchor="ctr"/>
                </a:tc>
                <a:tc>
                  <a:txBody>
                    <a:bodyPr/>
                    <a:lstStyle/>
                    <a:p>
                      <a:pPr>
                        <a:buNone/>
                      </a:pPr>
                      <a:r>
                        <a:rPr lang="en-US" dirty="0"/>
                        <a:t>60–90s</a:t>
                      </a:r>
                    </a:p>
                  </a:txBody>
                  <a:tcPr anchor="ctr"/>
                </a:tc>
                <a:tc>
                  <a:txBody>
                    <a:bodyPr/>
                    <a:lstStyle/>
                    <a:p>
                      <a:pPr>
                        <a:buNone/>
                      </a:pPr>
                      <a:r>
                        <a:rPr lang="en-US" dirty="0"/>
                        <a:t>Power Off</a:t>
                      </a:r>
                    </a:p>
                  </a:txBody>
                  <a:tcPr anchor="ctr"/>
                </a:tc>
                <a:tc>
                  <a:txBody>
                    <a:bodyPr/>
                    <a:lstStyle/>
                    <a:p>
                      <a:pPr>
                        <a:buNone/>
                      </a:pPr>
                      <a:r>
                        <a:rPr lang="en-US" dirty="0"/>
                        <a:t>Energy depleted</a:t>
                      </a:r>
                    </a:p>
                  </a:txBody>
                  <a:tcPr anchor="ctr"/>
                </a:tc>
                <a:extLst>
                  <a:ext uri="{0D108BD9-81ED-4DB2-BD59-A6C34878D82A}">
                    <a16:rowId xmlns:a16="http://schemas.microsoft.com/office/drawing/2014/main" val="1045650252"/>
                  </a:ext>
                </a:extLst>
              </a:tr>
              <a:tr h="370288">
                <a:tc>
                  <a:txBody>
                    <a:bodyPr/>
                    <a:lstStyle/>
                    <a:p>
                      <a:pPr>
                        <a:buNone/>
                      </a:pPr>
                      <a:r>
                        <a:rPr lang="en-US"/>
                        <a:t>Recovery 1</a:t>
                      </a:r>
                    </a:p>
                  </a:txBody>
                  <a:tcPr anchor="ctr"/>
                </a:tc>
                <a:tc>
                  <a:txBody>
                    <a:bodyPr/>
                    <a:lstStyle/>
                    <a:p>
                      <a:pPr>
                        <a:buNone/>
                      </a:pPr>
                      <a:r>
                        <a:rPr lang="en-US" dirty="0"/>
                        <a:t>90–150s</a:t>
                      </a:r>
                    </a:p>
                  </a:txBody>
                  <a:tcPr anchor="ctr"/>
                </a:tc>
                <a:tc>
                  <a:txBody>
                    <a:bodyPr/>
                    <a:lstStyle/>
                    <a:p>
                      <a:pPr>
                        <a:buNone/>
                      </a:pPr>
                      <a:r>
                        <a:rPr lang="en-US"/>
                        <a:t>Online</a:t>
                      </a:r>
                    </a:p>
                  </a:txBody>
                  <a:tcPr anchor="ctr"/>
                </a:tc>
                <a:tc>
                  <a:txBody>
                    <a:bodyPr/>
                    <a:lstStyle/>
                    <a:p>
                      <a:pPr>
                        <a:buNone/>
                      </a:pPr>
                      <a:r>
                        <a:rPr lang="en-US" dirty="0"/>
                        <a:t>Recharge + reconnect + recovery</a:t>
                      </a:r>
                    </a:p>
                  </a:txBody>
                  <a:tcPr anchor="ctr"/>
                </a:tc>
                <a:extLst>
                  <a:ext uri="{0D108BD9-81ED-4DB2-BD59-A6C34878D82A}">
                    <a16:rowId xmlns:a16="http://schemas.microsoft.com/office/drawing/2014/main" val="2330764269"/>
                  </a:ext>
                </a:extLst>
              </a:tr>
              <a:tr h="517389">
                <a:tc>
                  <a:txBody>
                    <a:bodyPr/>
                    <a:lstStyle/>
                    <a:p>
                      <a:pPr>
                        <a:buNone/>
                      </a:pPr>
                      <a:r>
                        <a:rPr lang="en-US"/>
                        <a:t>Offline 2</a:t>
                      </a:r>
                    </a:p>
                  </a:txBody>
                  <a:tcPr anchor="ctr"/>
                </a:tc>
                <a:tc>
                  <a:txBody>
                    <a:bodyPr/>
                    <a:lstStyle/>
                    <a:p>
                      <a:pPr>
                        <a:buNone/>
                      </a:pPr>
                      <a:r>
                        <a:rPr lang="en-US"/>
                        <a:t>150–180s</a:t>
                      </a:r>
                    </a:p>
                  </a:txBody>
                  <a:tcPr anchor="ctr"/>
                </a:tc>
                <a:tc>
                  <a:txBody>
                    <a:bodyPr/>
                    <a:lstStyle/>
                    <a:p>
                      <a:pPr>
                        <a:buNone/>
                      </a:pPr>
                      <a:r>
                        <a:rPr lang="en-US" dirty="0"/>
                        <a:t>Power Off</a:t>
                      </a:r>
                    </a:p>
                  </a:txBody>
                  <a:tcPr anchor="ctr"/>
                </a:tc>
                <a:tc>
                  <a:txBody>
                    <a:bodyPr/>
                    <a:lstStyle/>
                    <a:p>
                      <a:pPr>
                        <a:buNone/>
                      </a:pPr>
                      <a:r>
                        <a:rPr lang="en-US" dirty="0"/>
                        <a:t>Second energy failure</a:t>
                      </a:r>
                    </a:p>
                  </a:txBody>
                  <a:tcPr anchor="ctr"/>
                </a:tc>
                <a:extLst>
                  <a:ext uri="{0D108BD9-81ED-4DB2-BD59-A6C34878D82A}">
                    <a16:rowId xmlns:a16="http://schemas.microsoft.com/office/drawing/2014/main" val="2000144093"/>
                  </a:ext>
                </a:extLst>
              </a:tr>
              <a:tr h="517389">
                <a:tc>
                  <a:txBody>
                    <a:bodyPr/>
                    <a:lstStyle/>
                    <a:p>
                      <a:pPr>
                        <a:buNone/>
                      </a:pPr>
                      <a:r>
                        <a:rPr lang="en-US"/>
                        <a:t>Recovery 2</a:t>
                      </a:r>
                    </a:p>
                  </a:txBody>
                  <a:tcPr anchor="ctr"/>
                </a:tc>
                <a:tc>
                  <a:txBody>
                    <a:bodyPr/>
                    <a:lstStyle/>
                    <a:p>
                      <a:pPr>
                        <a:buNone/>
                      </a:pPr>
                      <a:r>
                        <a:rPr lang="en-US"/>
                        <a:t>180–240s</a:t>
                      </a:r>
                    </a:p>
                  </a:txBody>
                  <a:tcPr anchor="ctr"/>
                </a:tc>
                <a:tc>
                  <a:txBody>
                    <a:bodyPr/>
                    <a:lstStyle/>
                    <a:p>
                      <a:pPr>
                        <a:buNone/>
                      </a:pPr>
                      <a:r>
                        <a:rPr lang="en-US"/>
                        <a:t>Online</a:t>
                      </a:r>
                    </a:p>
                  </a:txBody>
                  <a:tcPr anchor="ctr"/>
                </a:tc>
                <a:tc>
                  <a:txBody>
                    <a:bodyPr/>
                    <a:lstStyle/>
                    <a:p>
                      <a:pPr>
                        <a:buNone/>
                      </a:pPr>
                      <a:r>
                        <a:rPr lang="en-US" dirty="0"/>
                        <a:t>Reconnect + second recovery</a:t>
                      </a:r>
                    </a:p>
                  </a:txBody>
                  <a:tcPr anchor="ctr"/>
                </a:tc>
                <a:extLst>
                  <a:ext uri="{0D108BD9-81ED-4DB2-BD59-A6C34878D82A}">
                    <a16:rowId xmlns:a16="http://schemas.microsoft.com/office/drawing/2014/main" val="76859045"/>
                  </a:ext>
                </a:extLst>
              </a:tr>
              <a:tr h="517389">
                <a:tc>
                  <a:txBody>
                    <a:bodyPr/>
                    <a:lstStyle/>
                    <a:p>
                      <a:pPr>
                        <a:buNone/>
                      </a:pPr>
                      <a:r>
                        <a:rPr lang="en-US"/>
                        <a:t>Final drain</a:t>
                      </a:r>
                    </a:p>
                  </a:txBody>
                  <a:tcPr anchor="ctr"/>
                </a:tc>
                <a:tc>
                  <a:txBody>
                    <a:bodyPr/>
                    <a:lstStyle/>
                    <a:p>
                      <a:pPr>
                        <a:buNone/>
                      </a:pPr>
                      <a:r>
                        <a:rPr lang="en-US"/>
                        <a:t>240–300s</a:t>
                      </a:r>
                    </a:p>
                  </a:txBody>
                  <a:tcPr anchor="ctr"/>
                </a:tc>
                <a:tc>
                  <a:txBody>
                    <a:bodyPr/>
                    <a:lstStyle/>
                    <a:p>
                      <a:pPr>
                        <a:buNone/>
                      </a:pPr>
                      <a:r>
                        <a:rPr lang="en-US"/>
                        <a:t>Online</a:t>
                      </a:r>
                    </a:p>
                  </a:txBody>
                  <a:tcPr anchor="ctr"/>
                </a:tc>
                <a:tc>
                  <a:txBody>
                    <a:bodyPr/>
                    <a:lstStyle/>
                    <a:p>
                      <a:pPr>
                        <a:buNone/>
                      </a:pPr>
                      <a:r>
                        <a:rPr lang="en-US" dirty="0"/>
                        <a:t>Final backlog drain</a:t>
                      </a:r>
                    </a:p>
                  </a:txBody>
                  <a:tcPr anchor="ctr"/>
                </a:tc>
                <a:extLst>
                  <a:ext uri="{0D108BD9-81ED-4DB2-BD59-A6C34878D82A}">
                    <a16:rowId xmlns:a16="http://schemas.microsoft.com/office/drawing/2014/main" val="4080335931"/>
                  </a:ext>
                </a:extLst>
              </a:tr>
            </a:tbl>
          </a:graphicData>
        </a:graphic>
      </p:graphicFrame>
    </p:spTree>
    <p:extLst>
      <p:ext uri="{BB962C8B-B14F-4D97-AF65-F5344CB8AC3E}">
        <p14:creationId xmlns:p14="http://schemas.microsoft.com/office/powerpoint/2010/main" val="24243095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99DCF-CF2C-398C-1D54-08495C0C2D68}"/>
              </a:ext>
            </a:extLst>
          </p:cNvPr>
          <p:cNvSpPr>
            <a:spLocks noGrp="1"/>
          </p:cNvSpPr>
          <p:nvPr>
            <p:ph type="title"/>
          </p:nvPr>
        </p:nvSpPr>
        <p:spPr/>
        <p:txBody>
          <a:bodyPr>
            <a:noAutofit/>
          </a:bodyPr>
          <a:lstStyle/>
          <a:p>
            <a:r>
              <a:rPr lang="en-US" sz="3600" dirty="0"/>
              <a:t>What Does This Experiment Tell Us?</a:t>
            </a:r>
          </a:p>
        </p:txBody>
      </p:sp>
      <p:sp>
        <p:nvSpPr>
          <p:cNvPr id="3" name="Text Placeholder 2">
            <a:extLst>
              <a:ext uri="{FF2B5EF4-FFF2-40B4-BE49-F238E27FC236}">
                <a16:creationId xmlns:a16="http://schemas.microsoft.com/office/drawing/2014/main" id="{51424ECD-09F9-C994-583D-03E36F00CD4E}"/>
              </a:ext>
            </a:extLst>
          </p:cNvPr>
          <p:cNvSpPr>
            <a:spLocks noGrp="1"/>
          </p:cNvSpPr>
          <p:nvPr>
            <p:ph type="body" idx="1"/>
          </p:nvPr>
        </p:nvSpPr>
        <p:spPr/>
        <p:txBody>
          <a:bodyPr/>
          <a:lstStyle/>
          <a:p>
            <a:r>
              <a:rPr lang="en-US" b="1" dirty="0"/>
              <a:t>Existing MQ-Bench experiments ask:</a:t>
            </a:r>
          </a:p>
          <a:p>
            <a:pPr lvl="1"/>
            <a:r>
              <a:rPr lang="en-US" dirty="0"/>
              <a:t>How fast and efficiently do message brokers perform?</a:t>
            </a:r>
          </a:p>
          <a:p>
            <a:endParaRPr lang="en-US" b="1" dirty="0"/>
          </a:p>
          <a:p>
            <a:r>
              <a:rPr lang="en-US" b="1" dirty="0"/>
              <a:t>Experiment 5 asks something different:</a:t>
            </a:r>
          </a:p>
          <a:p>
            <a:pPr lvl="1"/>
            <a:r>
              <a:rPr lang="en-US" dirty="0"/>
              <a:t>Can message-broker semantics </a:t>
            </a:r>
            <a:r>
              <a:rPr lang="en-US" b="1" dirty="0"/>
              <a:t>maintain communication continuity </a:t>
            </a:r>
            <a:r>
              <a:rPr lang="en-US" dirty="0"/>
              <a:t>when IoT devices </a:t>
            </a:r>
            <a:r>
              <a:rPr lang="en-US" b="1" dirty="0"/>
              <a:t>cannot remain continuously powered</a:t>
            </a:r>
            <a:r>
              <a:rPr lang="en-US" dirty="0"/>
              <a:t>?</a:t>
            </a:r>
          </a:p>
          <a:p>
            <a:endParaRPr lang="en-US" dirty="0"/>
          </a:p>
        </p:txBody>
      </p:sp>
      <p:sp>
        <p:nvSpPr>
          <p:cNvPr id="4" name="Slide Number Placeholder 3">
            <a:extLst>
              <a:ext uri="{FF2B5EF4-FFF2-40B4-BE49-F238E27FC236}">
                <a16:creationId xmlns:a16="http://schemas.microsoft.com/office/drawing/2014/main" id="{60F00639-9CEE-AC33-6568-6D7B69A6749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58</a:t>
            </a:fld>
            <a:endParaRPr lang="en-US"/>
          </a:p>
        </p:txBody>
      </p:sp>
    </p:spTree>
    <p:extLst>
      <p:ext uri="{BB962C8B-B14F-4D97-AF65-F5344CB8AC3E}">
        <p14:creationId xmlns:p14="http://schemas.microsoft.com/office/powerpoint/2010/main" val="37955440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3B524-E0E7-B880-1DFD-AA9A672B71B5}"/>
              </a:ext>
            </a:extLst>
          </p:cNvPr>
          <p:cNvSpPr>
            <a:spLocks noGrp="1"/>
          </p:cNvSpPr>
          <p:nvPr>
            <p:ph type="title"/>
          </p:nvPr>
        </p:nvSpPr>
        <p:spPr/>
        <p:txBody>
          <a:bodyPr/>
          <a:lstStyle/>
          <a:p>
            <a:r>
              <a:rPr lang="en-US" dirty="0"/>
              <a:t>Metrices</a:t>
            </a:r>
          </a:p>
        </p:txBody>
      </p:sp>
      <p:sp>
        <p:nvSpPr>
          <p:cNvPr id="3" name="Text Placeholder 2">
            <a:extLst>
              <a:ext uri="{FF2B5EF4-FFF2-40B4-BE49-F238E27FC236}">
                <a16:creationId xmlns:a16="http://schemas.microsoft.com/office/drawing/2014/main" id="{62B51876-B283-3ADC-3B9E-8DEB0535C7C2}"/>
              </a:ext>
            </a:extLst>
          </p:cNvPr>
          <p:cNvSpPr>
            <a:spLocks noGrp="1"/>
          </p:cNvSpPr>
          <p:nvPr>
            <p:ph type="body" idx="1"/>
          </p:nvPr>
        </p:nvSpPr>
        <p:spPr/>
        <p:txBody>
          <a:bodyPr>
            <a:normAutofit fontScale="77500" lnSpcReduction="20000"/>
          </a:bodyPr>
          <a:lstStyle/>
          <a:p>
            <a:r>
              <a:rPr lang="en-US" b="1" dirty="0"/>
              <a:t>Reliability</a:t>
            </a:r>
          </a:p>
          <a:p>
            <a:pPr lvl="1"/>
            <a:r>
              <a:rPr lang="en-US" b="1" dirty="0"/>
              <a:t>Final delivery ratio</a:t>
            </a:r>
            <a:r>
              <a:rPr lang="en-US" dirty="0"/>
              <a:t> </a:t>
            </a:r>
          </a:p>
          <a:p>
            <a:pPr lvl="1"/>
            <a:r>
              <a:rPr lang="en-US" dirty="0"/>
              <a:t>Number/fraction of messages recovered after reconnect </a:t>
            </a:r>
          </a:p>
          <a:p>
            <a:endParaRPr lang="en-US" b="1" dirty="0"/>
          </a:p>
          <a:p>
            <a:r>
              <a:rPr lang="en-US" b="1" dirty="0"/>
              <a:t>Recovery behavior</a:t>
            </a:r>
          </a:p>
          <a:p>
            <a:pPr lvl="1"/>
            <a:r>
              <a:rPr lang="en-US" b="1" dirty="0"/>
              <a:t>Backlog drain time</a:t>
            </a:r>
            <a:r>
              <a:rPr lang="en-US" dirty="0"/>
              <a:t> </a:t>
            </a:r>
          </a:p>
          <a:p>
            <a:pPr lvl="1"/>
            <a:r>
              <a:rPr lang="en-US" dirty="0"/>
              <a:t>Recovery throughput </a:t>
            </a:r>
          </a:p>
          <a:p>
            <a:pPr lvl="1"/>
            <a:r>
              <a:rPr lang="en-US" dirty="0"/>
              <a:t>Post-reconnection latency </a:t>
            </a:r>
          </a:p>
          <a:p>
            <a:endParaRPr lang="en-US" b="1" dirty="0"/>
          </a:p>
          <a:p>
            <a:r>
              <a:rPr lang="en-US" b="1" dirty="0"/>
              <a:t>Broker cost</a:t>
            </a:r>
          </a:p>
          <a:p>
            <a:pPr lvl="1"/>
            <a:r>
              <a:rPr lang="en-US" dirty="0"/>
              <a:t>CPU utilization during recovery </a:t>
            </a:r>
          </a:p>
          <a:p>
            <a:pPr lvl="1"/>
            <a:r>
              <a:rPr lang="en-US" dirty="0"/>
              <a:t>Memory growth while devices are unavailable </a:t>
            </a:r>
          </a:p>
          <a:p>
            <a:pPr lvl="1"/>
            <a:r>
              <a:rPr lang="en-US" dirty="0"/>
              <a:t>Cost of maintaining persistent session</a:t>
            </a:r>
          </a:p>
          <a:p>
            <a:endParaRPr lang="en-US" dirty="0"/>
          </a:p>
        </p:txBody>
      </p:sp>
      <p:sp>
        <p:nvSpPr>
          <p:cNvPr id="4" name="Slide Number Placeholder 3">
            <a:extLst>
              <a:ext uri="{FF2B5EF4-FFF2-40B4-BE49-F238E27FC236}">
                <a16:creationId xmlns:a16="http://schemas.microsoft.com/office/drawing/2014/main" id="{09942D68-CF2F-B59F-29DF-BC472AC74AC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59</a:t>
            </a:fld>
            <a:endParaRPr lang="en-US"/>
          </a:p>
        </p:txBody>
      </p:sp>
    </p:spTree>
    <p:extLst>
      <p:ext uri="{BB962C8B-B14F-4D97-AF65-F5344CB8AC3E}">
        <p14:creationId xmlns:p14="http://schemas.microsoft.com/office/powerpoint/2010/main" val="19184860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5B8C1-8C2F-4F8B-B129-CBAD6FA97380}"/>
              </a:ext>
            </a:extLst>
          </p:cNvPr>
          <p:cNvSpPr>
            <a:spLocks noGrp="1"/>
          </p:cNvSpPr>
          <p:nvPr>
            <p:ph type="title"/>
          </p:nvPr>
        </p:nvSpPr>
        <p:spPr/>
        <p:txBody>
          <a:bodyPr>
            <a:normAutofit fontScale="90000"/>
          </a:bodyPr>
          <a:lstStyle/>
          <a:p>
            <a:r>
              <a:rPr lang="en-US" b="1" dirty="0"/>
              <a:t>Expected Results / Hypothesis</a:t>
            </a:r>
            <a:endParaRPr lang="en-US" dirty="0"/>
          </a:p>
        </p:txBody>
      </p:sp>
      <p:sp>
        <p:nvSpPr>
          <p:cNvPr id="3" name="Text Placeholder 2">
            <a:extLst>
              <a:ext uri="{FF2B5EF4-FFF2-40B4-BE49-F238E27FC236}">
                <a16:creationId xmlns:a16="http://schemas.microsoft.com/office/drawing/2014/main" id="{E40DEAD1-7F18-90D4-6FEA-3710A1B2DD9C}"/>
              </a:ext>
            </a:extLst>
          </p:cNvPr>
          <p:cNvSpPr>
            <a:spLocks noGrp="1"/>
          </p:cNvSpPr>
          <p:nvPr>
            <p:ph type="body" idx="1"/>
          </p:nvPr>
        </p:nvSpPr>
        <p:spPr>
          <a:xfrm>
            <a:off x="2254102" y="1509823"/>
            <a:ext cx="5603358" cy="5348177"/>
          </a:xfrm>
        </p:spPr>
        <p:txBody>
          <a:bodyPr>
            <a:normAutofit fontScale="70000" lnSpcReduction="20000"/>
          </a:bodyPr>
          <a:lstStyle/>
          <a:p>
            <a:r>
              <a:rPr lang="en-US" dirty="0"/>
              <a:t>QoS 0 + Clean</a:t>
            </a:r>
          </a:p>
          <a:p>
            <a:pPr lvl="1"/>
            <a:r>
              <a:rPr lang="en-US" dirty="0"/>
              <a:t>Power loss → missed messages → LOST</a:t>
            </a:r>
          </a:p>
          <a:p>
            <a:endParaRPr lang="en-US" dirty="0"/>
          </a:p>
          <a:p>
            <a:r>
              <a:rPr lang="en-US" dirty="0"/>
              <a:t>QoS 1 + Clean</a:t>
            </a:r>
          </a:p>
          <a:p>
            <a:pPr lvl="1"/>
            <a:r>
              <a:rPr lang="en-US" dirty="0"/>
              <a:t>Power loss → missed messages → LOST</a:t>
            </a:r>
          </a:p>
          <a:p>
            <a:pPr lvl="1"/>
            <a:endParaRPr lang="en-US" dirty="0"/>
          </a:p>
          <a:p>
            <a:r>
              <a:rPr lang="en-US" dirty="0"/>
              <a:t>QoS 1 + Persistent</a:t>
            </a:r>
          </a:p>
          <a:p>
            <a:pPr marL="571500" lvl="1" indent="0">
              <a:buNone/>
            </a:pPr>
            <a:r>
              <a:rPr lang="en-US" dirty="0"/>
              <a:t>Power loss</a:t>
            </a:r>
          </a:p>
          <a:p>
            <a:pPr marL="571500" lvl="1" indent="0">
              <a:buNone/>
            </a:pPr>
            <a:r>
              <a:rPr lang="en-US" dirty="0"/>
              <a:t>     ↓</a:t>
            </a:r>
          </a:p>
          <a:p>
            <a:pPr marL="571500" lvl="1" indent="0">
              <a:buNone/>
            </a:pPr>
            <a:r>
              <a:rPr lang="en-US" dirty="0"/>
              <a:t>Broker queues messages</a:t>
            </a:r>
          </a:p>
          <a:p>
            <a:pPr marL="571500" lvl="1" indent="0">
              <a:buNone/>
            </a:pPr>
            <a:r>
              <a:rPr lang="en-US" dirty="0"/>
              <a:t>     ↓</a:t>
            </a:r>
          </a:p>
          <a:p>
            <a:pPr marL="571500" lvl="1" indent="0">
              <a:buNone/>
            </a:pPr>
            <a:r>
              <a:rPr lang="en-US" dirty="0"/>
              <a:t>Device harvests energy</a:t>
            </a:r>
          </a:p>
          <a:p>
            <a:pPr marL="571500" lvl="1" indent="0">
              <a:buNone/>
            </a:pPr>
            <a:r>
              <a:rPr lang="en-US" dirty="0"/>
              <a:t>     ↓</a:t>
            </a:r>
          </a:p>
          <a:p>
            <a:pPr marL="571500" lvl="1" indent="0">
              <a:buNone/>
            </a:pPr>
            <a:r>
              <a:rPr lang="en-US" dirty="0"/>
              <a:t>Reconnect</a:t>
            </a:r>
          </a:p>
          <a:p>
            <a:pPr marL="571500" lvl="1" indent="0">
              <a:buNone/>
            </a:pPr>
            <a:r>
              <a:rPr lang="en-US" dirty="0"/>
              <a:t>     ↓</a:t>
            </a:r>
          </a:p>
          <a:p>
            <a:pPr marL="571500" lvl="1" indent="0">
              <a:buNone/>
            </a:pPr>
            <a:r>
              <a:rPr lang="en-US" dirty="0"/>
              <a:t>Recover queued messages</a:t>
            </a:r>
          </a:p>
        </p:txBody>
      </p:sp>
      <p:sp>
        <p:nvSpPr>
          <p:cNvPr id="4" name="Slide Number Placeholder 3">
            <a:extLst>
              <a:ext uri="{FF2B5EF4-FFF2-40B4-BE49-F238E27FC236}">
                <a16:creationId xmlns:a16="http://schemas.microsoft.com/office/drawing/2014/main" id="{9ACEEBB0-2C87-2BC6-E359-FD9D8862575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60</a:t>
            </a:fld>
            <a:endParaRPr lang="en-US"/>
          </a:p>
        </p:txBody>
      </p:sp>
    </p:spTree>
    <p:extLst>
      <p:ext uri="{BB962C8B-B14F-4D97-AF65-F5344CB8AC3E}">
        <p14:creationId xmlns:p14="http://schemas.microsoft.com/office/powerpoint/2010/main" val="31800787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1BC75-3E41-49F7-90B7-1265E93C19A4}"/>
              </a:ext>
            </a:extLst>
          </p:cNvPr>
          <p:cNvSpPr>
            <a:spLocks noGrp="1"/>
          </p:cNvSpPr>
          <p:nvPr>
            <p:ph type="title"/>
          </p:nvPr>
        </p:nvSpPr>
        <p:spPr/>
        <p:txBody>
          <a:bodyPr/>
          <a:lstStyle/>
          <a:p>
            <a:r>
              <a:rPr lang="en-US" b="1" dirty="0"/>
              <a:t>Contribution</a:t>
            </a:r>
            <a:endParaRPr lang="en-US" dirty="0"/>
          </a:p>
        </p:txBody>
      </p:sp>
      <p:sp>
        <p:nvSpPr>
          <p:cNvPr id="3" name="Text Placeholder 2">
            <a:extLst>
              <a:ext uri="{FF2B5EF4-FFF2-40B4-BE49-F238E27FC236}">
                <a16:creationId xmlns:a16="http://schemas.microsoft.com/office/drawing/2014/main" id="{B1FCBEBF-08E5-E0D9-EDAC-6E78505D522B}"/>
              </a:ext>
            </a:extLst>
          </p:cNvPr>
          <p:cNvSpPr>
            <a:spLocks noGrp="1"/>
          </p:cNvSpPr>
          <p:nvPr>
            <p:ph type="body" idx="1"/>
          </p:nvPr>
        </p:nvSpPr>
        <p:spPr>
          <a:xfrm>
            <a:off x="457200" y="1600200"/>
            <a:ext cx="8229600" cy="5121250"/>
          </a:xfrm>
        </p:spPr>
        <p:txBody>
          <a:bodyPr>
            <a:normAutofit fontScale="85000" lnSpcReduction="20000"/>
          </a:bodyPr>
          <a:lstStyle/>
          <a:p>
            <a:r>
              <a:rPr lang="en-US" dirty="0"/>
              <a:t>Places MQ-Bench in an emerging </a:t>
            </a:r>
            <a:r>
              <a:rPr lang="en-US" b="1" dirty="0" err="1"/>
              <a:t>batteryless</a:t>
            </a:r>
            <a:r>
              <a:rPr lang="en-US" b="1" dirty="0"/>
              <a:t> / intermittently powered IoT</a:t>
            </a:r>
            <a:r>
              <a:rPr lang="en-US" dirty="0"/>
              <a:t> landscape. </a:t>
            </a:r>
          </a:p>
          <a:p>
            <a:endParaRPr lang="en-US" dirty="0"/>
          </a:p>
          <a:p>
            <a:pPr lvl="0"/>
            <a:r>
              <a:rPr lang="en-US" dirty="0"/>
              <a:t>Quantifies the benefit of MQTT persistent sessions. </a:t>
            </a:r>
          </a:p>
          <a:p>
            <a:pPr lvl="0"/>
            <a:endParaRPr lang="en-US" dirty="0"/>
          </a:p>
          <a:p>
            <a:pPr lvl="0"/>
            <a:r>
              <a:rPr lang="en-US" dirty="0"/>
              <a:t>Quantifies the </a:t>
            </a:r>
            <a:r>
              <a:rPr lang="en-US" b="1" dirty="0"/>
              <a:t>cost of reliability</a:t>
            </a:r>
            <a:r>
              <a:rPr lang="en-US" dirty="0"/>
              <a:t> in CPU, memory, latency, and recovery time. </a:t>
            </a:r>
          </a:p>
          <a:p>
            <a:pPr lvl="0"/>
            <a:endParaRPr lang="en-US" dirty="0"/>
          </a:p>
          <a:p>
            <a:pPr lvl="0"/>
            <a:r>
              <a:rPr lang="en-US" dirty="0"/>
              <a:t>Evaluates whether an existing widely used IoT messaging protocol can help support intermittent devices </a:t>
            </a:r>
            <a:r>
              <a:rPr lang="en-US" b="1" dirty="0"/>
              <a:t>without proposing a new networking protocol</a:t>
            </a:r>
            <a:r>
              <a:rPr lang="en-US" dirty="0"/>
              <a:t>.</a:t>
            </a:r>
          </a:p>
        </p:txBody>
      </p:sp>
      <p:sp>
        <p:nvSpPr>
          <p:cNvPr id="4" name="Slide Number Placeholder 3">
            <a:extLst>
              <a:ext uri="{FF2B5EF4-FFF2-40B4-BE49-F238E27FC236}">
                <a16:creationId xmlns:a16="http://schemas.microsoft.com/office/drawing/2014/main" id="{49046B5B-BEB8-B18E-1F1A-89A895D698A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61</a:t>
            </a:fld>
            <a:endParaRPr lang="en-US"/>
          </a:p>
        </p:txBody>
      </p:sp>
    </p:spTree>
    <p:extLst>
      <p:ext uri="{BB962C8B-B14F-4D97-AF65-F5344CB8AC3E}">
        <p14:creationId xmlns:p14="http://schemas.microsoft.com/office/powerpoint/2010/main" val="3164705236"/>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37f4b8a2-ad4f-41b5-9a91-284d2cc38f56}" enabled="1" method="Privileged" siteId="{70de1992-07c6-480f-a318-a1afcba03983}" contentBits="0" removed="0"/>
</clbl:labelList>
</file>

<file path=docProps/app.xml><?xml version="1.0" encoding="utf-8"?>
<Properties xmlns="http://schemas.openxmlformats.org/officeDocument/2006/extended-properties" xmlns:vt="http://schemas.openxmlformats.org/officeDocument/2006/docPropsVTypes">
  <TotalTime>8305</TotalTime>
  <Words>3686</Words>
  <Application>Microsoft Macintosh PowerPoint</Application>
  <PresentationFormat>On-screen Show (4:3)</PresentationFormat>
  <Paragraphs>801</Paragraphs>
  <Slides>61</Slides>
  <Notes>24</Notes>
  <HiddenSlides>12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Aptos</vt:lpstr>
      <vt:lpstr>Arial</vt:lpstr>
      <vt:lpstr>Calibri</vt:lpstr>
      <vt:lpstr>Times New Roman</vt:lpstr>
      <vt:lpstr>Wingdings</vt:lpstr>
      <vt:lpstr>1_Office Theme</vt:lpstr>
      <vt:lpstr>Benchmarking Message Brokers for IoT-Edge Computing: A Comprehensive Performance Study (Journal Extension Plan)</vt:lpstr>
      <vt:lpstr>Proposed Extension: Beyond 1-to-1 Steady Load</vt:lpstr>
      <vt:lpstr>Why extension? (hidden)</vt:lpstr>
      <vt:lpstr>Experiment 1: Fan-Out Under Steady Load</vt:lpstr>
      <vt:lpstr>Use cases of Fan-Out Topology</vt:lpstr>
      <vt:lpstr>Experiment 1: Fan-Out Under Steady Load</vt:lpstr>
      <vt:lpstr>Fan-Out: What We Expect</vt:lpstr>
      <vt:lpstr>Results (Throughput) (4 vCPU, 8 GB RAM)</vt:lpstr>
      <vt:lpstr>Results (CPU) (4 vCPU, 8 GB RAM)</vt:lpstr>
      <vt:lpstr>Results (Memory) (4 vCPU, 8 GB RAM) (hidden)</vt:lpstr>
      <vt:lpstr>Why Network Bandwidth for fan-out (hidden)</vt:lpstr>
      <vt:lpstr>Why 1 Publisher per 100 Subscribers? (hidden)</vt:lpstr>
      <vt:lpstr>Fan-In Initial Results (hidden)</vt:lpstr>
      <vt:lpstr>Experiment 2: Fan-In Under Steady Load</vt:lpstr>
      <vt:lpstr>Use cases of Fan-In Topology</vt:lpstr>
      <vt:lpstr>Experiment 2: Fan-In Under Steady Load</vt:lpstr>
      <vt:lpstr>Fan-In: What We Expect</vt:lpstr>
      <vt:lpstr>Experiment 3: Bursty Controlled Fan-Out</vt:lpstr>
      <vt:lpstr>Experiment 3: Bursty Controlled Fan-Out</vt:lpstr>
      <vt:lpstr>Use cases of Bursty Fan-Out Topology</vt:lpstr>
      <vt:lpstr>Experiment 3: Bursty Traffic Profile</vt:lpstr>
      <vt:lpstr>Exp 4: Payload Sensitivity in Shared-Topic Workloads</vt:lpstr>
      <vt:lpstr>Payload Sensitivity in Shared-Topic Workloads</vt:lpstr>
      <vt:lpstr>Fan Out Results (Throughput) (4 vCPU, 8 GB RAM)</vt:lpstr>
      <vt:lpstr>Bursty Fan Out Experimental Setup</vt:lpstr>
      <vt:lpstr>Use cases of Bursty Fan-Out Topology</vt:lpstr>
      <vt:lpstr>Delivery Throughput (MQTT Brokers)</vt:lpstr>
      <vt:lpstr>CPU Usage (MQTT Brokers)</vt:lpstr>
      <vt:lpstr>Memory Usage (MQTT Brokers)</vt:lpstr>
      <vt:lpstr>Delivery Throughput</vt:lpstr>
      <vt:lpstr>CPU Usage (non-MQTT Brokers)</vt:lpstr>
      <vt:lpstr>Memory Usage (non-MQTT Brokers)</vt:lpstr>
      <vt:lpstr>Analysis</vt:lpstr>
      <vt:lpstr>Experiment 4: MQTT Message Recovery under Intermittent Connectivity</vt:lpstr>
      <vt:lpstr>MQTT Message Recovery for Intermittently Powered Batteryless IoT</vt:lpstr>
      <vt:lpstr>Why this experiment?</vt:lpstr>
      <vt:lpstr>Why availability matters</vt:lpstr>
      <vt:lpstr>Key Concepts</vt:lpstr>
      <vt:lpstr>Experiment Design</vt:lpstr>
      <vt:lpstr>Topology</vt:lpstr>
      <vt:lpstr>Message Generation Configuration</vt:lpstr>
      <vt:lpstr>Modes</vt:lpstr>
      <vt:lpstr>Outage Design</vt:lpstr>
      <vt:lpstr>Three independent runs</vt:lpstr>
      <vt:lpstr>Expected Result</vt:lpstr>
      <vt:lpstr>Clean Session</vt:lpstr>
      <vt:lpstr>Experiment 5: Experimental Design</vt:lpstr>
      <vt:lpstr>Workload Setup</vt:lpstr>
      <vt:lpstr>Run Timeline</vt:lpstr>
      <vt:lpstr>Metrics</vt:lpstr>
      <vt:lpstr>Expected Result</vt:lpstr>
      <vt:lpstr>Experiment 4: MQTT Message Recovery for Intermittently Powered Batteryless IoT</vt:lpstr>
      <vt:lpstr>Batteryless IoT challenge</vt:lpstr>
      <vt:lpstr>Batteryless IoT Scenario</vt:lpstr>
      <vt:lpstr>PowerPoint Presentation</vt:lpstr>
      <vt:lpstr>Session Modes</vt:lpstr>
      <vt:lpstr>Intermittent-Power Timeline</vt:lpstr>
      <vt:lpstr>What Does This Experiment Tell Us?</vt:lpstr>
      <vt:lpstr>Metrices</vt:lpstr>
      <vt:lpstr>Expected Results / Hypothesis</vt:lpstr>
      <vt:lpstr>Contribution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Paul, Tapajit Chandra</cp:lastModifiedBy>
  <cp:revision>223</cp:revision>
  <dcterms:modified xsi:type="dcterms:W3CDTF">2026-09-15T00:26:42Z</dcterms:modified>
</cp:coreProperties>
</file>